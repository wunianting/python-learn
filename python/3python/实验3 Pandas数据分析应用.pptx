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26"/>
  </p:notesMasterIdLst>
  <p:handoutMasterIdLst>
    <p:handoutMasterId r:id="rId27"/>
  </p:handoutMasterIdLst>
  <p:sldIdLst>
    <p:sldId id="354" r:id="rId3"/>
    <p:sldId id="278" r:id="rId4"/>
    <p:sldId id="381" r:id="rId5"/>
    <p:sldId id="374" r:id="rId6"/>
    <p:sldId id="382" r:id="rId7"/>
    <p:sldId id="383" r:id="rId8"/>
    <p:sldId id="384" r:id="rId9"/>
    <p:sldId id="385" r:id="rId10"/>
    <p:sldId id="386" r:id="rId11"/>
    <p:sldId id="388" r:id="rId12"/>
    <p:sldId id="389" r:id="rId13"/>
    <p:sldId id="395" r:id="rId14"/>
    <p:sldId id="396" r:id="rId15"/>
    <p:sldId id="397" r:id="rId16"/>
    <p:sldId id="392" r:id="rId17"/>
    <p:sldId id="393" r:id="rId18"/>
    <p:sldId id="399" r:id="rId19"/>
    <p:sldId id="394" r:id="rId20"/>
    <p:sldId id="390" r:id="rId21"/>
    <p:sldId id="400" r:id="rId22"/>
    <p:sldId id="391" r:id="rId23"/>
    <p:sldId id="401" r:id="rId24"/>
    <p:sldId id="279" r:id="rId25"/>
  </p:sldIdLst>
  <p:sldSz cx="12192000" cy="6858000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3333FF"/>
    <a:srgbClr val="0E598C"/>
    <a:srgbClr val="003399"/>
    <a:srgbClr val="0F5E93"/>
    <a:srgbClr val="0115CF"/>
    <a:srgbClr val="FFFF99"/>
    <a:srgbClr val="FF99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815" autoAdjust="0"/>
  </p:normalViewPr>
  <p:slideViewPr>
    <p:cSldViewPr snapToGrid="0" showGuides="1">
      <p:cViewPr varScale="1">
        <p:scale>
          <a:sx n="86" d="100"/>
          <a:sy n="86" d="100"/>
        </p:scale>
        <p:origin x="720" y="24"/>
      </p:cViewPr>
      <p:guideLst>
        <p:guide orient="horz" pos="2169"/>
        <p:guide pos="38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1C60BD-0FFC-4A2B-B0C1-3C0282DE7391}" type="doc">
      <dgm:prSet loTypeId="urn:microsoft.com/office/officeart/2005/8/layout/process1" loCatId="process" qsTypeId="urn:microsoft.com/office/officeart/2005/8/quickstyle/simple5" qsCatId="simple" csTypeId="urn:microsoft.com/office/officeart/2005/8/colors/accent1_2#1" csCatId="colorful" phldr="1"/>
      <dgm:spPr/>
      <dgm:t>
        <a:bodyPr/>
        <a:lstStyle/>
        <a:p>
          <a:endParaRPr lang="zh-CN" altLang="en-US"/>
        </a:p>
      </dgm:t>
    </dgm:pt>
    <dgm:pt modelId="{65C68BB7-7516-43EA-9850-ECC8756442B1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dirty="0" err="1"/>
            <a:t>排序与排名</a:t>
          </a:r>
          <a:r>
            <a:rPr dirty="0"/>
            <a:t>：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dirty="0" err="1"/>
            <a:t>按单列或多列排序（sort_values</a:t>
          </a:r>
          <a:r>
            <a:rPr dirty="0"/>
            <a:t>()），</a:t>
          </a:r>
          <a:r>
            <a:rPr dirty="0" err="1"/>
            <a:t>按索引排序（sort_index</a:t>
          </a:r>
          <a:r>
            <a:rPr dirty="0"/>
            <a:t>()），</a:t>
          </a:r>
          <a:r>
            <a:rPr dirty="0" err="1"/>
            <a:t>对数据排名（rank</a:t>
          </a:r>
          <a:r>
            <a:rPr dirty="0"/>
            <a:t>()）。</a:t>
          </a:r>
        </a:p>
      </dgm:t>
    </dgm:pt>
    <dgm:pt modelId="{5DB1FDA8-5338-47B0-90C0-2685ED0B43A5}" type="parTrans" cxnId="{26316332-CF0C-4C9A-86A6-69E6EA7C3269}">
      <dgm:prSet/>
      <dgm:spPr/>
      <dgm:t>
        <a:bodyPr/>
        <a:lstStyle/>
        <a:p>
          <a:endParaRPr/>
        </a:p>
      </dgm:t>
    </dgm:pt>
    <dgm:pt modelId="{EB4D74BB-D5C5-4C4E-8272-BABBE1B3ECD0}" type="sibTrans" cxnId="{26316332-CF0C-4C9A-86A6-69E6EA7C3269}">
      <dgm:prSet custT="1"/>
      <dgm:spPr/>
      <dgm:t>
        <a:bodyPr/>
        <a:lstStyle/>
        <a:p>
          <a:endParaRPr/>
        </a:p>
      </dgm:t>
    </dgm:pt>
    <dgm:pt modelId="{C3A3A48D-E012-45B5-9A7D-8A37A6B7E293}">
      <dgm:prSet custT="1"/>
      <dgm:spPr/>
      <dgm:t>
        <a:bodyPr/>
        <a:lstStyle/>
        <a:p>
          <a:r>
            <a:rPr sz="1800" dirty="0" err="1"/>
            <a:t>分组与聚合</a:t>
          </a:r>
          <a:r>
            <a:rPr sz="1800" dirty="0"/>
            <a:t>：</a:t>
          </a:r>
        </a:p>
        <a:p>
          <a:r>
            <a:rPr sz="1800" dirty="0" err="1"/>
            <a:t>按列分组（groupby</a:t>
          </a:r>
          <a:r>
            <a:rPr sz="1800" dirty="0"/>
            <a:t>()），</a:t>
          </a:r>
          <a:r>
            <a:rPr sz="1800" dirty="0" err="1"/>
            <a:t>对分组后的数据进行聚合计算（如求和、均值、自定义函数</a:t>
          </a:r>
          <a:r>
            <a:rPr sz="1800" dirty="0"/>
            <a:t>）。</a:t>
          </a:r>
        </a:p>
      </dgm:t>
    </dgm:pt>
    <dgm:pt modelId="{82DB367C-9A9F-4491-9BA1-18CCF31C440D}" type="parTrans" cxnId="{204D69F6-A02C-45C6-8F30-C9AB6C5EF5CF}">
      <dgm:prSet/>
      <dgm:spPr/>
      <dgm:t>
        <a:bodyPr/>
        <a:lstStyle/>
        <a:p>
          <a:endParaRPr/>
        </a:p>
      </dgm:t>
    </dgm:pt>
    <dgm:pt modelId="{4EC96144-9598-4CE4-AED3-CEA79A333D47}" type="sibTrans" cxnId="{204D69F6-A02C-45C6-8F30-C9AB6C5EF5CF}">
      <dgm:prSet/>
      <dgm:spPr/>
      <dgm:t>
        <a:bodyPr/>
        <a:lstStyle/>
        <a:p>
          <a:endParaRPr/>
        </a:p>
      </dgm:t>
    </dgm:pt>
    <dgm:pt modelId="{328DC5AF-6AE6-4C9F-A467-9A83AF32CB66}">
      <dgm:prSet custT="1"/>
      <dgm:spPr/>
      <dgm:t>
        <a:bodyPr/>
        <a:lstStyle/>
        <a:p>
          <a:r>
            <a:rPr sz="1600" dirty="0" err="1"/>
            <a:t>合并与连接</a:t>
          </a:r>
          <a:r>
            <a:rPr sz="1600" dirty="0"/>
            <a:t>：</a:t>
          </a:r>
        </a:p>
        <a:p>
          <a:r>
            <a:rPr sz="1600" dirty="0" err="1"/>
            <a:t>多表连接（merge</a:t>
          </a:r>
          <a:r>
            <a:rPr sz="1600" dirty="0"/>
            <a:t>() ），</a:t>
          </a:r>
        </a:p>
        <a:p>
          <a:r>
            <a:rPr sz="1600" dirty="0" err="1"/>
            <a:t>按索引拼接数据（concat</a:t>
          </a:r>
          <a:r>
            <a:rPr sz="1600" dirty="0"/>
            <a:t>()），</a:t>
          </a:r>
        </a:p>
        <a:p>
          <a:r>
            <a:rPr sz="1600" dirty="0" err="1"/>
            <a:t>添加新列（join</a:t>
          </a:r>
          <a:r>
            <a:rPr sz="1600" dirty="0"/>
            <a:t>()）。</a:t>
          </a:r>
        </a:p>
      </dgm:t>
    </dgm:pt>
    <dgm:pt modelId="{7D9CB8D7-8FD6-4CB3-BED7-48F3839EC30F}" type="parTrans" cxnId="{7DBE1498-243A-4FC7-A8BA-6CAF7EFCAFDB}">
      <dgm:prSet/>
      <dgm:spPr/>
      <dgm:t>
        <a:bodyPr/>
        <a:lstStyle/>
        <a:p>
          <a:endParaRPr/>
        </a:p>
      </dgm:t>
    </dgm:pt>
    <dgm:pt modelId="{0C3D595B-AE68-4161-BB11-07450CBB0376}" type="sibTrans" cxnId="{7DBE1498-243A-4FC7-A8BA-6CAF7EFCAFDB}">
      <dgm:prSet/>
      <dgm:spPr/>
      <dgm:t>
        <a:bodyPr/>
        <a:lstStyle/>
        <a:p>
          <a:endParaRPr/>
        </a:p>
      </dgm:t>
    </dgm:pt>
    <dgm:pt modelId="{97508B72-881F-4A7F-ABC0-82821DACDF6C}">
      <dgm:prSet custT="1"/>
      <dgm:spPr/>
      <dgm:t>
        <a:bodyPr/>
        <a:lstStyle/>
        <a:p>
          <a:r>
            <a:rPr sz="1600" dirty="0" err="1"/>
            <a:t>重塑与透视</a:t>
          </a:r>
          <a:r>
            <a:rPr sz="1600" dirty="0"/>
            <a:t>：</a:t>
          </a:r>
        </a:p>
        <a:p>
          <a:r>
            <a:rPr sz="1600" dirty="0" err="1"/>
            <a:t>数据透视表（pivot_table</a:t>
          </a:r>
          <a:r>
            <a:rPr sz="1600" dirty="0"/>
            <a:t>()），</a:t>
          </a:r>
          <a:r>
            <a:rPr sz="1600" dirty="0" err="1"/>
            <a:t>行列转换（melt</a:t>
          </a:r>
          <a:r>
            <a:rPr sz="1600" dirty="0"/>
            <a:t>()），</a:t>
          </a:r>
        </a:p>
        <a:p>
          <a:r>
            <a:rPr sz="1600" dirty="0" err="1"/>
            <a:t>交叉表统计（crosstab</a:t>
          </a:r>
          <a:r>
            <a:rPr sz="1600" dirty="0"/>
            <a:t>()）。</a:t>
          </a:r>
        </a:p>
      </dgm:t>
    </dgm:pt>
    <dgm:pt modelId="{3444CC1F-0FB6-44AF-A5F9-07F37F738820}" type="parTrans" cxnId="{9DA21289-8190-480A-B726-1FC3381AEA6F}">
      <dgm:prSet/>
      <dgm:spPr/>
      <dgm:t>
        <a:bodyPr/>
        <a:lstStyle/>
        <a:p>
          <a:endParaRPr/>
        </a:p>
      </dgm:t>
    </dgm:pt>
    <dgm:pt modelId="{E6310332-9D3C-437D-A613-0E0177BB93D9}" type="sibTrans" cxnId="{9DA21289-8190-480A-B726-1FC3381AEA6F}">
      <dgm:prSet/>
      <dgm:spPr/>
      <dgm:t>
        <a:bodyPr/>
        <a:lstStyle/>
        <a:p>
          <a:endParaRPr/>
        </a:p>
      </dgm:t>
    </dgm:pt>
    <dgm:pt modelId="{98B097FA-D330-44C9-BF18-9A8E14016057}" type="pres">
      <dgm:prSet presAssocID="{2F1C60BD-0FFC-4A2B-B0C1-3C0282DE739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99EBC78-7F6F-48DA-9415-D055D158B02E}" type="pres">
      <dgm:prSet presAssocID="{65C68BB7-7516-43EA-9850-ECC8756442B1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A4863B-1187-44C8-A90B-2E8699BBEF12}" type="pres">
      <dgm:prSet presAssocID="{EB4D74BB-D5C5-4C4E-8272-BABBE1B3ECD0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CA7B0082-B9FE-44EA-AF64-969169EAA039}" type="pres">
      <dgm:prSet presAssocID="{EB4D74BB-D5C5-4C4E-8272-BABBE1B3ECD0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8CC5C450-B732-4725-95F9-BD257A710968}" type="pres">
      <dgm:prSet presAssocID="{C3A3A48D-E012-45B5-9A7D-8A37A6B7E293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A0B055E-E591-4A90-BD41-1730053044AA}" type="pres">
      <dgm:prSet presAssocID="{4EC96144-9598-4CE4-AED3-CEA79A333D47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B108847B-E517-4757-B30C-8E05AD0ABA98}" type="pres">
      <dgm:prSet presAssocID="{4EC96144-9598-4CE4-AED3-CEA79A333D47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F6C5BCCD-18E5-49A1-B1D2-E8CE15925990}" type="pres">
      <dgm:prSet presAssocID="{328DC5AF-6AE6-4C9F-A467-9A83AF32CB66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88C5D87-9297-44ED-A7C5-2F80AFF6BF47}" type="pres">
      <dgm:prSet presAssocID="{0C3D595B-AE68-4161-BB11-07450CBB0376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11C71834-3357-447D-9C34-E97B5917D216}" type="pres">
      <dgm:prSet presAssocID="{0C3D595B-AE68-4161-BB11-07450CBB0376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F3E68E6E-D45E-47D0-A1EE-F2933FB476FB}" type="pres">
      <dgm:prSet presAssocID="{97508B72-881F-4A7F-ABC0-82821DACDF6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989F634-852C-4FEC-9110-553BB2E03162}" type="presOf" srcId="{97508B72-881F-4A7F-ABC0-82821DACDF6C}" destId="{F3E68E6E-D45E-47D0-A1EE-F2933FB476FB}" srcOrd="0" destOrd="0" presId="urn:microsoft.com/office/officeart/2005/8/layout/process1"/>
    <dgm:cxn modelId="{26316332-CF0C-4C9A-86A6-69E6EA7C3269}" srcId="{2F1C60BD-0FFC-4A2B-B0C1-3C0282DE7391}" destId="{65C68BB7-7516-43EA-9850-ECC8756442B1}" srcOrd="0" destOrd="0" parTransId="{5DB1FDA8-5338-47B0-90C0-2685ED0B43A5}" sibTransId="{EB4D74BB-D5C5-4C4E-8272-BABBE1B3ECD0}"/>
    <dgm:cxn modelId="{6049616F-D240-4A91-B3D6-3D3BBA333864}" type="presOf" srcId="{C3A3A48D-E012-45B5-9A7D-8A37A6B7E293}" destId="{8CC5C450-B732-4725-95F9-BD257A710968}" srcOrd="0" destOrd="0" presId="urn:microsoft.com/office/officeart/2005/8/layout/process1"/>
    <dgm:cxn modelId="{0A4837CB-C42A-4E2C-9C2B-EEF83C17F120}" type="presOf" srcId="{EB4D74BB-D5C5-4C4E-8272-BABBE1B3ECD0}" destId="{CA7B0082-B9FE-44EA-AF64-969169EAA039}" srcOrd="1" destOrd="0" presId="urn:microsoft.com/office/officeart/2005/8/layout/process1"/>
    <dgm:cxn modelId="{CCDB4799-9054-49F2-B20A-516B94EA4438}" type="presOf" srcId="{328DC5AF-6AE6-4C9F-A467-9A83AF32CB66}" destId="{F6C5BCCD-18E5-49A1-B1D2-E8CE15925990}" srcOrd="0" destOrd="0" presId="urn:microsoft.com/office/officeart/2005/8/layout/process1"/>
    <dgm:cxn modelId="{4A284A8B-AFD7-471E-93A3-4C89AF6F11C0}" type="presOf" srcId="{0C3D595B-AE68-4161-BB11-07450CBB0376}" destId="{688C5D87-9297-44ED-A7C5-2F80AFF6BF47}" srcOrd="0" destOrd="0" presId="urn:microsoft.com/office/officeart/2005/8/layout/process1"/>
    <dgm:cxn modelId="{9DA21289-8190-480A-B726-1FC3381AEA6F}" srcId="{2F1C60BD-0FFC-4A2B-B0C1-3C0282DE7391}" destId="{97508B72-881F-4A7F-ABC0-82821DACDF6C}" srcOrd="3" destOrd="0" parTransId="{3444CC1F-0FB6-44AF-A5F9-07F37F738820}" sibTransId="{E6310332-9D3C-437D-A613-0E0177BB93D9}"/>
    <dgm:cxn modelId="{BF2BC519-79F9-44FF-B8D8-300109437A99}" type="presOf" srcId="{4EC96144-9598-4CE4-AED3-CEA79A333D47}" destId="{DA0B055E-E591-4A90-BD41-1730053044AA}" srcOrd="0" destOrd="0" presId="urn:microsoft.com/office/officeart/2005/8/layout/process1"/>
    <dgm:cxn modelId="{51A52D9C-EEBE-475E-9A51-45714613A088}" type="presOf" srcId="{EB4D74BB-D5C5-4C4E-8272-BABBE1B3ECD0}" destId="{6CA4863B-1187-44C8-A90B-2E8699BBEF12}" srcOrd="0" destOrd="0" presId="urn:microsoft.com/office/officeart/2005/8/layout/process1"/>
    <dgm:cxn modelId="{7DBE1498-243A-4FC7-A8BA-6CAF7EFCAFDB}" srcId="{2F1C60BD-0FFC-4A2B-B0C1-3C0282DE7391}" destId="{328DC5AF-6AE6-4C9F-A467-9A83AF32CB66}" srcOrd="2" destOrd="0" parTransId="{7D9CB8D7-8FD6-4CB3-BED7-48F3839EC30F}" sibTransId="{0C3D595B-AE68-4161-BB11-07450CBB0376}"/>
    <dgm:cxn modelId="{204D69F6-A02C-45C6-8F30-C9AB6C5EF5CF}" srcId="{2F1C60BD-0FFC-4A2B-B0C1-3C0282DE7391}" destId="{C3A3A48D-E012-45B5-9A7D-8A37A6B7E293}" srcOrd="1" destOrd="0" parTransId="{82DB367C-9A9F-4491-9BA1-18CCF31C440D}" sibTransId="{4EC96144-9598-4CE4-AED3-CEA79A333D47}"/>
    <dgm:cxn modelId="{1E988AE6-527A-4515-9BE6-343D4EE1979B}" type="presOf" srcId="{4EC96144-9598-4CE4-AED3-CEA79A333D47}" destId="{B108847B-E517-4757-B30C-8E05AD0ABA98}" srcOrd="1" destOrd="0" presId="urn:microsoft.com/office/officeart/2005/8/layout/process1"/>
    <dgm:cxn modelId="{849A111F-F938-4C70-ABAF-CCB67393CCEB}" type="presOf" srcId="{0C3D595B-AE68-4161-BB11-07450CBB0376}" destId="{11C71834-3357-447D-9C34-E97B5917D216}" srcOrd="1" destOrd="0" presId="urn:microsoft.com/office/officeart/2005/8/layout/process1"/>
    <dgm:cxn modelId="{F398F21E-A11C-403F-AD40-16A49C86FE15}" type="presOf" srcId="{65C68BB7-7516-43EA-9850-ECC8756442B1}" destId="{099EBC78-7F6F-48DA-9415-D055D158B02E}" srcOrd="0" destOrd="0" presId="urn:microsoft.com/office/officeart/2005/8/layout/process1"/>
    <dgm:cxn modelId="{4E22F07B-ECA7-48DA-9E44-2E77A9BD4B9D}" type="presOf" srcId="{2F1C60BD-0FFC-4A2B-B0C1-3C0282DE7391}" destId="{98B097FA-D330-44C9-BF18-9A8E14016057}" srcOrd="0" destOrd="0" presId="urn:microsoft.com/office/officeart/2005/8/layout/process1"/>
    <dgm:cxn modelId="{4AFE7DA2-73C5-4EEA-9437-15006BAE2C87}" type="presParOf" srcId="{98B097FA-D330-44C9-BF18-9A8E14016057}" destId="{099EBC78-7F6F-48DA-9415-D055D158B02E}" srcOrd="0" destOrd="0" presId="urn:microsoft.com/office/officeart/2005/8/layout/process1"/>
    <dgm:cxn modelId="{CB758437-D7E9-4C1C-9B7A-96B58A993BE2}" type="presParOf" srcId="{98B097FA-D330-44C9-BF18-9A8E14016057}" destId="{6CA4863B-1187-44C8-A90B-2E8699BBEF12}" srcOrd="1" destOrd="0" presId="urn:microsoft.com/office/officeart/2005/8/layout/process1"/>
    <dgm:cxn modelId="{69B9D70D-4E38-4B8E-938E-784A1943C43F}" type="presParOf" srcId="{6CA4863B-1187-44C8-A90B-2E8699BBEF12}" destId="{CA7B0082-B9FE-44EA-AF64-969169EAA039}" srcOrd="0" destOrd="0" presId="urn:microsoft.com/office/officeart/2005/8/layout/process1"/>
    <dgm:cxn modelId="{81B81889-A6D1-4430-BFD9-28B8C0486DCF}" type="presParOf" srcId="{98B097FA-D330-44C9-BF18-9A8E14016057}" destId="{8CC5C450-B732-4725-95F9-BD257A710968}" srcOrd="2" destOrd="0" presId="urn:microsoft.com/office/officeart/2005/8/layout/process1"/>
    <dgm:cxn modelId="{A0660BBE-2198-434C-8296-D11168EFD9C9}" type="presParOf" srcId="{98B097FA-D330-44C9-BF18-9A8E14016057}" destId="{DA0B055E-E591-4A90-BD41-1730053044AA}" srcOrd="3" destOrd="0" presId="urn:microsoft.com/office/officeart/2005/8/layout/process1"/>
    <dgm:cxn modelId="{A491ABBE-2F48-4ADC-BF55-0EB6F07D9791}" type="presParOf" srcId="{DA0B055E-E591-4A90-BD41-1730053044AA}" destId="{B108847B-E517-4757-B30C-8E05AD0ABA98}" srcOrd="0" destOrd="0" presId="urn:microsoft.com/office/officeart/2005/8/layout/process1"/>
    <dgm:cxn modelId="{62C0EC95-6F0B-466C-9DF6-9BC58741DE31}" type="presParOf" srcId="{98B097FA-D330-44C9-BF18-9A8E14016057}" destId="{F6C5BCCD-18E5-49A1-B1D2-E8CE15925990}" srcOrd="4" destOrd="0" presId="urn:microsoft.com/office/officeart/2005/8/layout/process1"/>
    <dgm:cxn modelId="{EBB61BE7-A35E-480A-9963-2E86968F7687}" type="presParOf" srcId="{98B097FA-D330-44C9-BF18-9A8E14016057}" destId="{688C5D87-9297-44ED-A7C5-2F80AFF6BF47}" srcOrd="5" destOrd="0" presId="urn:microsoft.com/office/officeart/2005/8/layout/process1"/>
    <dgm:cxn modelId="{4F836255-D942-46A5-A7DE-1F5BCC77A649}" type="presParOf" srcId="{688C5D87-9297-44ED-A7C5-2F80AFF6BF47}" destId="{11C71834-3357-447D-9C34-E97B5917D216}" srcOrd="0" destOrd="0" presId="urn:microsoft.com/office/officeart/2005/8/layout/process1"/>
    <dgm:cxn modelId="{C22B2D6D-FAF8-475B-A762-F64A7ED94947}" type="presParOf" srcId="{98B097FA-D330-44C9-BF18-9A8E14016057}" destId="{F3E68E6E-D45E-47D0-A1EE-F2933FB476F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9EBC78-7F6F-48DA-9415-D055D158B02E}">
      <dsp:nvSpPr>
        <dsp:cNvPr id="0" name=""/>
        <dsp:cNvSpPr/>
      </dsp:nvSpPr>
      <dsp:spPr bwMode="white">
        <a:xfrm>
          <a:off x="5033" y="291316"/>
          <a:ext cx="2200659" cy="31772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800" kern="1200" dirty="0" err="1"/>
            <a:t>排序与排名</a:t>
          </a:r>
          <a:r>
            <a:rPr sz="1800" kern="1200" dirty="0"/>
            <a:t>：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1800" kern="1200" dirty="0" err="1"/>
            <a:t>按单列或多列排序（sort_values</a:t>
          </a:r>
          <a:r>
            <a:rPr sz="1800" kern="1200" dirty="0"/>
            <a:t>()），</a:t>
          </a:r>
          <a:r>
            <a:rPr sz="1800" kern="1200" dirty="0" err="1"/>
            <a:t>按索引排序（sort_index</a:t>
          </a:r>
          <a:r>
            <a:rPr sz="1800" kern="1200" dirty="0"/>
            <a:t>()），</a:t>
          </a:r>
          <a:r>
            <a:rPr sz="1800" kern="1200" dirty="0" err="1"/>
            <a:t>对数据排名（rank</a:t>
          </a:r>
          <a:r>
            <a:rPr sz="1800" kern="1200" dirty="0"/>
            <a:t>()）。</a:t>
          </a:r>
        </a:p>
      </dsp:txBody>
      <dsp:txXfrm>
        <a:off x="69488" y="355771"/>
        <a:ext cx="2071749" cy="3048291"/>
      </dsp:txXfrm>
    </dsp:sp>
    <dsp:sp modelId="{6CA4863B-1187-44C8-A90B-2E8699BBEF12}">
      <dsp:nvSpPr>
        <dsp:cNvPr id="0" name=""/>
        <dsp:cNvSpPr/>
      </dsp:nvSpPr>
      <dsp:spPr bwMode="white">
        <a:xfrm>
          <a:off x="2425758" y="1607035"/>
          <a:ext cx="466539" cy="54576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sz="3600" kern="1200"/>
        </a:p>
      </dsp:txBody>
      <dsp:txXfrm>
        <a:off x="2425758" y="1716188"/>
        <a:ext cx="326577" cy="327457"/>
      </dsp:txXfrm>
    </dsp:sp>
    <dsp:sp modelId="{8CC5C450-B732-4725-95F9-BD257A710968}">
      <dsp:nvSpPr>
        <dsp:cNvPr id="0" name=""/>
        <dsp:cNvSpPr/>
      </dsp:nvSpPr>
      <dsp:spPr bwMode="white">
        <a:xfrm>
          <a:off x="3085956" y="291316"/>
          <a:ext cx="2200659" cy="31772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sz="1800" kern="1200" dirty="0" err="1"/>
            <a:t>分组与聚合</a:t>
          </a:r>
          <a:r>
            <a:rPr sz="1800" kern="1200" dirty="0"/>
            <a:t>：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sz="1800" kern="1200" dirty="0" err="1"/>
            <a:t>按列分组（groupby</a:t>
          </a:r>
          <a:r>
            <a:rPr sz="1800" kern="1200" dirty="0"/>
            <a:t>()），</a:t>
          </a:r>
          <a:r>
            <a:rPr sz="1800" kern="1200" dirty="0" err="1"/>
            <a:t>对分组后的数据进行聚合计算（如求和、均值、自定义函数</a:t>
          </a:r>
          <a:r>
            <a:rPr sz="1800" kern="1200" dirty="0"/>
            <a:t>）。</a:t>
          </a:r>
        </a:p>
      </dsp:txBody>
      <dsp:txXfrm>
        <a:off x="3150411" y="355771"/>
        <a:ext cx="2071749" cy="3048291"/>
      </dsp:txXfrm>
    </dsp:sp>
    <dsp:sp modelId="{DA0B055E-E591-4A90-BD41-1730053044AA}">
      <dsp:nvSpPr>
        <dsp:cNvPr id="0" name=""/>
        <dsp:cNvSpPr/>
      </dsp:nvSpPr>
      <dsp:spPr bwMode="white">
        <a:xfrm>
          <a:off x="5506681" y="1607035"/>
          <a:ext cx="466539" cy="54576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sz="1400" kern="1200"/>
        </a:p>
      </dsp:txBody>
      <dsp:txXfrm>
        <a:off x="5506681" y="1716188"/>
        <a:ext cx="326577" cy="327457"/>
      </dsp:txXfrm>
    </dsp:sp>
    <dsp:sp modelId="{F6C5BCCD-18E5-49A1-B1D2-E8CE15925990}">
      <dsp:nvSpPr>
        <dsp:cNvPr id="0" name=""/>
        <dsp:cNvSpPr/>
      </dsp:nvSpPr>
      <dsp:spPr bwMode="white">
        <a:xfrm>
          <a:off x="6166879" y="291316"/>
          <a:ext cx="2200659" cy="31772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sz="1600" kern="1200" dirty="0" err="1"/>
            <a:t>合并与连接</a:t>
          </a:r>
          <a:r>
            <a:rPr sz="1600" kern="1200" dirty="0"/>
            <a:t>：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sz="1600" kern="1200" dirty="0" err="1"/>
            <a:t>多表连接（merge</a:t>
          </a:r>
          <a:r>
            <a:rPr sz="1600" kern="1200" dirty="0"/>
            <a:t>() ），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sz="1600" kern="1200" dirty="0" err="1"/>
            <a:t>按索引拼接数据（concat</a:t>
          </a:r>
          <a:r>
            <a:rPr sz="1600" kern="1200" dirty="0"/>
            <a:t>()），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sz="1600" kern="1200" dirty="0" err="1"/>
            <a:t>添加新列（join</a:t>
          </a:r>
          <a:r>
            <a:rPr sz="1600" kern="1200" dirty="0"/>
            <a:t>()）。</a:t>
          </a:r>
        </a:p>
      </dsp:txBody>
      <dsp:txXfrm>
        <a:off x="6231334" y="355771"/>
        <a:ext cx="2071749" cy="3048291"/>
      </dsp:txXfrm>
    </dsp:sp>
    <dsp:sp modelId="{688C5D87-9297-44ED-A7C5-2F80AFF6BF47}">
      <dsp:nvSpPr>
        <dsp:cNvPr id="0" name=""/>
        <dsp:cNvSpPr/>
      </dsp:nvSpPr>
      <dsp:spPr bwMode="white">
        <a:xfrm>
          <a:off x="8587604" y="1607035"/>
          <a:ext cx="466539" cy="54576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sz="1400" kern="1200"/>
        </a:p>
      </dsp:txBody>
      <dsp:txXfrm>
        <a:off x="8587604" y="1716188"/>
        <a:ext cx="326577" cy="327457"/>
      </dsp:txXfrm>
    </dsp:sp>
    <dsp:sp modelId="{F3E68E6E-D45E-47D0-A1EE-F2933FB476FB}">
      <dsp:nvSpPr>
        <dsp:cNvPr id="0" name=""/>
        <dsp:cNvSpPr/>
      </dsp:nvSpPr>
      <dsp:spPr bwMode="white">
        <a:xfrm>
          <a:off x="9247802" y="291316"/>
          <a:ext cx="2200659" cy="31772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sz="1600" kern="1200" dirty="0" err="1"/>
            <a:t>重塑与透视</a:t>
          </a:r>
          <a:r>
            <a:rPr sz="1600" kern="1200" dirty="0"/>
            <a:t>：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sz="1600" kern="1200" dirty="0" err="1"/>
            <a:t>数据透视表（pivot_table</a:t>
          </a:r>
          <a:r>
            <a:rPr sz="1600" kern="1200" dirty="0"/>
            <a:t>()），</a:t>
          </a:r>
          <a:r>
            <a:rPr sz="1600" kern="1200" dirty="0" err="1"/>
            <a:t>行列转换（melt</a:t>
          </a:r>
          <a:r>
            <a:rPr sz="1600" kern="1200" dirty="0"/>
            <a:t>()），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sz="1600" kern="1200" dirty="0" err="1"/>
            <a:t>交叉表统计（crosstab</a:t>
          </a:r>
          <a:r>
            <a:rPr sz="1600" kern="1200" dirty="0"/>
            <a:t>()）。</a:t>
          </a:r>
        </a:p>
      </dsp:txBody>
      <dsp:txXfrm>
        <a:off x="9312257" y="355771"/>
        <a:ext cx="2071749" cy="30482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36D81-2BE7-439A-B188-04D57FA78A05}" type="datetimeFigureOut">
              <a:rPr lang="zh-CN" altLang="en-US" smtClean="0"/>
              <a:t>2025/11/03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304E-7477-417F-8581-5FFF4822C4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Pandas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中一个开源的数据分析和处理库，它提供了高效、灵活且易于使用的数据结构（如</a:t>
            </a:r>
            <a:r>
              <a:rPr lang="en-US" altLang="zh-CN" sz="1200" dirty="0" err="1" smtClean="0"/>
              <a:t>DataFrame</a:t>
            </a:r>
            <a:r>
              <a:rPr lang="zh-CN" altLang="en-US" sz="1200" dirty="0" smtClean="0"/>
              <a:t>（表格型数据结构）和</a:t>
            </a:r>
            <a:r>
              <a:rPr lang="en-US" altLang="zh-CN" sz="1200" dirty="0" smtClean="0"/>
              <a:t>Series</a:t>
            </a:r>
            <a:r>
              <a:rPr lang="zh-CN" altLang="en-US" sz="1200" dirty="0" smtClean="0"/>
              <a:t>（一维数组）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）和数据分析工具，旨在简化数据清洗、转换、分析和可视化等工作流程。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Series</a:t>
            </a:r>
            <a:r>
              <a:rPr lang="zh-CN" altLang="en-US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1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一维带标签的数组</a:t>
            </a:r>
            <a:r>
              <a:rPr lang="zh-CN" altLang="en-US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，可存储任意数据类型（整数、字符串、浮点数等），标签（索引）可自定义。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DataFrame</a:t>
            </a:r>
            <a:r>
              <a:rPr lang="zh-CN" altLang="en-US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1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二维表格型数据结构</a:t>
            </a:r>
            <a:r>
              <a:rPr lang="zh-CN" altLang="en-US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，由多个 </a:t>
            </a:r>
            <a:r>
              <a:rPr lang="en-US" altLang="zh-CN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Series </a:t>
            </a:r>
            <a:r>
              <a:rPr lang="zh-CN" altLang="en-US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组成，既有行索引也有列索引，类似 </a:t>
            </a:r>
            <a:r>
              <a:rPr lang="en-US" altLang="zh-CN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Excel </a:t>
            </a:r>
            <a:r>
              <a:rPr lang="zh-CN" altLang="en-US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表格或数据库表，是</a:t>
            </a:r>
            <a:r>
              <a:rPr lang="en-US" altLang="zh-CN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Pandas</a:t>
            </a:r>
            <a:r>
              <a:rPr lang="zh-CN" altLang="en-US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中最常用的数据结构。</a:t>
            </a:r>
            <a:r>
              <a:rPr lang="en-US" altLang="zh-CN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en-US" altLang="zh-CN" sz="12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zh-CN" altLang="en-US" sz="1200" dirty="0" smtClean="0"/>
              <a:t>所有的精确筛选操作，本质上都是在和 </a:t>
            </a:r>
            <a:r>
              <a:rPr lang="en-US" altLang="zh-CN" sz="1200" dirty="0" smtClean="0"/>
              <a:t>Series </a:t>
            </a:r>
            <a:r>
              <a:rPr lang="zh-CN" altLang="en-US" sz="1200" dirty="0" smtClean="0"/>
              <a:t>打交道。</a:t>
            </a:r>
            <a:endParaRPr lang="zh-CN" altLang="en-US" sz="1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当使用 </a:t>
            </a:r>
            <a:r>
              <a:rPr lang="en-US" altLang="zh-CN" dirty="0" smtClean="0"/>
              <a:t>Pandas </a:t>
            </a:r>
            <a:r>
              <a:rPr lang="zh-CN" altLang="en-US" dirty="0" smtClean="0"/>
              <a:t>读取结构化数据（如 </a:t>
            </a:r>
            <a:r>
              <a:rPr lang="en-US" altLang="zh-CN" dirty="0" smtClean="0"/>
              <a:t>CSV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Excel</a:t>
            </a:r>
            <a:r>
              <a:rPr lang="zh-CN" altLang="en-US" dirty="0" smtClean="0"/>
              <a:t>、数据库表等）时，得到的整体数据对象通常就是 </a:t>
            </a:r>
            <a:r>
              <a:rPr lang="en-US" altLang="zh-CN" dirty="0" err="1" smtClean="0"/>
              <a:t>DataFrame</a:t>
            </a:r>
            <a:r>
              <a:rPr lang="en-US" altLang="zh-CN" dirty="0" smtClean="0"/>
              <a:t> </a:t>
            </a:r>
            <a:r>
              <a:rPr lang="zh-CN" altLang="en-US" dirty="0" smtClean="0"/>
              <a:t>结构。它以二维表格的形式组织数据，包含行和列，与我们日常见到的表格（如 </a:t>
            </a:r>
            <a:r>
              <a:rPr lang="en-US" altLang="zh-CN" dirty="0" smtClean="0"/>
              <a:t>Excel </a:t>
            </a:r>
            <a:r>
              <a:rPr lang="zh-CN" altLang="en-US" dirty="0" smtClean="0"/>
              <a:t>表）结构一致，是 </a:t>
            </a:r>
            <a:r>
              <a:rPr lang="en-US" altLang="zh-CN" dirty="0" smtClean="0"/>
              <a:t>Pandas </a:t>
            </a:r>
            <a:r>
              <a:rPr lang="zh-CN" altLang="en-US" dirty="0" smtClean="0"/>
              <a:t>中用于处理整体数据集的核心结构。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b="1" dirty="0" smtClean="0">
                <a:solidFill>
                  <a:srgbClr val="3333FF"/>
                </a:solidFill>
              </a:rPr>
              <a:t>用</a:t>
            </a:r>
            <a:r>
              <a:rPr lang="en-US" altLang="zh-CN" sz="1200" b="1" dirty="0" smtClean="0">
                <a:solidFill>
                  <a:srgbClr val="3333FF"/>
                </a:solidFill>
              </a:rPr>
              <a:t>Pandas</a:t>
            </a:r>
            <a:r>
              <a:rPr lang="zh-CN" altLang="zh-CN" sz="1200" b="1" dirty="0" smtClean="0">
                <a:solidFill>
                  <a:srgbClr val="3333FF"/>
                </a:solidFill>
              </a:rPr>
              <a:t>读进来的整个数据表</a:t>
            </a:r>
            <a:r>
              <a:rPr lang="zh-CN" altLang="en-US" sz="1200" b="1" dirty="0" smtClean="0">
                <a:solidFill>
                  <a:srgbClr val="3333FF"/>
                </a:solidFill>
              </a:rPr>
              <a:t>是</a:t>
            </a:r>
            <a:r>
              <a:rPr lang="en-US" altLang="zh-CN" sz="1200" b="1" dirty="0" smtClean="0">
                <a:solidFill>
                  <a:srgbClr val="3333FF"/>
                </a:solidFill>
              </a:rPr>
              <a:t> </a:t>
            </a:r>
            <a:r>
              <a:rPr lang="en-US" altLang="zh-CN" sz="1200" b="1" dirty="0" err="1" smtClean="0">
                <a:solidFill>
                  <a:srgbClr val="3333FF"/>
                </a:solidFill>
              </a:rPr>
              <a:t>DataFrame</a:t>
            </a:r>
            <a:r>
              <a:rPr lang="zh-CN" altLang="en-US" sz="1200" b="1" dirty="0" smtClean="0">
                <a:solidFill>
                  <a:srgbClr val="3333FF"/>
                </a:solidFill>
              </a:rPr>
              <a:t>结构</a:t>
            </a:r>
            <a:r>
              <a:rPr lang="zh-CN" altLang="zh-CN" sz="1200" b="1" dirty="0" smtClean="0">
                <a:solidFill>
                  <a:srgbClr val="3333FF"/>
                </a:solidFill>
              </a:rPr>
              <a:t>。</a:t>
            </a:r>
            <a:endParaRPr lang="zh-CN" altLang="en-US" sz="1200" b="1" dirty="0" smtClean="0">
              <a:solidFill>
                <a:srgbClr val="3333FF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从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DataFrame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中选取单独一列数据后，得到的结果通常是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Series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结构。</a:t>
            </a:r>
          </a:p>
          <a:p>
            <a:pPr rtl="0"/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这是因为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Series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本质上是一维带标签的数据结构，而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DataFrame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的每一列恰好符合这一特征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它包含一列数据，且自带标签（列名作为该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Series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的名称，同时保留原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DataFrame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的行索引作为自身的索引）。</a:t>
            </a:r>
          </a:p>
          <a:p>
            <a:pPr rtl="0"/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例如，若有一个包含 “品种” 列的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DataFrame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，通过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[‘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品种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’] 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选取 “品种” 列时，得到的就是一个存储所有品种数据的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Series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zh-CN" alt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zh-CN" altLang="en-US" sz="1200" b="0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PingFang SC"/>
              </a:rPr>
              <a:t>注意观察：</a:t>
            </a:r>
            <a:r>
              <a:rPr lang="en-US" altLang="zh-CN" sz="1200" b="0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PingFang SC"/>
              </a:rPr>
              <a:t>print(type(</a:t>
            </a:r>
            <a:r>
              <a:rPr lang="en-US" altLang="zh-CN" sz="1200" b="0" i="0" dirty="0" err="1" smtClean="0">
                <a:solidFill>
                  <a:schemeClr val="accent1">
                    <a:lumMod val="50000"/>
                  </a:schemeClr>
                </a:solidFill>
                <a:effectLst/>
                <a:latin typeface="PingFang SC"/>
              </a:rPr>
              <a:t>produce_series</a:t>
            </a:r>
            <a:r>
              <a:rPr lang="en-US" altLang="zh-CN" sz="1200" b="0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PingFang SC"/>
              </a:rPr>
              <a:t>)) </a:t>
            </a:r>
            <a:r>
              <a:rPr lang="zh-CN" altLang="en-US" sz="1200" b="0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PingFang SC"/>
              </a:rPr>
              <a:t>的输出结果：</a:t>
            </a:r>
            <a:endParaRPr lang="en-US" altLang="zh-CN" sz="1200" b="0" i="0" dirty="0" smtClean="0">
              <a:solidFill>
                <a:schemeClr val="accent1">
                  <a:lumMod val="50000"/>
                </a:schemeClr>
              </a:solidFill>
              <a:effectLst/>
              <a:latin typeface="PingFang SC"/>
            </a:endParaRPr>
          </a:p>
          <a:p>
            <a:pPr marL="0" indent="0">
              <a:buNone/>
            </a:pPr>
            <a:r>
              <a:rPr lang="zh-CN" altLang="en-US" sz="1200" b="0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PingFang SC"/>
              </a:rPr>
              <a:t> </a:t>
            </a:r>
            <a:r>
              <a:rPr lang="en-US" altLang="zh-CN" sz="1200" b="0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PingFang SC"/>
              </a:rPr>
              <a:t>&lt;class '</a:t>
            </a:r>
            <a:r>
              <a:rPr lang="en-US" altLang="zh-CN" sz="1200" b="0" i="0" dirty="0" err="1" smtClean="0">
                <a:solidFill>
                  <a:schemeClr val="accent1">
                    <a:lumMod val="50000"/>
                  </a:schemeClr>
                </a:solidFill>
                <a:effectLst/>
                <a:latin typeface="PingFang SC"/>
              </a:rPr>
              <a:t>pandas.core.series.Series</a:t>
            </a:r>
            <a:r>
              <a:rPr lang="en-US" altLang="zh-CN" sz="1200" b="0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PingFang SC"/>
              </a:rPr>
              <a:t>'&gt;</a:t>
            </a:r>
            <a:endParaRPr lang="en-US" altLang="zh-CN" sz="1400" b="1" dirty="0" smtClean="0">
              <a:solidFill>
                <a:srgbClr val="FF0000"/>
              </a:solidFill>
              <a:latin typeface="PingFang SC"/>
            </a:endParaRPr>
          </a:p>
          <a:p>
            <a:endParaRPr lang="zh-CN" altLang="en-US" sz="1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高效的结构化数据读写能力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支持多种主流数据格式的输入输出：包括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CSV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Excel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JSON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数据库表、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表格、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Parquet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等。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提供灵活的读写参数：可指定列名、索引、数据类型，支持分块读取大文件（避免内存溢出），以及写入时设置格式（如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Excel sheet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名称、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CSV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分隔符等）。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全面的数据清洗功能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缺失值处理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：识别缺失值（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isna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）、删除缺失值（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dropna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）、填充缺失值（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fillna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，支持均值、中位数、指定值或向前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向后填充）。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重复值处理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：检测重复行（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duplicated()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）、删除重复行（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drop_duplicates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异常值处理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：通过统计方法（如标准差、四分位距）识别异常值，支持过滤或替换异常值。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数据格式转换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：批量转换列的数据类型（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astype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），处理字符串格式（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方法，如去空格、大小写转换）、日期格式（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to_datetime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灵活的数据操作工具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筛选与查询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按条件筛选行（布尔索引，如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['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销量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 &gt; 100]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）；</a:t>
            </a: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多条件组合筛选（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&amp;/| 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逻辑运算符）；</a:t>
            </a: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按值范围筛选（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isin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 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匹配多个选项，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between() 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匹配区间）；</a:t>
            </a: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按标签或位置查询（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 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按索引标签，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iloc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按位置序号）。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排序与排名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：按单列或多列排序（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sort_values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），按索引排序（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sort_index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），对数据排名（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rank()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分组与聚合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：按列分组（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groupby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），对分组后的数据进行聚合计算（如求和、均值、自定义函数）。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合并与连接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：类似数据库的多表连接（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merge()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，支持内连接、外连接等），按索引拼接数据（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concat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），添加新列（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重塑与透视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：数据透视表（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pivot_table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），行列转换（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melt()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），交叉表统计（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crosstab()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）。</a:t>
            </a: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</a:t>
            </a:r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集成化的统计分析能力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基础统计量计算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：均值（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）、中位数（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median()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）、标准差（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）、最大值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最小值（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max()/min()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）、求和（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）等，支持按列或分组计算。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分布分析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：频数统计（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value_counts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）、分位数（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quantile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）、累计求和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占比（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cumsum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()/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cumprod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）。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高级统计工具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：交叉表（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crosstab()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，分析变量间关系）、透视表（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pivot_table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，多维度汇总数据），以及与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NumPy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结合的更复杂统计计算（如相关性分析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corr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）。</a:t>
            </a:r>
          </a:p>
          <a:p>
            <a:endParaRPr lang="zh-CN" altLang="en-US" sz="1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集成化的统计分析能力</a:t>
            </a:r>
          </a:p>
          <a:p>
            <a:pPr>
              <a:lnSpc>
                <a:spcPct val="110000"/>
              </a:lnSpc>
            </a:pP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基础统计量计算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：均值（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）、中位数（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）、标准差（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）、最大值 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最小值（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max()/min()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）、求和（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）等，支持按列或分组计算。</a:t>
            </a:r>
          </a:p>
          <a:p>
            <a:pPr>
              <a:lnSpc>
                <a:spcPct val="110000"/>
              </a:lnSpc>
            </a:pP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分布分析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：频数统计（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）、分位数（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quantile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）、累计求和 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占比（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cumsum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()/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cumprod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</a:p>
          <a:p>
            <a:pPr>
              <a:lnSpc>
                <a:spcPct val="110000"/>
              </a:lnSpc>
            </a:pP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高级统计工具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：交叉表（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crosstab()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，分析变量间关系）、透视表（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pivot_table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，多维度汇总数据），以及与 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结合的更复杂统计计算（如相关性分析 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zh-CN" altLang="en-US" sz="1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集成化的统计分析能力</a:t>
            </a:r>
          </a:p>
          <a:p>
            <a:pPr>
              <a:lnSpc>
                <a:spcPct val="110000"/>
              </a:lnSpc>
            </a:pP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基础统计量计算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：均值（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）、中位数（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）、标准差（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）、最大值 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最小值（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max()/min()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）、求和（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）等，支持按列或分组计算。</a:t>
            </a:r>
          </a:p>
          <a:p>
            <a:pPr>
              <a:lnSpc>
                <a:spcPct val="110000"/>
              </a:lnSpc>
            </a:pP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分布分析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：频数统计（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）、分位数（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quantile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）、累计求和 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占比（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cumsum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()/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cumprod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</a:p>
          <a:p>
            <a:pPr>
              <a:lnSpc>
                <a:spcPct val="110000"/>
              </a:lnSpc>
            </a:pPr>
            <a:r>
              <a:rPr lang="zh-CN" alt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高级统计工具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：交叉表（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crosstab()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，分析变量间关系）、透视表（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pivot_table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，多维度汇总数据），以及与 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结合的更复杂统计计算（如相关性分析 </a:t>
            </a:r>
            <a:r>
              <a:rPr lang="en-US" altLang="zh-CN" sz="1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zh-CN" altLang="en-US" sz="1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dirty="0" err="1" smtClean="0"/>
              <a:t>plt.plot</a:t>
            </a:r>
            <a:r>
              <a:rPr lang="en-US" altLang="zh-CN" b="0" dirty="0" smtClean="0"/>
              <a:t>()</a:t>
            </a:r>
            <a:r>
              <a:rPr lang="zh-CN" altLang="en-US" b="0" dirty="0" smtClean="0"/>
              <a:t>属于</a:t>
            </a:r>
            <a:r>
              <a:rPr lang="en-US" altLang="zh-CN" b="0" dirty="0" smtClean="0"/>
              <a:t>Matplotlib</a:t>
            </a:r>
            <a:r>
              <a:rPr lang="zh-CN" altLang="en-US" b="0" dirty="0" smtClean="0"/>
              <a:t>库，原生绘图函数，无 </a:t>
            </a:r>
            <a:r>
              <a:rPr lang="en-US" altLang="zh-CN" b="0" dirty="0" smtClean="0"/>
              <a:t>kind/</a:t>
            </a:r>
            <a:r>
              <a:rPr lang="en-US" altLang="zh-CN" b="0" dirty="0" err="1" smtClean="0"/>
              <a:t>figsize</a:t>
            </a:r>
            <a:r>
              <a:rPr lang="en-US" altLang="zh-CN" b="0" dirty="0" smtClean="0"/>
              <a:t> </a:t>
            </a:r>
            <a:r>
              <a:rPr lang="zh-CN" altLang="en-US" b="0" dirty="0" smtClean="0"/>
              <a:t>参数</a:t>
            </a:r>
            <a:endParaRPr lang="en-US" altLang="zh-CN" b="0" dirty="0" smtClean="0"/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dirty="0" err="1" smtClean="0"/>
              <a:t>df.plot</a:t>
            </a:r>
            <a:r>
              <a:rPr lang="en-US" altLang="zh-CN" b="0" dirty="0" smtClean="0"/>
              <a:t>()</a:t>
            </a:r>
            <a:r>
              <a:rPr lang="zh-CN" altLang="en-US" b="0" dirty="0" smtClean="0"/>
              <a:t>属于</a:t>
            </a:r>
            <a:r>
              <a:rPr lang="en-US" altLang="zh-CN" b="0" dirty="0" smtClean="0"/>
              <a:t>Pandas</a:t>
            </a:r>
            <a:r>
              <a:rPr lang="zh-CN" altLang="en-US" b="0" dirty="0" smtClean="0"/>
              <a:t>库，</a:t>
            </a:r>
            <a:r>
              <a:rPr lang="en-US" altLang="zh-CN" b="0" dirty="0" smtClean="0"/>
              <a:t>Pandas</a:t>
            </a:r>
            <a:r>
              <a:rPr lang="zh-CN" altLang="en-US" b="0" dirty="0" smtClean="0"/>
              <a:t>封装了 </a:t>
            </a:r>
            <a:r>
              <a:rPr lang="en-US" altLang="zh-CN" b="0" dirty="0" smtClean="0"/>
              <a:t>Matplotlib</a:t>
            </a:r>
            <a:r>
              <a:rPr lang="zh-CN" altLang="en-US" b="0" dirty="0" smtClean="0"/>
              <a:t>，支持 </a:t>
            </a:r>
            <a:r>
              <a:rPr lang="en-US" altLang="zh-CN" b="0" dirty="0" smtClean="0"/>
              <a:t>kind/</a:t>
            </a:r>
            <a:r>
              <a:rPr lang="en-US" altLang="zh-CN" b="0" dirty="0" err="1" smtClean="0"/>
              <a:t>figsize</a:t>
            </a:r>
            <a:r>
              <a:rPr lang="en-US" altLang="zh-CN" b="0" dirty="0" smtClean="0"/>
              <a:t> </a:t>
            </a:r>
            <a:r>
              <a:rPr lang="zh-CN" altLang="en-US" b="0" dirty="0" smtClean="0"/>
              <a:t>等简化参数</a:t>
            </a:r>
            <a:endParaRPr lang="en-US" altLang="zh-CN" sz="1200" b="0" dirty="0" smtClean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dirty="0" smtClean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pyplot</a:t>
            </a:r>
            <a:r>
              <a:rPr lang="en-US" altLang="zh-CN" sz="1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lang="en-US" altLang="zh-CN" sz="1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Matplotlib </a:t>
            </a:r>
            <a:r>
              <a:rPr lang="zh-CN" alt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中的模块，它提供了一套绘图接口，封装了大量绘制图表的函数，是实现数据可视化的核心工具。</a:t>
            </a:r>
          </a:p>
          <a:p>
            <a:pPr>
              <a:lnSpc>
                <a:spcPct val="110000"/>
              </a:lnSpc>
            </a:pPr>
            <a:endParaRPr lang="zh-CN" altLang="en-US" sz="1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endParaRPr lang="zh-CN" altLang="en-US" sz="1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endParaRPr lang="zh-CN" altLang="en-US" sz="1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7304E-7477-417F-8581-5FFF4822C48C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image" Target="../media/image7.png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 userDrawn="1"/>
        </p:nvCxnSpPr>
        <p:spPr>
          <a:xfrm flipV="1">
            <a:off x="5362342" y="5312229"/>
            <a:ext cx="978577" cy="42763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565900" y="5817235"/>
            <a:ext cx="4967605" cy="64325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8180705" y="34925"/>
            <a:ext cx="3783965" cy="838199"/>
            <a:chOff x="4566844" y="34931"/>
            <a:chExt cx="4755662" cy="131896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6844" y="34931"/>
              <a:ext cx="1314122" cy="1300981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890" y="221024"/>
              <a:ext cx="2522515" cy="494863"/>
            </a:xfrm>
            <a:prstGeom prst="rect">
              <a:avLst/>
            </a:prstGeom>
          </p:spPr>
        </p:pic>
        <p:cxnSp>
          <p:nvCxnSpPr>
            <p:cNvPr id="15" name="直线连接符 9"/>
            <p:cNvCxnSpPr/>
            <p:nvPr/>
          </p:nvCxnSpPr>
          <p:spPr>
            <a:xfrm>
              <a:off x="5921490" y="725690"/>
              <a:ext cx="2230016" cy="9331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/>
            <p:cNvCxnSpPr/>
            <p:nvPr/>
          </p:nvCxnSpPr>
          <p:spPr>
            <a:xfrm>
              <a:off x="6459595" y="761984"/>
              <a:ext cx="2581663" cy="12671"/>
            </a:xfrm>
            <a:prstGeom prst="line">
              <a:avLst/>
            </a:prstGeom>
            <a:ln w="19050">
              <a:gradFill flip="none" rotWithShape="1">
                <a:gsLst>
                  <a:gs pos="4000">
                    <a:schemeClr val="tx1">
                      <a:lumMod val="65000"/>
                      <a:lumOff val="35000"/>
                    </a:schemeClr>
                  </a:gs>
                  <a:gs pos="49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/>
            <p:cNvCxnSpPr/>
            <p:nvPr/>
          </p:nvCxnSpPr>
          <p:spPr>
            <a:xfrm>
              <a:off x="6176530" y="795054"/>
              <a:ext cx="2230016" cy="9331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5718450" y="823313"/>
              <a:ext cx="3604056" cy="530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Shanxi Agricultural University</a:t>
              </a: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1552583" y="862013"/>
            <a:ext cx="10639425" cy="36512"/>
          </a:xfrm>
          <a:prstGeom prst="rect">
            <a:avLst/>
          </a:prstGeom>
          <a:gradFill>
            <a:gsLst>
              <a:gs pos="2000">
                <a:schemeClr val="bg2"/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bg2"/>
              </a:gs>
            </a:gsLst>
          </a:gradFill>
          <a:ln>
            <a:headEnd type="none" w="med" len="med"/>
            <a:tailEnd type="triangl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buSzPct val="100000"/>
              <a:buFont typeface="Times New Roman" panose="02020603050405020304" pitchFamily="18" charset="0"/>
              <a:buNone/>
              <a:defRPr/>
            </a:pPr>
            <a:endParaRPr lang="zh-CN" altLang="en-US" sz="1600"/>
          </a:p>
        </p:txBody>
      </p:sp>
      <p:sp>
        <p:nvSpPr>
          <p:cNvPr id="8" name="矩形 7"/>
          <p:cNvSpPr/>
          <p:nvPr userDrawn="1"/>
        </p:nvSpPr>
        <p:spPr>
          <a:xfrm>
            <a:off x="420703" y="134938"/>
            <a:ext cx="3502025" cy="595312"/>
          </a:xfrm>
          <a:prstGeom prst="rect">
            <a:avLst/>
          </a:prstGeom>
          <a:solidFill>
            <a:srgbClr val="00428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12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平行四边形 8"/>
          <p:cNvSpPr/>
          <p:nvPr userDrawn="1"/>
        </p:nvSpPr>
        <p:spPr>
          <a:xfrm>
            <a:off x="7" y="212726"/>
            <a:ext cx="3465513" cy="417513"/>
          </a:xfrm>
          <a:prstGeom prst="parallelogram">
            <a:avLst>
              <a:gd name="adj" fmla="val 42392"/>
            </a:avLst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indent="450850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800" dirty="0">
              <a:solidFill>
                <a:srgbClr val="0042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>
          <a:xfrm>
            <a:off x="445068" y="267383"/>
            <a:ext cx="3081907" cy="417513"/>
          </a:xfrm>
        </p:spPr>
        <p:txBody>
          <a:bodyPr/>
          <a:lstStyle>
            <a:lvl1pPr marL="0" indent="0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0" y="6554788"/>
            <a:ext cx="12192000" cy="323850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9748837" y="6578358"/>
            <a:ext cx="2443163" cy="182563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rgbClr val="0115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fld id="{C1C92265-4D17-48E2-ACCF-43FEFF1957EC}" type="slidenum">
              <a:rPr lang="en-US" altLang="zh-CN" sz="1200" smtClean="0">
                <a:solidFill>
                  <a:srgbClr val="0115CF"/>
                </a:solidFill>
              </a:rPr>
              <a:t>‹#›</a:t>
            </a:fld>
            <a:r>
              <a:rPr lang="zh-CN" altLang="en-US" sz="1200" dirty="0">
                <a:solidFill>
                  <a:srgbClr val="0115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117475" y="6513830"/>
            <a:ext cx="802830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计算思维</a:t>
            </a:r>
            <a:r>
              <a:rPr lang="zh-CN" altLang="en-US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zh-CN" altLang="en-US" sz="1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人工智能</a:t>
            </a:r>
            <a:r>
              <a:rPr lang="zh-CN" altLang="en-US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基础</a:t>
            </a:r>
            <a:r>
              <a:rPr lang="zh-CN" altLang="en-US" sz="1600" b="1" i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i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&amp; AI</a:t>
            </a:r>
            <a:r>
              <a:rPr lang="zh-CN" altLang="en-US" sz="1600" b="1" i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4"/>
          </p:nvPr>
        </p:nvSpPr>
        <p:spPr>
          <a:xfrm>
            <a:off x="1493727" y="1437368"/>
            <a:ext cx="9567636" cy="3570061"/>
          </a:xfrm>
        </p:spPr>
        <p:txBody>
          <a:bodyPr/>
          <a:lstStyle>
            <a:lvl1pPr>
              <a:defRPr sz="3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8180705" y="34925"/>
            <a:ext cx="3783965" cy="838199"/>
            <a:chOff x="4566844" y="34931"/>
            <a:chExt cx="4755662" cy="131896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6844" y="34931"/>
              <a:ext cx="1314122" cy="1300981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890" y="221024"/>
              <a:ext cx="2522515" cy="494863"/>
            </a:xfrm>
            <a:prstGeom prst="rect">
              <a:avLst/>
            </a:prstGeom>
          </p:spPr>
        </p:pic>
        <p:cxnSp>
          <p:nvCxnSpPr>
            <p:cNvPr id="10" name="直线连接符 9"/>
            <p:cNvCxnSpPr/>
            <p:nvPr/>
          </p:nvCxnSpPr>
          <p:spPr>
            <a:xfrm>
              <a:off x="5921490" y="725690"/>
              <a:ext cx="2230016" cy="9331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/>
            <p:cNvCxnSpPr/>
            <p:nvPr/>
          </p:nvCxnSpPr>
          <p:spPr>
            <a:xfrm>
              <a:off x="6459595" y="761984"/>
              <a:ext cx="2581663" cy="12671"/>
            </a:xfrm>
            <a:prstGeom prst="line">
              <a:avLst/>
            </a:prstGeom>
            <a:ln w="19050">
              <a:gradFill flip="none" rotWithShape="1">
                <a:gsLst>
                  <a:gs pos="4000">
                    <a:schemeClr val="tx1">
                      <a:lumMod val="65000"/>
                      <a:lumOff val="35000"/>
                    </a:schemeClr>
                  </a:gs>
                  <a:gs pos="49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/>
            <p:cNvCxnSpPr/>
            <p:nvPr/>
          </p:nvCxnSpPr>
          <p:spPr>
            <a:xfrm>
              <a:off x="6176530" y="795054"/>
              <a:ext cx="2230016" cy="9331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5718450" y="823313"/>
              <a:ext cx="3604056" cy="530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Shanxi Agricultural University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A38C2-2AC0-4F4E-BA51-D50C45FB376A}" type="datetimeFigureOut">
              <a:rPr lang="zh-CN" altLang="en-US"/>
              <a:t>2025/11/03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8E39D-6F91-4985-B6FF-87874C6601F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2070072" y="805513"/>
            <a:ext cx="10096528" cy="71439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buSzPct val="100000"/>
              <a:buFont typeface="Times New Roman" panose="02020603050405020304" pitchFamily="18" charset="0"/>
              <a:buNone/>
              <a:defRPr/>
            </a:pPr>
            <a:endParaRPr lang="zh-CN" altLang="en-US" sz="16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82" y="93416"/>
            <a:ext cx="1179443" cy="11794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6" name="组合 5"/>
          <p:cNvGrpSpPr/>
          <p:nvPr userDrawn="1"/>
        </p:nvGrpSpPr>
        <p:grpSpPr>
          <a:xfrm>
            <a:off x="8180705" y="34925"/>
            <a:ext cx="3783965" cy="838199"/>
            <a:chOff x="4566844" y="34931"/>
            <a:chExt cx="4755662" cy="131896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6844" y="34931"/>
              <a:ext cx="1314122" cy="130098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890" y="221024"/>
              <a:ext cx="2522515" cy="494863"/>
            </a:xfrm>
            <a:prstGeom prst="rect">
              <a:avLst/>
            </a:prstGeom>
          </p:spPr>
        </p:pic>
        <p:cxnSp>
          <p:nvCxnSpPr>
            <p:cNvPr id="9" name="直线连接符 9"/>
            <p:cNvCxnSpPr/>
            <p:nvPr/>
          </p:nvCxnSpPr>
          <p:spPr>
            <a:xfrm>
              <a:off x="5921490" y="725690"/>
              <a:ext cx="2230016" cy="9331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/>
            <p:cNvCxnSpPr/>
            <p:nvPr/>
          </p:nvCxnSpPr>
          <p:spPr>
            <a:xfrm>
              <a:off x="6459595" y="761984"/>
              <a:ext cx="2581663" cy="12671"/>
            </a:xfrm>
            <a:prstGeom prst="line">
              <a:avLst/>
            </a:prstGeom>
            <a:ln w="19050">
              <a:gradFill flip="none" rotWithShape="1">
                <a:gsLst>
                  <a:gs pos="4000">
                    <a:schemeClr val="tx1">
                      <a:lumMod val="65000"/>
                      <a:lumOff val="35000"/>
                    </a:schemeClr>
                  </a:gs>
                  <a:gs pos="49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/>
            <p:cNvCxnSpPr/>
            <p:nvPr/>
          </p:nvCxnSpPr>
          <p:spPr>
            <a:xfrm>
              <a:off x="6176530" y="795054"/>
              <a:ext cx="2230016" cy="9331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5718450" y="823313"/>
              <a:ext cx="3604056" cy="530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Shanxi Agricultural University</a:t>
              </a: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14" cstate="print">
            <a:alphaModFix amt="10000"/>
          </a:blip>
          <a:srcRect/>
          <a:stretch>
            <a:fillRect/>
          </a:stretch>
        </p:blipFill>
        <p:spPr>
          <a:xfrm>
            <a:off x="0" y="0"/>
            <a:ext cx="11160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15" cstate="print"/>
          <a:srcRect l="10404" b="3787"/>
          <a:stretch>
            <a:fillRect/>
          </a:stretch>
        </p:blipFill>
        <p:spPr>
          <a:xfrm>
            <a:off x="2" y="261000"/>
            <a:ext cx="6129901" cy="6336000"/>
          </a:xfrm>
          <a:prstGeom prst="rect">
            <a:avLst/>
          </a:prstGeom>
        </p:spPr>
      </p:pic>
      <p:sp>
        <p:nvSpPr>
          <p:cNvPr id="11" name="圆角矩形 27"/>
          <p:cNvSpPr/>
          <p:nvPr userDrawn="1">
            <p:custDataLst>
              <p:tags r:id="rId4"/>
            </p:custDataLst>
          </p:nvPr>
        </p:nvSpPr>
        <p:spPr>
          <a:xfrm>
            <a:off x="11162032" y="802850"/>
            <a:ext cx="71755" cy="215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997575" y="2491105"/>
            <a:ext cx="5339080" cy="1227455"/>
          </a:xfrm>
        </p:spPr>
        <p:txBody>
          <a:bodyPr wrap="square" lIns="90000" tIns="46800" rIns="90000" bIns="46800" anchor="ctr" anchorCtr="0">
            <a:normAutofit/>
          </a:bodyPr>
          <a:lstStyle>
            <a:lvl1pPr algn="r">
              <a:lnSpc>
                <a:spcPct val="100000"/>
              </a:lnSpc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997600" y="3733200"/>
            <a:ext cx="5335200" cy="507600"/>
          </a:xfrm>
        </p:spPr>
        <p:txBody>
          <a:bodyPr wrap="square" lIns="90000" tIns="46800" rIns="90000" bIns="4680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2025/11/03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7639200" y="727200"/>
            <a:ext cx="3376800" cy="367200"/>
          </a:xfrm>
        </p:spPr>
        <p:txBody>
          <a:bodyPr wrap="square" lIns="90000" rIns="9000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11"/>
            </p:custDataLst>
          </p:nvPr>
        </p:nvSpPr>
        <p:spPr>
          <a:xfrm>
            <a:off x="7272020" y="1581150"/>
            <a:ext cx="4064635" cy="870585"/>
          </a:xfrm>
        </p:spPr>
        <p:txBody>
          <a:bodyPr wrap="square" lIns="90000" tIns="46800" rIns="90000" bIns="46800"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4400" b="1">
                <a:ln w="15875">
                  <a:solidFill>
                    <a:schemeClr val="tx2">
                      <a:lumMod val="75000"/>
                      <a:lumOff val="25000"/>
                      <a:alpha val="50000"/>
                    </a:schemeClr>
                  </a:solidFill>
                </a:ln>
                <a:noFill/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年号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959600" y="4417200"/>
            <a:ext cx="3376800" cy="6264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alpha val="86000"/>
                </a:schemeClr>
              </a:gs>
              <a:gs pos="100000">
                <a:schemeClr val="accent1"/>
              </a:gs>
            </a:gsLst>
            <a:lin ang="0" scaled="0"/>
          </a:gradFill>
        </p:spPr>
        <p:txBody>
          <a:bodyPr wrap="square" lIns="90000" tIns="46800" rIns="90000" bIns="468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image" Target="../media/image5.png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70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2102DF5-A3CE-4FA9-BC9F-CF3E71E8E268}" type="datetimeFigureOut">
              <a:rPr lang="zh-CN" altLang="en-US"/>
              <a:t>2025/11/03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701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70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FB58A13-8CE3-46E1-A336-9AFA325771FC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10" cstate="print">
            <a:alphaModFix amt="10000"/>
          </a:blip>
          <a:srcRect l="5232" t="8869" b="17919"/>
          <a:stretch>
            <a:fillRect/>
          </a:stretch>
        </p:blipFill>
        <p:spPr>
          <a:xfrm flipH="1">
            <a:off x="2969296" y="0"/>
            <a:ext cx="9222701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微软雅黑" panose="020B0503020204020204" pitchFamily="34" charset="-122"/>
              </a:defRPr>
            </a:lvl1pPr>
          </a:lstStyle>
          <a:p>
            <a:fld id="{5592522B-0F24-4480-B9DD-A9474A6880D6}" type="datetimeFigureOut">
              <a:rPr lang="zh-CN" altLang="en-US" smtClean="0"/>
              <a:t>2025/11/03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微软雅黑" panose="020B0503020204020204" pitchFamily="34" charset="-122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微软雅黑" panose="020B0503020204020204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lt"/>
          <a:cs typeface="微软雅黑" panose="020B0503020204020204" pitchFamily="34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lt"/>
          <a:cs typeface="微软雅黑" panose="020B0503020204020204" pitchFamily="34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lt"/>
          <a:cs typeface="微软雅黑" panose="020B0503020204020204" pitchFamily="34" charset="-122"/>
          <a:sym typeface="微软雅黑" panose="020B0503020204020204" pitchFamily="34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lt"/>
          <a:cs typeface="微软雅黑" panose="020B0503020204020204" pitchFamily="34" charset="-122"/>
          <a:sym typeface="微软雅黑" panose="020B0503020204020204" pitchFamily="34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lt"/>
          <a:cs typeface="微软雅黑" panose="020B0503020204020204" pitchFamily="34" charset="-122"/>
          <a:sym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3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notesSlide" Target="../notesSlides/notesSlide2.xml"/><Relationship Id="rId2" Type="http://schemas.openxmlformats.org/officeDocument/2006/relationships/tags" Target="../tags/tag28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185035" y="2505710"/>
            <a:ext cx="8946515" cy="122745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4F8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计算思维与人工智能基础</a:t>
            </a:r>
            <a:endParaRPr lang="zh-CN" altLang="en-US"/>
          </a:p>
        </p:txBody>
      </p:sp>
      <p:sp>
        <p:nvSpPr>
          <p:cNvPr id="8" name="年份"/>
          <p:cNvSpPr>
            <a:spLocks noGrp="1"/>
          </p:cNvSpPr>
          <p:nvPr>
            <p:ph type="body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/>
              <a:t>2025</a:t>
            </a:r>
            <a:r>
              <a:rPr lang="zh-CN" altLang="en-US"/>
              <a:t>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041640" y="285115"/>
            <a:ext cx="3783965" cy="838199"/>
            <a:chOff x="4566844" y="34931"/>
            <a:chExt cx="4755662" cy="131896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6844" y="34931"/>
              <a:ext cx="1314122" cy="130098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6890" y="221024"/>
              <a:ext cx="2522515" cy="494863"/>
            </a:xfrm>
            <a:prstGeom prst="rect">
              <a:avLst/>
            </a:prstGeom>
          </p:spPr>
        </p:pic>
        <p:cxnSp>
          <p:nvCxnSpPr>
            <p:cNvPr id="11" name="直线连接符 9"/>
            <p:cNvCxnSpPr/>
            <p:nvPr/>
          </p:nvCxnSpPr>
          <p:spPr>
            <a:xfrm>
              <a:off x="5921490" y="725690"/>
              <a:ext cx="2230016" cy="9331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/>
            <p:cNvCxnSpPr/>
            <p:nvPr/>
          </p:nvCxnSpPr>
          <p:spPr>
            <a:xfrm>
              <a:off x="6459595" y="761984"/>
              <a:ext cx="2581663" cy="12671"/>
            </a:xfrm>
            <a:prstGeom prst="line">
              <a:avLst/>
            </a:prstGeom>
            <a:ln w="19050">
              <a:gradFill flip="none" rotWithShape="1">
                <a:gsLst>
                  <a:gs pos="4000">
                    <a:schemeClr val="tx1">
                      <a:lumMod val="65000"/>
                      <a:lumOff val="35000"/>
                    </a:schemeClr>
                  </a:gs>
                  <a:gs pos="49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/>
            <p:cNvCxnSpPr/>
            <p:nvPr/>
          </p:nvCxnSpPr>
          <p:spPr>
            <a:xfrm>
              <a:off x="6176530" y="795054"/>
              <a:ext cx="2230016" cy="9331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5718450" y="823313"/>
              <a:ext cx="3604056" cy="530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Shanxi Agricultural University</a:t>
              </a:r>
            </a:p>
          </p:txBody>
        </p:sp>
      </p:grpSp>
      <p:sp>
        <p:nvSpPr>
          <p:cNvPr id="2" name="文本框 1" descr="7b0a2020202022776f7264617274223a2022220a7d0a"/>
          <p:cNvSpPr txBox="1"/>
          <p:nvPr/>
        </p:nvSpPr>
        <p:spPr>
          <a:xfrm>
            <a:off x="2545977" y="4397375"/>
            <a:ext cx="9055846" cy="675005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zh-C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  <a:sym typeface="+mn-ea"/>
              </a:rPr>
              <a:t>实验</a:t>
            </a:r>
            <a:r>
              <a:rPr lang="en-US" altLang="zh-C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  <a:sym typeface="+mn-ea"/>
              </a:rPr>
              <a:t>3</a:t>
            </a:r>
            <a:r>
              <a:rPr lang="zh-CN" altLang="zh-C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  <a:sym typeface="+mn-ea"/>
              </a:rPr>
              <a:t> </a:t>
            </a:r>
            <a:r>
              <a:rPr lang="en-US" altLang="zh-C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  <a:sym typeface="+mn-ea"/>
              </a:rPr>
              <a:t>Pandas</a:t>
            </a:r>
            <a:r>
              <a:rPr lang="zh-CN" alt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  <a:sym typeface="+mn-ea"/>
              </a:rPr>
              <a:t>数据分析综合应用</a:t>
            </a:r>
            <a:endParaRPr lang="zh-CN" altLang="zh-C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汉仪正圆-75W" panose="00020600040101010101" charset="-122"/>
              <a:ea typeface="汉仪正圆-75W" panose="00020600040101010101" charset="-122"/>
              <a:cs typeface="汉仪正圆-75W" panose="00020600040101010101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椭圆 43"/>
          <p:cNvSpPr/>
          <p:nvPr>
            <p:custDataLst>
              <p:tags r:id="rId1"/>
            </p:custDataLst>
          </p:nvPr>
        </p:nvSpPr>
        <p:spPr>
          <a:xfrm>
            <a:off x="1333712" y="1790803"/>
            <a:ext cx="544071" cy="544071"/>
          </a:xfrm>
          <a:prstGeom prst="ellipse">
            <a:avLst/>
          </a:prstGeom>
          <a:solidFill>
            <a:srgbClr val="00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 Black" panose="020B0A04020102020204" pitchFamily="34" charset="0"/>
            </a:endParaRPr>
          </a:p>
        </p:txBody>
      </p:sp>
      <p:sp>
        <p:nvSpPr>
          <p:cNvPr id="45" name="矩形 44"/>
          <p:cNvSpPr/>
          <p:nvPr>
            <p:custDataLst>
              <p:tags r:id="rId2"/>
            </p:custDataLst>
          </p:nvPr>
        </p:nvSpPr>
        <p:spPr>
          <a:xfrm>
            <a:off x="1349595" y="1839458"/>
            <a:ext cx="512306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bg1"/>
                </a:solidFill>
                <a:latin typeface="Stencil" panose="040409050D0802020404" pitchFamily="82" charset="0"/>
              </a:rPr>
              <a:t>01</a:t>
            </a:r>
            <a:endParaRPr lang="zh-CN" altLang="en-US" sz="2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46" name="文本框 8"/>
          <p:cNvSpPr txBox="1"/>
          <p:nvPr>
            <p:custDataLst>
              <p:tags r:id="rId3"/>
            </p:custDataLst>
          </p:nvPr>
        </p:nvSpPr>
        <p:spPr>
          <a:xfrm>
            <a:off x="2146041" y="3190885"/>
            <a:ext cx="7381860" cy="52322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数据筛选</a:t>
            </a:r>
            <a:endParaRPr lang="zh-CN" altLang="en-US" dirty="0"/>
          </a:p>
        </p:txBody>
      </p:sp>
      <p:sp>
        <p:nvSpPr>
          <p:cNvPr id="47" name="椭圆 46"/>
          <p:cNvSpPr/>
          <p:nvPr>
            <p:custDataLst>
              <p:tags r:id="rId4"/>
            </p:custDataLst>
          </p:nvPr>
        </p:nvSpPr>
        <p:spPr>
          <a:xfrm>
            <a:off x="1345191" y="2473007"/>
            <a:ext cx="544071" cy="544071"/>
          </a:xfrm>
          <a:prstGeom prst="ellipse">
            <a:avLst/>
          </a:prstGeom>
          <a:solidFill>
            <a:srgbClr val="00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 Black" panose="020B0A04020102020204" pitchFamily="34" charset="0"/>
            </a:endParaRPr>
          </a:p>
        </p:txBody>
      </p:sp>
      <p:sp>
        <p:nvSpPr>
          <p:cNvPr id="48" name="矩形 47"/>
          <p:cNvSpPr/>
          <p:nvPr>
            <p:custDataLst>
              <p:tags r:id="rId5"/>
            </p:custDataLst>
          </p:nvPr>
        </p:nvSpPr>
        <p:spPr>
          <a:xfrm>
            <a:off x="1361073" y="2522331"/>
            <a:ext cx="512306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bg1"/>
                </a:solidFill>
                <a:latin typeface="Stencil" panose="040409050D0802020404" pitchFamily="82" charset="0"/>
              </a:rPr>
              <a:t>02</a:t>
            </a:r>
            <a:endParaRPr lang="zh-CN" altLang="en-US" sz="2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49" name="文本框 8"/>
          <p:cNvSpPr txBox="1"/>
          <p:nvPr>
            <p:custDataLst>
              <p:tags r:id="rId6"/>
            </p:custDataLst>
          </p:nvPr>
        </p:nvSpPr>
        <p:spPr>
          <a:xfrm>
            <a:off x="2099685" y="3945271"/>
            <a:ext cx="8924925" cy="52322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数据可视化</a:t>
            </a:r>
          </a:p>
        </p:txBody>
      </p:sp>
      <p:sp>
        <p:nvSpPr>
          <p:cNvPr id="50" name="椭圆 49"/>
          <p:cNvSpPr/>
          <p:nvPr>
            <p:custDataLst>
              <p:tags r:id="rId7"/>
            </p:custDataLst>
          </p:nvPr>
        </p:nvSpPr>
        <p:spPr>
          <a:xfrm>
            <a:off x="1335284" y="3198516"/>
            <a:ext cx="544071" cy="544071"/>
          </a:xfrm>
          <a:prstGeom prst="ellipse">
            <a:avLst/>
          </a:prstGeom>
          <a:solidFill>
            <a:srgbClr val="00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 Black" panose="020B0A04020102020204" pitchFamily="34" charset="0"/>
            </a:endParaRPr>
          </a:p>
        </p:txBody>
      </p:sp>
      <p:sp>
        <p:nvSpPr>
          <p:cNvPr id="51" name="矩形 50"/>
          <p:cNvSpPr/>
          <p:nvPr>
            <p:custDataLst>
              <p:tags r:id="rId8"/>
            </p:custDataLst>
          </p:nvPr>
        </p:nvSpPr>
        <p:spPr>
          <a:xfrm>
            <a:off x="1351167" y="3247171"/>
            <a:ext cx="512306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bg1"/>
                </a:solidFill>
                <a:latin typeface="Stencil" panose="040409050D0802020404" pitchFamily="82" charset="0"/>
              </a:rPr>
              <a:t>03</a:t>
            </a:r>
            <a:endParaRPr lang="zh-CN" altLang="en-US" sz="2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53" name="椭圆 52"/>
          <p:cNvSpPr/>
          <p:nvPr>
            <p:custDataLst>
              <p:tags r:id="rId9"/>
            </p:custDataLst>
          </p:nvPr>
        </p:nvSpPr>
        <p:spPr>
          <a:xfrm>
            <a:off x="1345191" y="3901791"/>
            <a:ext cx="544071" cy="544071"/>
          </a:xfrm>
          <a:prstGeom prst="ellipse">
            <a:avLst/>
          </a:prstGeom>
          <a:solidFill>
            <a:srgbClr val="00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 Black" panose="020B0A04020102020204" pitchFamily="34" charset="0"/>
            </a:endParaRPr>
          </a:p>
        </p:txBody>
      </p:sp>
      <p:sp>
        <p:nvSpPr>
          <p:cNvPr id="54" name="矩形 53"/>
          <p:cNvSpPr/>
          <p:nvPr>
            <p:custDataLst>
              <p:tags r:id="rId10"/>
            </p:custDataLst>
          </p:nvPr>
        </p:nvSpPr>
        <p:spPr>
          <a:xfrm>
            <a:off x="1361073" y="3950452"/>
            <a:ext cx="512306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bg1"/>
                </a:solidFill>
                <a:latin typeface="Stencil" panose="040409050D0802020404" pitchFamily="82" charset="0"/>
              </a:rPr>
              <a:t>04</a:t>
            </a:r>
            <a:endParaRPr lang="zh-CN" altLang="en-US" sz="2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56" name="文本框 38"/>
          <p:cNvSpPr txBox="1">
            <a:spLocks noChangeArrowheads="1"/>
          </p:cNvSpPr>
          <p:nvPr/>
        </p:nvSpPr>
        <p:spPr bwMode="auto">
          <a:xfrm>
            <a:off x="974522" y="895636"/>
            <a:ext cx="2022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本讲提纲</a:t>
            </a:r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>
            <p:custDataLst>
              <p:tags r:id="rId11"/>
            </p:custDataLst>
          </p:nvPr>
        </p:nvSpPr>
        <p:spPr>
          <a:xfrm>
            <a:off x="1309638" y="5234422"/>
            <a:ext cx="512306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bg1"/>
                </a:solidFill>
                <a:latin typeface="Stencil" panose="040409050D0802020404" pitchFamily="82" charset="0"/>
              </a:rPr>
              <a:t>04</a:t>
            </a:r>
            <a:endParaRPr lang="zh-CN" altLang="en-US" sz="2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146041" y="4612538"/>
            <a:ext cx="8832215" cy="52197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任务发布与解析</a:t>
            </a:r>
            <a:endParaRPr lang="zh-CN" altLang="en-US" sz="2000" dirty="0"/>
          </a:p>
        </p:txBody>
      </p:sp>
      <p:sp>
        <p:nvSpPr>
          <p:cNvPr id="2" name="矩形 1"/>
          <p:cNvSpPr/>
          <p:nvPr>
            <p:custDataLst>
              <p:tags r:id="rId13"/>
            </p:custDataLst>
          </p:nvPr>
        </p:nvSpPr>
        <p:spPr>
          <a:xfrm>
            <a:off x="1374408" y="4614662"/>
            <a:ext cx="512306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bg1"/>
                </a:solidFill>
                <a:latin typeface="Stencil" panose="040409050D0802020404" pitchFamily="82" charset="0"/>
              </a:rPr>
              <a:t>04</a:t>
            </a:r>
            <a:endParaRPr lang="zh-CN" altLang="en-US" sz="2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10" name="椭圆 9"/>
          <p:cNvSpPr/>
          <p:nvPr>
            <p:custDataLst>
              <p:tags r:id="rId14"/>
            </p:custDataLst>
          </p:nvPr>
        </p:nvSpPr>
        <p:spPr>
          <a:xfrm>
            <a:off x="1353446" y="4583561"/>
            <a:ext cx="544071" cy="544071"/>
          </a:xfrm>
          <a:prstGeom prst="ellipse">
            <a:avLst/>
          </a:prstGeom>
          <a:solidFill>
            <a:srgbClr val="00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 Black" panose="020B0A040201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5"/>
            </p:custDataLst>
          </p:nvPr>
        </p:nvSpPr>
        <p:spPr>
          <a:xfrm>
            <a:off x="1369328" y="4632222"/>
            <a:ext cx="512306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solidFill>
                  <a:schemeClr val="bg1"/>
                </a:solidFill>
                <a:latin typeface="Stencil" panose="040409050D0802020404" pitchFamily="82" charset="0"/>
              </a:rPr>
              <a:t>05</a:t>
            </a:r>
            <a:endParaRPr lang="zh-CN" altLang="en-US" sz="2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46041" y="2484057"/>
            <a:ext cx="868488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dirty="0" smtClean="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Pandas</a:t>
            </a:r>
            <a:r>
              <a:rPr lang="zh-CN" altLang="en-US" sz="2800" dirty="0" smtClean="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</a:t>
            </a:r>
            <a:endParaRPr lang="zh-CN" altLang="en-US" sz="2800" dirty="0">
              <a:solidFill>
                <a:schemeClr val="tx2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000" dirty="0" smtClean="0"/>
              <a:t>Pandas</a:t>
            </a:r>
            <a:r>
              <a:rPr lang="zh-CN" altLang="en-US" sz="2000" dirty="0" smtClean="0"/>
              <a:t>数据分析综合应用</a:t>
            </a:r>
            <a:endParaRPr lang="zh-CN" altLang="en-US" sz="2000" dirty="0"/>
          </a:p>
        </p:txBody>
      </p:sp>
      <p:sp>
        <p:nvSpPr>
          <p:cNvPr id="20" name="文本框 11"/>
          <p:cNvSpPr txBox="1"/>
          <p:nvPr/>
        </p:nvSpPr>
        <p:spPr>
          <a:xfrm>
            <a:off x="2146041" y="1743829"/>
            <a:ext cx="868488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dirty="0" smtClean="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Pandas</a:t>
            </a:r>
            <a:r>
              <a:rPr lang="zh-CN" altLang="en-US" sz="2800" dirty="0" smtClean="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核心数据结构：</a:t>
            </a:r>
            <a:r>
              <a:rPr lang="en-US" altLang="zh-CN" sz="2800" dirty="0" err="1" smtClean="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DataFrame</a:t>
            </a:r>
            <a:r>
              <a:rPr lang="zh-CN" altLang="en-US" sz="2800" dirty="0" smtClean="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sz="2800" dirty="0" smtClean="0">
                <a:solidFill>
                  <a:schemeClr val="tx2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Series</a:t>
            </a:r>
            <a:endParaRPr lang="zh-CN" altLang="en-US" sz="2800" dirty="0" smtClean="0">
              <a:solidFill>
                <a:schemeClr val="tx2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400" dirty="0" smtClean="0"/>
              <a:t>Pandas</a:t>
            </a:r>
            <a:r>
              <a:rPr lang="zh-CN" altLang="en-US" sz="2400" dirty="0" smtClean="0"/>
              <a:t>库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750037" y="1688695"/>
            <a:ext cx="10691927" cy="357006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 smtClean="0"/>
              <a:t>Pandas</a:t>
            </a:r>
            <a:r>
              <a:rPr lang="zh-CN" altLang="en-US" sz="2400" dirty="0" smtClean="0"/>
              <a:t>是</a:t>
            </a:r>
            <a:r>
              <a:rPr lang="en-US" altLang="zh-CN" sz="2400" dirty="0" smtClean="0"/>
              <a:t>Python</a:t>
            </a:r>
            <a:r>
              <a:rPr lang="zh-CN" altLang="en-US" sz="2400" dirty="0" smtClean="0"/>
              <a:t>中</a:t>
            </a:r>
            <a:r>
              <a:rPr lang="zh-CN" altLang="en-US" sz="2400" dirty="0"/>
              <a:t>一个开源的</a:t>
            </a:r>
            <a:r>
              <a:rPr lang="zh-CN" altLang="en-US" sz="2400" dirty="0" smtClean="0">
                <a:solidFill>
                  <a:srgbClr val="FF0000"/>
                </a:solidFill>
              </a:rPr>
              <a:t>用于</a:t>
            </a:r>
            <a:r>
              <a:rPr lang="zh-CN" altLang="en-US" sz="2400" dirty="0">
                <a:solidFill>
                  <a:srgbClr val="FF0000"/>
                </a:solidFill>
              </a:rPr>
              <a:t>数据处理和分析</a:t>
            </a:r>
            <a:r>
              <a:rPr lang="zh-CN" altLang="en-US" sz="2400" dirty="0"/>
              <a:t>的强大</a:t>
            </a:r>
            <a:r>
              <a:rPr lang="zh-CN" altLang="en-US" sz="2400" dirty="0" smtClean="0">
                <a:solidFill>
                  <a:srgbClr val="FF0000"/>
                </a:solidFill>
              </a:rPr>
              <a:t>库。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Pandas</a:t>
            </a:r>
            <a:r>
              <a:rPr lang="zh-CN" altLang="en-US" sz="2400" dirty="0" smtClean="0"/>
              <a:t>提供了</a:t>
            </a:r>
            <a:r>
              <a:rPr lang="zh-CN" altLang="en-US" sz="2400" dirty="0"/>
              <a:t>高效、灵活且易于使用的</a:t>
            </a:r>
            <a:r>
              <a:rPr lang="zh-CN" altLang="en-US" sz="2400" dirty="0">
                <a:solidFill>
                  <a:srgbClr val="FF0000"/>
                </a:solidFill>
              </a:rPr>
              <a:t>数据结构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Series</a:t>
            </a:r>
            <a:r>
              <a:rPr lang="zh-CN" altLang="en-US" sz="2400" dirty="0" smtClean="0"/>
              <a:t>和</a:t>
            </a:r>
            <a:r>
              <a:rPr lang="en-US" altLang="zh-CN" sz="2400" dirty="0" err="1" smtClean="0"/>
              <a:t>DataFrame</a:t>
            </a:r>
            <a:r>
              <a:rPr lang="zh-CN" altLang="en-US" sz="2400" dirty="0" smtClean="0"/>
              <a:t>）。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Pandas</a:t>
            </a:r>
            <a:r>
              <a:rPr lang="zh-CN" altLang="en-US" sz="2400" dirty="0"/>
              <a:t>提供</a:t>
            </a:r>
            <a:r>
              <a:rPr lang="zh-CN" altLang="en-US" sz="2400" dirty="0" smtClean="0"/>
              <a:t>丰富</a:t>
            </a:r>
            <a:r>
              <a:rPr lang="zh-CN" altLang="en-US" sz="2400" dirty="0"/>
              <a:t>的方法</a:t>
            </a:r>
            <a:r>
              <a:rPr lang="zh-CN" altLang="en-US" sz="2400" dirty="0" smtClean="0"/>
              <a:t>来</a:t>
            </a:r>
            <a:r>
              <a:rPr lang="zh-CN" altLang="en-US" sz="2400" dirty="0">
                <a:solidFill>
                  <a:srgbClr val="FF0000"/>
                </a:solidFill>
              </a:rPr>
              <a:t>清洗、</a:t>
            </a:r>
            <a:r>
              <a:rPr lang="zh-CN" altLang="en-US" sz="2400" dirty="0" smtClean="0">
                <a:solidFill>
                  <a:srgbClr val="FF0000"/>
                </a:solidFill>
              </a:rPr>
              <a:t>处理、分析</a:t>
            </a:r>
            <a:r>
              <a:rPr lang="zh-CN" altLang="en-US" sz="2400" dirty="0">
                <a:solidFill>
                  <a:srgbClr val="FF0000"/>
                </a:solidFill>
              </a:rPr>
              <a:t>和可视化数据</a:t>
            </a:r>
            <a:r>
              <a:rPr lang="zh-CN" altLang="en-US" sz="2400" dirty="0"/>
              <a:t>，广泛应用于数据分析、机器学习、金融分析等领域。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400" dirty="0" smtClean="0"/>
              <a:t>Pandas</a:t>
            </a:r>
            <a:r>
              <a:rPr lang="zh-CN" altLang="en-US" sz="2400" dirty="0" smtClean="0"/>
              <a:t>核心</a:t>
            </a:r>
            <a:r>
              <a:rPr lang="zh-CN" altLang="en-US" sz="2400" dirty="0"/>
              <a:t>数据结构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694513" y="1160060"/>
            <a:ext cx="10580547" cy="2889821"/>
          </a:xfrm>
          <a:solidFill>
            <a:schemeClr val="accent6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DataFrame</a:t>
            </a:r>
            <a:r>
              <a:rPr lang="zh-CN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</a:t>
            </a:r>
            <a:r>
              <a:rPr lang="zh-CN" altLang="en-US" sz="2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表格</a:t>
            </a:r>
            <a:r>
              <a:rPr lang="zh-CN" alt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由多个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Series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组成。包含行和列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索引</a:t>
            </a:r>
            <a:r>
              <a:rPr lang="zh-CN" alt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，结构类似于</a:t>
            </a:r>
            <a:r>
              <a:rPr lang="en-US" altLang="zh-CN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Excel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表格，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Pandas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中最常用的数据结构。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zh-CN" sz="24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Series：</a:t>
            </a:r>
            <a:r>
              <a:rPr lang="zh-CN" alt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一维列表或数组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可以看作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 </a:t>
            </a:r>
            <a:r>
              <a:rPr lang="en-US" altLang="zh-CN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DataFrame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的一个</a:t>
            </a:r>
            <a:r>
              <a:rPr lang="zh-CN" alt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‘列’，</a:t>
            </a:r>
            <a:r>
              <a:rPr lang="zh-CN" altLang="en-US" sz="2400" dirty="0" smtClean="0"/>
              <a:t>能</a:t>
            </a:r>
            <a:r>
              <a:rPr lang="zh-CN" altLang="en-US" sz="2400" dirty="0"/>
              <a:t>存储整数、字符串、浮点数等多种类型的数据，其标签（即索引）可根据需要自行设定</a:t>
            </a:r>
            <a:r>
              <a:rPr lang="zh-CN" altLang="en-US" sz="2400" dirty="0" smtClean="0"/>
              <a:t>。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0215" y="4500245"/>
            <a:ext cx="11358880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是计算机科学中专门研究</a:t>
            </a:r>
            <a:r>
              <a:rPr lang="zh-CN" altLang="en-US" sz="2400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数据的组织、存储和操作方式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的学科，它关注如何高效地管理数据，以便在后续的查询、插入、删除、修改等操作中获得更好的性能（如时间效率、空间效率）。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400" dirty="0" smtClean="0"/>
              <a:t>Pandas</a:t>
            </a:r>
            <a:r>
              <a:rPr lang="zh-CN" altLang="en-US" sz="2400" dirty="0" smtClean="0"/>
              <a:t>核心数据结构</a:t>
            </a:r>
            <a:endParaRPr lang="zh-CN" altLang="en-US" sz="24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510"/>
          <a:stretch>
            <a:fillRect/>
          </a:stretch>
        </p:blipFill>
        <p:spPr bwMode="auto">
          <a:xfrm>
            <a:off x="470415" y="3909507"/>
            <a:ext cx="6291564" cy="2363969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1" r="18025"/>
          <a:stretch>
            <a:fillRect/>
          </a:stretch>
        </p:blipFill>
        <p:spPr bwMode="auto">
          <a:xfrm>
            <a:off x="7251182" y="2569577"/>
            <a:ext cx="4752133" cy="3703899"/>
          </a:xfrm>
          <a:prstGeom prst="rect">
            <a:avLst/>
          </a:prstGeom>
          <a:solidFill>
            <a:srgbClr val="FFFFFF">
              <a:shade val="85000"/>
            </a:srgbClr>
          </a:solidFill>
          <a:ln w="9525">
            <a:solidFill>
              <a:srgbClr val="3333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矩形 8"/>
          <p:cNvSpPr/>
          <p:nvPr/>
        </p:nvSpPr>
        <p:spPr>
          <a:xfrm>
            <a:off x="470415" y="5775767"/>
            <a:ext cx="2550577" cy="4977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35610" y="1201420"/>
            <a:ext cx="11654790" cy="110680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读取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结构化数据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（如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、数据库表等）时，得到的整体数据对象通常就是</a:t>
            </a:r>
            <a:r>
              <a:rPr lang="zh-CN" altLang="en-US" sz="22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dirty="0" err="1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zh-CN" altLang="en-US" sz="2200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</a:t>
            </a:r>
            <a:r>
              <a:rPr lang="zh-CN" altLang="en-US" sz="22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200" b="1" dirty="0" smtClean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5690" y="2405980"/>
            <a:ext cx="6740617" cy="1418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000" dirty="0" smtClean="0"/>
              <a:t>它</a:t>
            </a:r>
            <a:r>
              <a:rPr lang="zh-CN" altLang="en-US" sz="2000" dirty="0"/>
              <a:t>以二维表格的形式组织数据，包含行和列，与我们日常见到的表格（如 </a:t>
            </a:r>
            <a:r>
              <a:rPr lang="en-US" altLang="zh-CN" sz="2000" dirty="0"/>
              <a:t>Excel </a:t>
            </a:r>
            <a:r>
              <a:rPr lang="zh-CN" altLang="en-US" sz="2000" dirty="0"/>
              <a:t>表）结构一致，</a:t>
            </a:r>
            <a:r>
              <a:rPr lang="zh-CN" altLang="en-US" sz="2000" dirty="0" smtClean="0"/>
              <a:t>是</a:t>
            </a:r>
            <a:r>
              <a:rPr lang="en-US" altLang="zh-CN" sz="2000" dirty="0" smtClean="0"/>
              <a:t>Pandas</a:t>
            </a:r>
            <a:r>
              <a:rPr lang="zh-CN" altLang="en-US" sz="2000" dirty="0" smtClean="0"/>
              <a:t>中</a:t>
            </a:r>
            <a:r>
              <a:rPr lang="zh-CN" altLang="en-US" sz="2000" dirty="0"/>
              <a:t>用于处理整体数据集的核心结构。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400" dirty="0" smtClean="0"/>
              <a:t>Pandas</a:t>
            </a:r>
            <a:r>
              <a:rPr lang="zh-CN" altLang="en-US" sz="2400" dirty="0" smtClean="0"/>
              <a:t>核心</a:t>
            </a:r>
            <a:r>
              <a:rPr lang="zh-CN" altLang="en-US" sz="2400" dirty="0"/>
              <a:t>数据结构</a:t>
            </a:r>
          </a:p>
        </p:txBody>
      </p:sp>
      <p:sp>
        <p:nvSpPr>
          <p:cNvPr id="10" name="矩形 9"/>
          <p:cNvSpPr/>
          <p:nvPr/>
        </p:nvSpPr>
        <p:spPr>
          <a:xfrm>
            <a:off x="435690" y="1201297"/>
            <a:ext cx="9187281" cy="60016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中选取单独一列数据后，得到的结果通常是 </a:t>
            </a:r>
            <a:r>
              <a:rPr lang="en-US" altLang="zh-C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Series 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结构。</a:t>
            </a:r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5" y="2445439"/>
            <a:ext cx="6022390" cy="357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48701" y="2434328"/>
            <a:ext cx="4944767" cy="3290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矩形 13"/>
          <p:cNvSpPr/>
          <p:nvPr/>
        </p:nvSpPr>
        <p:spPr>
          <a:xfrm>
            <a:off x="455902" y="4287381"/>
            <a:ext cx="3274271" cy="3637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5902" y="4926009"/>
            <a:ext cx="4348327" cy="1031434"/>
          </a:xfrm>
          <a:prstGeom prst="rect">
            <a:avLst/>
          </a:prstGeom>
          <a:noFill/>
          <a:ln w="57150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813160" y="3499652"/>
            <a:ext cx="3709698" cy="2250634"/>
          </a:xfrm>
          <a:prstGeom prst="rect">
            <a:avLst/>
          </a:prstGeom>
          <a:noFill/>
          <a:ln w="57150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827675" y="2850467"/>
            <a:ext cx="2838840" cy="3637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400" dirty="0" smtClean="0"/>
              <a:t>Pandas</a:t>
            </a:r>
            <a:r>
              <a:rPr lang="zh-CN" altLang="en-US" sz="2400" dirty="0" smtClean="0"/>
              <a:t>功能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580571" y="2072866"/>
            <a:ext cx="109147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支持多种主流数据格式的输入输出：</a:t>
            </a:r>
            <a:r>
              <a:rPr lang="zh-CN" altLang="en-US" sz="2400" dirty="0" smtClean="0"/>
              <a:t>包括 </a:t>
            </a:r>
            <a:r>
              <a:rPr lang="en-US" altLang="zh-CN" sz="2400" dirty="0" smtClean="0">
                <a:solidFill>
                  <a:srgbClr val="FF0000"/>
                </a:solidFill>
              </a:rPr>
              <a:t>CSV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Excel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JSON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SQL </a:t>
            </a:r>
            <a:r>
              <a:rPr lang="zh-CN" altLang="en-US" sz="2400" dirty="0" smtClean="0"/>
              <a:t>数据库表、</a:t>
            </a:r>
            <a:r>
              <a:rPr lang="en-US" altLang="zh-CN" sz="2400" dirty="0" smtClean="0"/>
              <a:t>HTML </a:t>
            </a:r>
            <a:r>
              <a:rPr lang="zh-CN" altLang="en-US" sz="2400" dirty="0" smtClean="0"/>
              <a:t>表格、</a:t>
            </a:r>
            <a:r>
              <a:rPr lang="en-US" altLang="zh-CN" sz="2400" dirty="0" smtClean="0"/>
              <a:t>Parquet </a:t>
            </a:r>
            <a:r>
              <a:rPr lang="zh-CN" altLang="en-US" sz="2400" dirty="0" smtClean="0"/>
              <a:t>等。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/>
              <a:t>提供灵活的读写参数：</a:t>
            </a:r>
            <a:r>
              <a:rPr lang="zh-CN" altLang="en-US" sz="2400" dirty="0" smtClean="0"/>
              <a:t>可指定列名、索引、数据类型，支持分块读取大文件（避免内存溢出），以及写入时设置格式（如 </a:t>
            </a:r>
            <a:r>
              <a:rPr lang="en-US" altLang="zh-CN" sz="2400" dirty="0" smtClean="0"/>
              <a:t>Excel sheet </a:t>
            </a:r>
            <a:r>
              <a:rPr lang="zh-CN" altLang="en-US" sz="2400" dirty="0" smtClean="0"/>
              <a:t>名称、</a:t>
            </a:r>
            <a:r>
              <a:rPr lang="en-US" altLang="zh-CN" sz="2400" dirty="0" smtClean="0"/>
              <a:t>CSV </a:t>
            </a:r>
            <a:r>
              <a:rPr lang="zh-CN" altLang="en-US" sz="2400" dirty="0" smtClean="0"/>
              <a:t>分隔符等）。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61957" y="1212334"/>
            <a:ext cx="4238661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smtClean="0"/>
              <a:t>1. </a:t>
            </a:r>
            <a:r>
              <a:rPr lang="zh-CN" altLang="en-US" sz="2400" b="1" dirty="0" smtClean="0"/>
              <a:t>高效的结构化数据读写能力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400" dirty="0" smtClean="0"/>
              <a:t>Pandas</a:t>
            </a:r>
            <a:r>
              <a:rPr lang="zh-CN" altLang="en-US" sz="2400" dirty="0" smtClean="0"/>
              <a:t>功能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551543" y="1797096"/>
            <a:ext cx="1098731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冗余信息清理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 smtClean="0"/>
              <a:t>删除冗余行列（</a:t>
            </a:r>
            <a:r>
              <a:rPr lang="en-US" altLang="zh-CN" sz="2400" dirty="0" smtClean="0">
                <a:solidFill>
                  <a:srgbClr val="FF0000"/>
                </a:solidFill>
              </a:rPr>
              <a:t>drop()</a:t>
            </a:r>
            <a:r>
              <a:rPr lang="zh-CN" altLang="en-US" sz="2400" dirty="0" smtClean="0"/>
              <a:t>）。</a:t>
            </a:r>
            <a:endParaRPr lang="en-US" altLang="zh-CN" sz="2400" b="1" dirty="0" smtClean="0"/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缺失值处理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：识别缺失值（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isna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）、删除缺失值（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dropna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）、填充缺失值（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，支持均值、中位数、指定值或向前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向后填充）。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重复值处理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：检测重复行（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duplicated()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）、删除重复行（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drop_duplicates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异常值处理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：通过统计方法（如标准差、四分位距）识别异常值，支持过滤或替换异常值。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数据格式转换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：批量转换列的数据类型（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），处理字符串格式（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方法，如去空格、大小写转换）、日期格式（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to_datetime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）等。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61957" y="1212334"/>
            <a:ext cx="3275256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smtClean="0"/>
              <a:t>2. </a:t>
            </a:r>
            <a:r>
              <a:rPr lang="zh-CN" altLang="en-US" sz="2400" b="1" dirty="0" smtClean="0"/>
              <a:t>全面的数据清洗功能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400" dirty="0" smtClean="0"/>
              <a:t>Pandas</a:t>
            </a:r>
            <a:r>
              <a:rPr lang="zh-CN" altLang="en-US" sz="2400" dirty="0" smtClean="0"/>
              <a:t>功能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551543" y="1797096"/>
            <a:ext cx="10987314" cy="10883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b="1" dirty="0" smtClean="0">
                <a:solidFill>
                  <a:srgbClr val="3333FF"/>
                </a:solidFill>
              </a:rPr>
              <a:t>条件筛选：</a:t>
            </a:r>
            <a:r>
              <a:rPr lang="zh-CN" altLang="en-US" sz="2200" dirty="0" smtClean="0"/>
              <a:t>通过对 </a:t>
            </a:r>
            <a:r>
              <a:rPr lang="en-US" altLang="zh-CN" sz="2200" dirty="0" smtClean="0"/>
              <a:t>Series </a:t>
            </a:r>
            <a:r>
              <a:rPr lang="zh-CN" altLang="en-US" sz="2200" dirty="0" smtClean="0"/>
              <a:t>或 </a:t>
            </a:r>
            <a:r>
              <a:rPr lang="en-US" altLang="zh-CN" sz="2200" dirty="0" err="1" smtClean="0"/>
              <a:t>DataFrame</a:t>
            </a:r>
            <a:r>
              <a:rPr lang="en-US" altLang="zh-CN" sz="2200" dirty="0" smtClean="0"/>
              <a:t> </a:t>
            </a:r>
            <a:r>
              <a:rPr lang="zh-CN" altLang="en-US" sz="2200" dirty="0" smtClean="0"/>
              <a:t>施加条件（如</a:t>
            </a:r>
            <a:r>
              <a:rPr lang="en-US" altLang="zh-CN" sz="2200" dirty="0" err="1" smtClean="0"/>
              <a:t>df</a:t>
            </a:r>
            <a:r>
              <a:rPr lang="en-US" altLang="zh-CN" sz="2200" dirty="0" smtClean="0"/>
              <a:t>[‘</a:t>
            </a:r>
            <a:r>
              <a:rPr lang="zh-CN" altLang="en-US" sz="2200" dirty="0" smtClean="0"/>
              <a:t>年龄</a:t>
            </a:r>
            <a:r>
              <a:rPr lang="en-US" altLang="zh-CN" sz="2200" dirty="0" smtClean="0"/>
              <a:t>’]&gt;30</a:t>
            </a:r>
            <a:r>
              <a:rPr lang="zh-CN" altLang="en-US" sz="2200" dirty="0" smtClean="0"/>
              <a:t>），得到布尔值结果</a:t>
            </a:r>
            <a:r>
              <a:rPr lang="en-US" altLang="zh-CN" sz="2200" dirty="0" smtClean="0"/>
              <a:t>(True/False)</a:t>
            </a:r>
            <a:r>
              <a:rPr lang="zh-CN" altLang="en-US" sz="2200" dirty="0" smtClean="0"/>
              <a:t>后提取符合条件的行，是数据筛选的核心手段，也叫</a:t>
            </a:r>
            <a:r>
              <a:rPr lang="zh-CN" altLang="en-US" sz="2200" b="1" dirty="0" smtClean="0">
                <a:solidFill>
                  <a:srgbClr val="3333FF"/>
                </a:solidFill>
              </a:rPr>
              <a:t>布尔索引</a:t>
            </a:r>
            <a:r>
              <a:rPr lang="zh-CN" altLang="en-US" sz="2200" dirty="0" smtClean="0"/>
              <a:t>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61957" y="1212334"/>
            <a:ext cx="3275256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smtClean="0"/>
              <a:t>3. </a:t>
            </a:r>
            <a:r>
              <a:rPr lang="zh-CN" altLang="en-US" sz="2400" b="1" dirty="0" smtClean="0"/>
              <a:t>灵活的数据操作工具</a:t>
            </a:r>
          </a:p>
        </p:txBody>
      </p:sp>
      <p:sp>
        <p:nvSpPr>
          <p:cNvPr id="7" name="矩形 6"/>
          <p:cNvSpPr/>
          <p:nvPr/>
        </p:nvSpPr>
        <p:spPr>
          <a:xfrm>
            <a:off x="3913402" y="1226848"/>
            <a:ext cx="803425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筛选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1543" y="3251919"/>
            <a:ext cx="10987314" cy="1153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b="1" dirty="0" smtClean="0">
                <a:solidFill>
                  <a:srgbClr val="3333FF"/>
                </a:solidFill>
              </a:rPr>
              <a:t>多条件筛选：</a:t>
            </a:r>
            <a:r>
              <a:rPr lang="zh-CN" altLang="en-US" sz="2200" dirty="0" smtClean="0"/>
              <a:t>基于布尔索引的扩展，通过逻辑运算符（</a:t>
            </a:r>
            <a:r>
              <a:rPr lang="en-US" altLang="zh-CN" sz="2200" dirty="0" smtClean="0">
                <a:highlight>
                  <a:srgbClr val="FFFF00"/>
                </a:highlight>
              </a:rPr>
              <a:t>&amp; </a:t>
            </a:r>
            <a:r>
              <a:rPr lang="zh-CN" altLang="en-US" sz="2200" dirty="0" smtClean="0"/>
              <a:t>表示 且，</a:t>
            </a:r>
            <a:r>
              <a:rPr lang="en-US" altLang="zh-CN" sz="2200" dirty="0" smtClean="0">
                <a:highlight>
                  <a:srgbClr val="FFFF00"/>
                </a:highlight>
              </a:rPr>
              <a:t>| </a:t>
            </a:r>
            <a:r>
              <a:rPr lang="zh-CN" altLang="en-US" sz="2200" dirty="0" smtClean="0"/>
              <a:t>表示 或）组合多个条件（如 </a:t>
            </a:r>
            <a:r>
              <a:rPr lang="en-US" altLang="zh-CN" sz="2200" dirty="0" smtClean="0">
                <a:solidFill>
                  <a:srgbClr val="FF0000"/>
                </a:solidFill>
              </a:rPr>
              <a:t>(</a:t>
            </a:r>
            <a:r>
              <a:rPr lang="en-US" altLang="zh-CN" sz="2200" dirty="0" err="1" smtClean="0"/>
              <a:t>df</a:t>
            </a:r>
            <a:r>
              <a:rPr lang="en-US" altLang="zh-CN" sz="2200" dirty="0" smtClean="0"/>
              <a:t>[‘</a:t>
            </a:r>
            <a:r>
              <a:rPr lang="zh-CN" altLang="en-US" sz="2200" dirty="0" smtClean="0"/>
              <a:t>年龄</a:t>
            </a:r>
            <a:r>
              <a:rPr lang="en-US" altLang="zh-CN" sz="2200" dirty="0" smtClean="0"/>
              <a:t>’] &gt; 30) &amp; (</a:t>
            </a:r>
            <a:r>
              <a:rPr lang="en-US" altLang="zh-CN" sz="2200" dirty="0" err="1" smtClean="0"/>
              <a:t>df</a:t>
            </a:r>
            <a:r>
              <a:rPr lang="en-US" altLang="zh-CN" sz="2200" dirty="0" smtClean="0"/>
              <a:t>[‘</a:t>
            </a:r>
            <a:r>
              <a:rPr lang="zh-CN" altLang="en-US" sz="2200" dirty="0" smtClean="0"/>
              <a:t>性别</a:t>
            </a:r>
            <a:r>
              <a:rPr lang="en-US" altLang="zh-CN" sz="2200" dirty="0" smtClean="0"/>
              <a:t>’] == ‘</a:t>
            </a:r>
            <a:r>
              <a:rPr lang="zh-CN" altLang="en-US" sz="2200" dirty="0" smtClean="0"/>
              <a:t>男</a:t>
            </a:r>
            <a:r>
              <a:rPr lang="en-US" altLang="zh-CN" sz="2200" dirty="0" smtClean="0"/>
              <a:t>’</a:t>
            </a:r>
            <a:r>
              <a:rPr lang="en-US" altLang="zh-CN" sz="2200" dirty="0" smtClean="0">
                <a:solidFill>
                  <a:srgbClr val="FF0000"/>
                </a:solidFill>
              </a:rPr>
              <a:t>)</a:t>
            </a:r>
            <a:r>
              <a:rPr lang="zh-CN" altLang="en-US" sz="2200" dirty="0" smtClean="0"/>
              <a:t>），实现更精确的筛选。</a:t>
            </a:r>
          </a:p>
        </p:txBody>
      </p:sp>
      <p:sp>
        <p:nvSpPr>
          <p:cNvPr id="9" name="矩形 8"/>
          <p:cNvSpPr/>
          <p:nvPr/>
        </p:nvSpPr>
        <p:spPr>
          <a:xfrm>
            <a:off x="551543" y="4772529"/>
            <a:ext cx="10987314" cy="1088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400" b="1" dirty="0" smtClean="0">
                <a:solidFill>
                  <a:srgbClr val="3333FF"/>
                </a:solidFill>
              </a:rPr>
              <a:t>范围筛选：</a:t>
            </a:r>
            <a:r>
              <a:rPr lang="zh-CN" altLang="en-US" sz="2200" dirty="0" smtClean="0"/>
              <a:t>使用</a:t>
            </a:r>
            <a:r>
              <a:rPr lang="en-US" altLang="zh-CN" sz="2200" dirty="0" err="1" smtClean="0">
                <a:highlight>
                  <a:srgbClr val="FFFF00"/>
                </a:highlight>
              </a:rPr>
              <a:t>isin</a:t>
            </a:r>
            <a:r>
              <a:rPr lang="en-US" altLang="zh-CN" sz="2200" dirty="0" smtClean="0">
                <a:highlight>
                  <a:srgbClr val="FFFF00"/>
                </a:highlight>
              </a:rPr>
              <a:t>() </a:t>
            </a:r>
            <a:r>
              <a:rPr lang="zh-CN" altLang="en-US" sz="2200" dirty="0" smtClean="0"/>
              <a:t>方法判断数据是否在指定范围内（如</a:t>
            </a:r>
            <a:r>
              <a:rPr lang="en-US" altLang="zh-CN" sz="2000" dirty="0" err="1" smtClean="0"/>
              <a:t>df</a:t>
            </a:r>
            <a:r>
              <a:rPr lang="en-US" altLang="zh-CN" sz="2000" dirty="0" smtClean="0"/>
              <a:t>[‘</a:t>
            </a:r>
            <a:r>
              <a:rPr lang="zh-CN" altLang="en-US" sz="2000" dirty="0" smtClean="0"/>
              <a:t>城市</a:t>
            </a:r>
            <a:r>
              <a:rPr lang="en-US" altLang="zh-CN" sz="2000" dirty="0" smtClean="0"/>
              <a:t>’].</a:t>
            </a:r>
            <a:r>
              <a:rPr lang="en-US" altLang="zh-CN" sz="2000" dirty="0" err="1" smtClean="0"/>
              <a:t>isin</a:t>
            </a:r>
            <a:r>
              <a:rPr lang="en-US" altLang="zh-CN" sz="2000" dirty="0" smtClean="0"/>
              <a:t>([‘</a:t>
            </a:r>
            <a:r>
              <a:rPr lang="zh-CN" altLang="en-US" sz="2000" dirty="0" smtClean="0"/>
              <a:t>北京</a:t>
            </a:r>
            <a:r>
              <a:rPr lang="en-US" altLang="zh-CN" sz="2000" dirty="0" smtClean="0"/>
              <a:t>’, ‘</a:t>
            </a:r>
            <a:r>
              <a:rPr lang="zh-CN" altLang="en-US" sz="2000" dirty="0" smtClean="0"/>
              <a:t>上海</a:t>
            </a:r>
            <a:r>
              <a:rPr lang="en-US" altLang="zh-CN" sz="2000" dirty="0" smtClean="0"/>
              <a:t>’])</a:t>
            </a:r>
            <a:r>
              <a:rPr lang="zh-CN" altLang="en-US" sz="2200" dirty="0" smtClean="0"/>
              <a:t>），本质上也是条件筛选的一种特殊形式，简化了 “属于多个选项之一” 的判断逻辑。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400" dirty="0" smtClean="0"/>
              <a:t>Pandas</a:t>
            </a:r>
            <a:r>
              <a:rPr lang="zh-CN" altLang="en-US" sz="2400" dirty="0" smtClean="0"/>
              <a:t>功能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61957" y="1212334"/>
            <a:ext cx="3275256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smtClean="0"/>
              <a:t>3. </a:t>
            </a:r>
            <a:r>
              <a:rPr lang="zh-CN" altLang="en-US" sz="2400" b="1" dirty="0" smtClean="0"/>
              <a:t>灵活的数据操作工具</a:t>
            </a: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4136161805"/>
              </p:ext>
            </p:extLst>
          </p:nvPr>
        </p:nvGraphicFramePr>
        <p:xfrm>
          <a:off x="499745" y="2094865"/>
          <a:ext cx="11453495" cy="375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en-US" altLang="zh-CN" sz="2400" dirty="0" smtClean="0"/>
              <a:t>Pandas</a:t>
            </a:r>
            <a:r>
              <a:rPr lang="zh-CN" altLang="en-US" sz="2400" dirty="0" smtClean="0"/>
              <a:t>功能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61957" y="1212334"/>
            <a:ext cx="3584636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400" b="1" dirty="0" smtClean="0"/>
              <a:t>4. </a:t>
            </a:r>
            <a:r>
              <a:rPr lang="zh-CN" altLang="en-US" sz="2400" b="1" dirty="0" smtClean="0"/>
              <a:t>集成化的统计分析能力</a:t>
            </a:r>
          </a:p>
        </p:txBody>
      </p:sp>
      <p:sp>
        <p:nvSpPr>
          <p:cNvPr id="5" name="矩形 4"/>
          <p:cNvSpPr/>
          <p:nvPr/>
        </p:nvSpPr>
        <p:spPr>
          <a:xfrm>
            <a:off x="551543" y="1797096"/>
            <a:ext cx="10987314" cy="34470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2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基础统计量计算：</a:t>
            </a:r>
            <a:r>
              <a:rPr lang="zh-CN" alt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均值（</a:t>
            </a:r>
            <a:r>
              <a:rPr lang="en-US" altLang="zh-CN" sz="2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mean()</a:t>
            </a:r>
            <a:r>
              <a:rPr lang="zh-CN" alt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、中位数（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median()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）、标准差（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std()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）、最大值 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最小值（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max()/min()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</a:t>
            </a:r>
            <a:r>
              <a:rPr lang="zh-CN" alt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求和（</a:t>
            </a:r>
            <a:r>
              <a:rPr lang="en-US" altLang="zh-CN" sz="2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sum()</a:t>
            </a:r>
            <a:r>
              <a:rPr lang="zh-CN" alt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等，支持按列或分组计算。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2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分布分析：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频数统计（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value_counts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）、分位数（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quantile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）、累计求和 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占比（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cumsum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()/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cumprod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2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高级统计工具：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交叉表（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crosstab()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，分析变量间关系）、透视表（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pivot_table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，多维度汇总数据），以及与 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NumPy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结合的更复杂统计计算（如相关性分析 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corr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数据筛选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667500" y="4744720"/>
            <a:ext cx="5256530" cy="1785620"/>
            <a:chOff x="8471" y="7325"/>
            <a:chExt cx="8278" cy="2812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1" y="7472"/>
              <a:ext cx="8279" cy="266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8928" y="7325"/>
              <a:ext cx="7230" cy="2812"/>
            </a:xfrm>
            <a:prstGeom prst="rect">
              <a:avLst/>
            </a:prstGeom>
            <a:noFill/>
            <a:ln w="57150"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965190" y="994410"/>
            <a:ext cx="5715000" cy="2687320"/>
            <a:chOff x="-72" y="1383"/>
            <a:chExt cx="9000" cy="4232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72" y="1383"/>
              <a:ext cx="9000" cy="237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0" y="2524"/>
              <a:ext cx="7196" cy="42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rcRect l="1122" t="3461"/>
            <a:stretch>
              <a:fillRect/>
            </a:stretch>
          </p:blipFill>
          <p:spPr>
            <a:xfrm>
              <a:off x="0" y="3719"/>
              <a:ext cx="8721" cy="1897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-72" y="3753"/>
              <a:ext cx="7268" cy="39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0" y="4468"/>
              <a:ext cx="7998" cy="397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0" y="923925"/>
            <a:ext cx="3388995" cy="65278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eaLnBrk="1" hangingPunct="1">
              <a:lnSpc>
                <a:spcPct val="120000"/>
              </a:lnSpc>
              <a:buFontTx/>
              <a:buNone/>
            </a:pPr>
            <a:r>
              <a:rPr lang="en-US" altLang="zh-CN" sz="2000" b="0" i="0" dirty="0">
                <a:solidFill>
                  <a:srgbClr val="00339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0" i="0" dirty="0" smtClean="0">
                <a:solidFill>
                  <a:srgbClr val="00339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条件筛选</a:t>
            </a:r>
            <a:r>
              <a:rPr lang="zh-CN" altLang="en-US" sz="2000" b="0" i="0" dirty="0">
                <a:solidFill>
                  <a:srgbClr val="00339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（布尔索引）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9695" y="1500505"/>
            <a:ext cx="5756275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Pandas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有一个非常聪明的筛选方式，叫做“布尔索引”</a:t>
            </a:r>
            <a:r>
              <a:rPr lang="zh-CN" altLang="en-US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9" name="文本框 50"/>
          <p:cNvSpPr txBox="1"/>
          <p:nvPr/>
        </p:nvSpPr>
        <p:spPr>
          <a:xfrm>
            <a:off x="99695" y="2033905"/>
            <a:ext cx="5594350" cy="2352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b="1" i="0" dirty="0" smtClean="0">
                <a:effectLst/>
                <a:latin typeface="Times New Roman" panose="02020603050405020304" pitchFamily="18" charset="0"/>
              </a:rPr>
              <a:t>逻辑：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对一个</a:t>
            </a:r>
            <a:r>
              <a:rPr lang="en-US" altLang="zh-CN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Series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提出一个判断条件（比如“价格</a:t>
            </a:r>
            <a:r>
              <a:rPr lang="en-US" altLang="zh-CN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&gt;20”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），它会逐个检查</a:t>
            </a:r>
            <a:r>
              <a:rPr lang="zh-CN" altLang="en-US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该</a:t>
            </a:r>
            <a:r>
              <a:rPr lang="en-US" altLang="zh-CN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Series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里的每个元素，然后返回一个新</a:t>
            </a:r>
            <a:r>
              <a:rPr lang="zh-CN" altLang="en-US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的</a:t>
            </a:r>
            <a:r>
              <a:rPr lang="en-US" altLang="zh-CN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Series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，这个新的</a:t>
            </a:r>
            <a:r>
              <a:rPr lang="en-US" altLang="zh-CN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Series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很特别，里面只</a:t>
            </a:r>
            <a:r>
              <a:rPr lang="zh-CN" altLang="en-US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包含</a:t>
            </a:r>
            <a:r>
              <a:rPr lang="en-US" altLang="zh-CN" sz="18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True</a:t>
            </a:r>
            <a:r>
              <a:rPr lang="zh-CN" altLang="en-US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和</a:t>
            </a:r>
            <a:r>
              <a:rPr lang="en-US" altLang="zh-CN" sz="18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False</a:t>
            </a:r>
            <a:r>
              <a:rPr lang="zh-CN" altLang="en-US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的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判断结果。最后，我们把这个“真假判断的</a:t>
            </a:r>
            <a:r>
              <a:rPr lang="en-US" altLang="zh-CN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Series”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放回 </a:t>
            </a:r>
            <a:r>
              <a:rPr lang="en-US" altLang="zh-CN" sz="1800" b="1" i="0" dirty="0" err="1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DataFrame</a:t>
            </a:r>
            <a:r>
              <a:rPr lang="zh-CN" altLang="en-US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的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中括号里，它就能像筛子一样，只把标记</a:t>
            </a:r>
            <a:r>
              <a:rPr lang="zh-CN" altLang="en-US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为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True</a:t>
            </a:r>
            <a:r>
              <a:rPr lang="zh-CN" altLang="en-US" sz="1800" b="1" i="0" dirty="0" smtClean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的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行拿出来给你。</a:t>
            </a:r>
          </a:p>
        </p:txBody>
      </p:sp>
      <p:sp>
        <p:nvSpPr>
          <p:cNvPr id="20" name="矩形 19"/>
          <p:cNvSpPr/>
          <p:nvPr/>
        </p:nvSpPr>
        <p:spPr>
          <a:xfrm>
            <a:off x="185420" y="4843145"/>
            <a:ext cx="5670550" cy="7067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条件筛选</a:t>
            </a:r>
            <a:r>
              <a:rPr lang="zh-CN" altLang="zh-CN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返回的是一个布尔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Series</a:t>
            </a:r>
            <a:r>
              <a:rPr lang="zh-CN" altLang="zh-CN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endParaRPr lang="en-US" altLang="zh-CN" sz="2000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lvl="1"/>
            <a:r>
              <a:rPr lang="zh-CN" altLang="zh-CN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而</a:t>
            </a:r>
            <a:r>
              <a:rPr lang="zh-CN" altLang="zh-CN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不是数据本身。</a:t>
            </a:r>
            <a:endParaRPr lang="zh-CN" altLang="en-US" sz="2000" dirty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数据筛选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522605" y="1456690"/>
            <a:ext cx="11668760" cy="1845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uFillTx/>
                <a:latin typeface="Times New Roman" panose="02020603050405020304" pitchFamily="18" charset="0"/>
              </a:rPr>
              <a:t>比如提出新要求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uFillTx/>
                <a:latin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uFillTx/>
                <a:latin typeface="Times New Roman" panose="02020603050405020304" pitchFamily="18" charset="0"/>
              </a:rPr>
              <a:t>太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00"/>
                </a:highlight>
                <a:uFillTx/>
                <a:latin typeface="Times New Roman" panose="02020603050405020304" pitchFamily="18" charset="0"/>
              </a:rPr>
              <a:t>原市场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里，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00FF00"/>
                </a:highlight>
                <a:uFillTx/>
                <a:latin typeface="Times New Roman" panose="02020603050405020304" pitchFamily="18" charset="0"/>
              </a:rPr>
              <a:t> 大宗价 高于</a:t>
            </a:r>
            <a:r>
              <a:rPr lang="en-US" altLang="zh-CN" sz="18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00FF00"/>
                </a:highlight>
                <a:uFillTx/>
                <a:latin typeface="Times New Roman" panose="02020603050405020304" pitchFamily="18" charset="0"/>
              </a:rPr>
              <a:t>15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00FF00"/>
                </a:highlight>
                <a:uFillTx/>
                <a:latin typeface="Times New Roman" panose="02020603050405020304" pitchFamily="18" charset="0"/>
              </a:rPr>
              <a:t>元 的菜</a:t>
            </a:r>
            <a:r>
              <a:rPr lang="zh-CN" alt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。这里出现了两个条件，我们需要同时满足它们。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72498" y="4577379"/>
            <a:ext cx="6277774" cy="1812758"/>
          </a:xfrm>
          <a:prstGeom prst="rect">
            <a:avLst/>
          </a:prstGeom>
        </p:spPr>
      </p:pic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45718" y="973480"/>
            <a:ext cx="4271037" cy="652979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多条件筛选</a:t>
            </a:r>
          </a:p>
        </p:txBody>
      </p:sp>
      <p:sp>
        <p:nvSpPr>
          <p:cNvPr id="13" name="矩形 12"/>
          <p:cNvSpPr/>
          <p:nvPr/>
        </p:nvSpPr>
        <p:spPr>
          <a:xfrm>
            <a:off x="445135" y="4577080"/>
            <a:ext cx="4144645" cy="10147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多条件筛选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每个条件用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()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包裹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；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使用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&amp;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或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|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连接。</a:t>
            </a:r>
          </a:p>
        </p:txBody>
      </p:sp>
      <p:sp>
        <p:nvSpPr>
          <p:cNvPr id="15" name="矩形 14"/>
          <p:cNvSpPr/>
          <p:nvPr/>
        </p:nvSpPr>
        <p:spPr>
          <a:xfrm>
            <a:off x="5550535" y="4577080"/>
            <a:ext cx="5564505" cy="1912620"/>
          </a:xfrm>
          <a:prstGeom prst="rect">
            <a:avLst/>
          </a:prstGeom>
          <a:noFill/>
          <a:ln w="57150"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539750" y="2388235"/>
            <a:ext cx="11182350" cy="1733550"/>
            <a:chOff x="795" y="6765"/>
            <a:chExt cx="17610" cy="273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" y="6765"/>
              <a:ext cx="17610" cy="2730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823" y="7837"/>
              <a:ext cx="17365" cy="56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数据筛选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313690" y="1532890"/>
            <a:ext cx="11661775" cy="1291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2000" b="1" i="0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问：老板</a:t>
            </a:r>
            <a:r>
              <a:rPr lang="zh-CN" altLang="en-US" sz="2000" b="1" i="0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想一次性看好几个市场的菜，比如“把太原市河西和上上海市江桥市场的数据都给我”</a:t>
            </a:r>
            <a:r>
              <a:rPr lang="zh-CN" altLang="en-US" sz="2000" b="1" i="0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。</a:t>
            </a:r>
            <a:endParaRPr lang="en-US" altLang="zh-CN" sz="2000" b="1" i="0" dirty="0" smtClean="0">
              <a:solidFill>
                <a:schemeClr val="accent1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uFillTx/>
                <a:latin typeface="Times New Roman" panose="02020603050405020304" pitchFamily="18" charset="0"/>
              </a:rPr>
              <a:t>解决：</a:t>
            </a:r>
            <a:r>
              <a:rPr lang="zh-CN" altLang="en-US" sz="2000" b="1" i="0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用</a:t>
            </a:r>
            <a:r>
              <a:rPr lang="en-US" altLang="zh-CN" sz="2000" b="1" i="0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.</a:t>
            </a:r>
            <a:r>
              <a:rPr lang="en-US" altLang="zh-CN" sz="2000" b="1" i="0" dirty="0" err="1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isin</a:t>
            </a:r>
            <a:r>
              <a:rPr lang="en-US" altLang="zh-CN" sz="2000" b="1" i="0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()</a:t>
            </a:r>
            <a:r>
              <a:rPr lang="zh-CN" altLang="en-US" sz="2000" b="1" i="0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方法，告诉</a:t>
            </a:r>
            <a:r>
              <a:rPr lang="en-US" altLang="zh-CN" sz="2000" b="1" i="0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Pandas</a:t>
            </a:r>
            <a:r>
              <a:rPr lang="zh-CN" altLang="en-US" sz="2000" b="1" i="0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：请检查“批发市场”这个</a:t>
            </a:r>
            <a:r>
              <a:rPr lang="en-US" altLang="zh-CN" sz="2000" b="1" i="0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Series</a:t>
            </a:r>
            <a:r>
              <a:rPr lang="zh-CN" altLang="en-US" sz="2000" b="1" i="0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里的每一项，只要它</a:t>
            </a:r>
            <a:r>
              <a:rPr lang="zh-CN" altLang="en-US" sz="2000" b="1" i="0" dirty="0" smtClean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在给</a:t>
            </a:r>
            <a:r>
              <a:rPr lang="zh-CN" altLang="en-US" sz="2000" b="1" i="0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出的这个列表里，就标记为</a:t>
            </a:r>
            <a:r>
              <a:rPr lang="en-US" altLang="zh-CN" sz="2000" b="1" i="0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</a:rPr>
              <a:t>True’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13690" y="880745"/>
            <a:ext cx="4586605" cy="652145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eaLnBrk="1" hangingPunct="1">
              <a:lnSpc>
                <a:spcPct val="120000"/>
              </a:lnSpc>
              <a:buFontTx/>
              <a:buNone/>
            </a:pPr>
            <a:r>
              <a:rPr lang="en-US" altLang="zh-CN" sz="2400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范围筛选 </a:t>
            </a:r>
            <a:r>
              <a:rPr lang="en-US" altLang="zh-CN" sz="2400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400" dirty="0" err="1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isin</a:t>
            </a:r>
            <a:r>
              <a:rPr lang="en-US" altLang="zh-CN" sz="2400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</p:txBody>
      </p:sp>
      <p:sp>
        <p:nvSpPr>
          <p:cNvPr id="14" name="矩形 13"/>
          <p:cNvSpPr/>
          <p:nvPr/>
        </p:nvSpPr>
        <p:spPr>
          <a:xfrm>
            <a:off x="313651" y="5051318"/>
            <a:ext cx="5090257" cy="13234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/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isin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列表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 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是一个非常实用的应用程序</a:t>
            </a:r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接口，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它对一个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Series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进行操作，判断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Series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中的每个元素是否存在于</a:t>
            </a:r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给定列表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中，并返回一个布尔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Series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。比写一长串 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| </a:t>
            </a:r>
            <a:r>
              <a:rPr lang="zh-CN" altLang="en-US" sz="20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条件优雅得多。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55" y="2824480"/>
            <a:ext cx="7991475" cy="19240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506210" y="4555490"/>
            <a:ext cx="5541010" cy="2123440"/>
            <a:chOff x="8741" y="6206"/>
            <a:chExt cx="8726" cy="334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1" y="6206"/>
              <a:ext cx="8196" cy="3345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8741" y="6206"/>
              <a:ext cx="8726" cy="3197"/>
            </a:xfrm>
            <a:prstGeom prst="rect">
              <a:avLst/>
            </a:prstGeom>
            <a:noFill/>
            <a:ln w="57150"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连接符 5"/>
          <p:cNvCxnSpPr/>
          <p:nvPr/>
        </p:nvCxnSpPr>
        <p:spPr>
          <a:xfrm flipV="1">
            <a:off x="462280" y="3419475"/>
            <a:ext cx="7681595" cy="120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50850" y="4107180"/>
            <a:ext cx="61264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zh-CN" altLang="en-US" sz="2400" dirty="0" smtClean="0"/>
              <a:t>数据可视化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61957" y="1212334"/>
            <a:ext cx="3331361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6057" y="1733520"/>
            <a:ext cx="10987314" cy="15558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负责数据处理（比如创建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DataFrame </a:t>
            </a:r>
            <a:r>
              <a:rPr lang="zh-CN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存储数据），同时提供了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plot() </a:t>
            </a:r>
            <a:r>
              <a:rPr lang="zh-CN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—— </a:t>
            </a:r>
            <a:r>
              <a:rPr lang="zh-CN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这个方法是对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Matplotlib </a:t>
            </a:r>
            <a:r>
              <a:rPr lang="zh-CN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“</a:t>
            </a:r>
            <a:r>
              <a:rPr lang="zh-CN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简化封装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，让用户可以直接通过数据对象（如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</a:t>
            </a:r>
            <a:r>
              <a:rPr lang="zh-CN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）快速绘图，不用写太多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Matplotlib </a:t>
            </a:r>
            <a:r>
              <a:rPr lang="zh-CN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底层代码。</a:t>
            </a:r>
            <a:endParaRPr lang="zh-CN" altLang="en-US" sz="2200" dirty="0" smtClean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1957" y="3578156"/>
            <a:ext cx="4918334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6057" y="4099342"/>
            <a:ext cx="5791200" cy="21236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Matplotlib </a:t>
            </a:r>
            <a:r>
              <a:rPr lang="zh-CN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是真正负责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“</a:t>
            </a:r>
            <a:r>
              <a:rPr lang="zh-CN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画图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 </a:t>
            </a:r>
            <a:r>
              <a:rPr lang="zh-CN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的底层库。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df.plot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 </a:t>
            </a:r>
            <a:r>
              <a:rPr lang="zh-CN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只是调用了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Matplotlib </a:t>
            </a:r>
            <a:r>
              <a:rPr lang="zh-CN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的功能来生成图表，但最终要显示图表、调整细节（如标题、标签），还是需要用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Matplotlib </a:t>
            </a:r>
            <a:r>
              <a:rPr lang="zh-CN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plt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接口。</a:t>
            </a:r>
            <a:endParaRPr lang="en-US" altLang="zh-CN" sz="2200" dirty="0" smtClean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60342" y="3528765"/>
            <a:ext cx="4093029" cy="26314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举例：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df.plot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(kind='bar',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=(10, 6)) </a:t>
            </a:r>
          </a:p>
          <a:p>
            <a:pPr>
              <a:lnSpc>
                <a:spcPct val="150000"/>
              </a:lnSpc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各批发市场平均大宗价对比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</a:p>
          <a:p>
            <a:pPr>
              <a:lnSpc>
                <a:spcPct val="150000"/>
              </a:lnSpc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plt.ylabel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平均大宗价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公斤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)’)</a:t>
            </a:r>
          </a:p>
          <a:p>
            <a:pPr>
              <a:lnSpc>
                <a:spcPct val="150000"/>
              </a:lnSpc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plt.xlabel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批发市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</a:p>
          <a:p>
            <a:pPr>
              <a:lnSpc>
                <a:spcPct val="150000"/>
              </a:lnSpc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zh-CN" altLang="en-US" sz="2400" dirty="0" smtClean="0"/>
              <a:t>数据可视化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566057" y="1872346"/>
            <a:ext cx="10987314" cy="413651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Bef>
                <a:spcPts val="1200"/>
              </a:spcBef>
            </a:pPr>
            <a:r>
              <a:rPr lang="en-US" altLang="zh-CN" sz="24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df.plot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 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lang="en-US" altLang="zh-CN" sz="24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DataFrame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直接调用的绘图方法，参数更简洁，常用参数包括：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zh-CN" sz="2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kind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：指定图表类型（默认 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'line' 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折线图）。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可选值：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'line'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（折线）、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'bar'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（柱状）、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'scatter'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（散点）、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hist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（直方图）等。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zh-CN" sz="2200" b="1" dirty="0" err="1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figsize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：指定图表尺寸，传入元组 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宽度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高度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（单位：英寸）。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zh-CN" sz="2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color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：线条 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图形颜色（同 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Matplotlib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，如 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'red'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'#FF0000'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zh-CN" sz="2200" b="1" dirty="0" err="1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linestyle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：线条样式（仅对折线图有效），如 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'-'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（实线）、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'--'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（虚线）。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zh-CN" sz="2200" b="1" dirty="0" err="1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linewidth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：线条粗细（数值，如 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8" name="矩形 7"/>
          <p:cNvSpPr/>
          <p:nvPr/>
        </p:nvSpPr>
        <p:spPr>
          <a:xfrm>
            <a:off x="4018929" y="1299420"/>
            <a:ext cx="1816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如：</a:t>
            </a:r>
            <a:r>
              <a:rPr lang="en-US" altLang="zh-CN" sz="2400" dirty="0" err="1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df.plot</a:t>
            </a:r>
            <a:r>
              <a:rPr lang="en-US" altLang="zh-CN" sz="2400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endParaRPr lang="zh-CN" altLang="en-US" sz="2400" dirty="0">
              <a:solidFill>
                <a:srgbClr val="3333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1957" y="1212334"/>
            <a:ext cx="3331361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06993" y="1818822"/>
            <a:ext cx="392430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635000" y="4536440"/>
            <a:ext cx="9567545" cy="1644015"/>
          </a:xfrm>
        </p:spPr>
        <p:txBody>
          <a:bodyPr/>
          <a:lstStyle/>
          <a:p>
            <a:r>
              <a:rPr lang="en-US" altLang="zh-CN" sz="1400"/>
              <a:t>kind</a:t>
            </a:r>
            <a:r>
              <a:rPr lang="zh-CN" altLang="en-US" sz="1400"/>
              <a:t>：指定图表类型，这里</a:t>
            </a:r>
            <a:r>
              <a:rPr lang="en-US" altLang="zh-CN" sz="1400"/>
              <a:t> 'scatter' </a:t>
            </a:r>
            <a:r>
              <a:rPr lang="zh-CN" altLang="en-US" sz="1400"/>
              <a:t>表示绘制散点图，用于展示两个数值变量之间的关系。</a:t>
            </a:r>
          </a:p>
          <a:p>
            <a:r>
              <a:rPr lang="en-US" altLang="zh-CN" sz="1400"/>
              <a:t>x</a:t>
            </a:r>
            <a:r>
              <a:rPr lang="zh-CN" altLang="en-US" sz="1400"/>
              <a:t>：指定散点图的</a:t>
            </a:r>
            <a:r>
              <a:rPr lang="en-US" altLang="zh-CN" sz="1400"/>
              <a:t>X </a:t>
            </a:r>
            <a:r>
              <a:rPr lang="zh-CN" altLang="en-US" sz="1400"/>
              <a:t>轴数据列，这里选取</a:t>
            </a:r>
            <a:r>
              <a:rPr lang="en-US" altLang="zh-CN" sz="1400"/>
              <a:t> '</a:t>
            </a:r>
            <a:r>
              <a:rPr lang="zh-CN" altLang="en-US" sz="1400"/>
              <a:t>北美销量</a:t>
            </a:r>
            <a:r>
              <a:rPr lang="en-US" altLang="zh-CN" sz="1400"/>
              <a:t>(</a:t>
            </a:r>
            <a:r>
              <a:rPr lang="zh-CN" altLang="en-US" sz="1400"/>
              <a:t>百万</a:t>
            </a:r>
            <a:r>
              <a:rPr lang="en-US" altLang="zh-CN" sz="1400"/>
              <a:t>)' </a:t>
            </a:r>
            <a:r>
              <a:rPr lang="zh-CN" altLang="en-US" sz="1400"/>
              <a:t>列的数据作为横坐标。</a:t>
            </a:r>
          </a:p>
          <a:p>
            <a:r>
              <a:rPr lang="en-US" altLang="zh-CN" sz="1400"/>
              <a:t>y</a:t>
            </a:r>
            <a:r>
              <a:rPr lang="zh-CN" altLang="en-US" sz="1400"/>
              <a:t>：指定散点图的</a:t>
            </a:r>
            <a:r>
              <a:rPr lang="en-US" altLang="zh-CN" sz="1400"/>
              <a:t>Y </a:t>
            </a:r>
            <a:r>
              <a:rPr lang="zh-CN" altLang="en-US" sz="1400"/>
              <a:t>轴数据列，这里选取</a:t>
            </a:r>
            <a:r>
              <a:rPr lang="en-US" altLang="zh-CN" sz="1400"/>
              <a:t> '</a:t>
            </a:r>
            <a:r>
              <a:rPr lang="zh-CN" altLang="en-US" sz="1400"/>
              <a:t>欧洲销量</a:t>
            </a:r>
            <a:r>
              <a:rPr lang="en-US" altLang="zh-CN" sz="1400"/>
              <a:t>(</a:t>
            </a:r>
            <a:r>
              <a:rPr lang="zh-CN" altLang="en-US" sz="1400"/>
              <a:t>百万</a:t>
            </a:r>
            <a:r>
              <a:rPr lang="en-US" altLang="zh-CN" sz="1400"/>
              <a:t>)' </a:t>
            </a:r>
            <a:r>
              <a:rPr lang="zh-CN" altLang="en-US" sz="1400"/>
              <a:t>列的数据作为纵坐标。</a:t>
            </a:r>
          </a:p>
          <a:p>
            <a:r>
              <a:rPr lang="en-US" altLang="zh-CN" sz="1400"/>
              <a:t>figsize</a:t>
            </a:r>
            <a:r>
              <a:rPr lang="zh-CN" altLang="en-US" sz="1400"/>
              <a:t>：设置图表的尺寸，格式为</a:t>
            </a:r>
            <a:r>
              <a:rPr lang="en-US" altLang="zh-CN" sz="1400"/>
              <a:t> (</a:t>
            </a:r>
            <a:r>
              <a:rPr lang="zh-CN" altLang="en-US" sz="1400"/>
              <a:t>宽度</a:t>
            </a:r>
            <a:r>
              <a:rPr lang="en-US" altLang="zh-CN" sz="1400"/>
              <a:t>, </a:t>
            </a:r>
            <a:r>
              <a:rPr lang="zh-CN" altLang="en-US" sz="1400"/>
              <a:t>高度</a:t>
            </a:r>
            <a:r>
              <a:rPr lang="en-US" altLang="zh-CN" sz="1400"/>
              <a:t>)</a:t>
            </a:r>
            <a:r>
              <a:rPr lang="zh-CN" altLang="en-US" sz="1400"/>
              <a:t>，单位是英寸。这里</a:t>
            </a:r>
            <a:r>
              <a:rPr lang="en-US" altLang="zh-CN" sz="1400"/>
              <a:t> (10, 6) </a:t>
            </a:r>
            <a:r>
              <a:rPr lang="zh-CN" altLang="en-US" sz="1400"/>
              <a:t>表示图表宽</a:t>
            </a:r>
            <a:r>
              <a:rPr lang="en-US" altLang="zh-CN" sz="1400"/>
              <a:t> 10 </a:t>
            </a:r>
            <a:r>
              <a:rPr lang="zh-CN" altLang="en-US" sz="1400"/>
              <a:t>英寸、高</a:t>
            </a:r>
            <a:r>
              <a:rPr lang="en-US" altLang="zh-CN" sz="1400"/>
              <a:t> 6 </a:t>
            </a:r>
            <a:r>
              <a:rPr lang="zh-CN" altLang="en-US" sz="1400"/>
              <a:t>英寸。</a:t>
            </a:r>
          </a:p>
          <a:p>
            <a:r>
              <a:rPr lang="en-US" altLang="zh-CN" sz="1400"/>
              <a:t>title</a:t>
            </a:r>
            <a:r>
              <a:rPr lang="zh-CN" altLang="en-US" sz="1400"/>
              <a:t>：设置图表的标题，用于说明图表的核心内容，这里是</a:t>
            </a:r>
            <a:r>
              <a:rPr lang="en-US" altLang="zh-CN" sz="1400"/>
              <a:t> “</a:t>
            </a:r>
            <a:r>
              <a:rPr lang="zh-CN" altLang="en-US" sz="1400"/>
              <a:t>北美与欧洲游戏销量关系散点图</a:t>
            </a:r>
            <a:r>
              <a:rPr lang="en-US" altLang="zh-CN" sz="1400"/>
              <a:t>”</a:t>
            </a:r>
            <a:r>
              <a:rPr lang="zh-CN" altLang="en-US" sz="1400"/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35" y="1504950"/>
            <a:ext cx="10982325" cy="192405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552450" y="2259330"/>
            <a:ext cx="10803255" cy="34925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7236460" y="2421890"/>
            <a:ext cx="800735" cy="20193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1052" y="235299"/>
            <a:ext cx="3593432" cy="358259"/>
          </a:xfrm>
        </p:spPr>
        <p:txBody>
          <a:bodyPr/>
          <a:lstStyle/>
          <a:p>
            <a:r>
              <a:rPr lang="zh-CN" altLang="en-US" sz="2400" dirty="0" smtClean="0"/>
              <a:t>数据可视化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566057" y="1872346"/>
            <a:ext cx="10987314" cy="417569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Bef>
                <a:spcPts val="1200"/>
              </a:spcBef>
            </a:pPr>
            <a:r>
              <a:rPr lang="en-US" altLang="zh-CN" sz="24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plt.plot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 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主要用于画折线图，没有 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kind 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参数（因为它本身就是折线图专用），也没有 </a:t>
            </a:r>
            <a:r>
              <a:rPr lang="en-US" altLang="zh-CN" sz="24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figsize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参数（尺寸需通过 </a:t>
            </a:r>
            <a:r>
              <a:rPr lang="en-US" altLang="zh-CN" sz="24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plt.figure</a:t>
            </a:r>
            <a:r>
              <a:rPr lang="en-US" altLang="zh-CN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 </a:t>
            </a: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单独设置）。</a:t>
            </a:r>
          </a:p>
          <a:p>
            <a:pPr lvl="0"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b="1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常用参数：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zh-CN" altLang="en-US" sz="2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颜色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color='red' 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或简写 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c='r'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zh-CN" altLang="en-US" sz="2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线条样式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linestyle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='--' 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或简写 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ls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='--'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zh-CN" altLang="en-US" sz="2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线条粗细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linewidth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=2 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或简写 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lw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=2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zh-CN" altLang="en-US" sz="2200" b="1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尺寸设置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：需用 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plt.figure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dirty="0" err="1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figsize</a:t>
            </a:r>
            <a:r>
              <a:rPr lang="en-US" altLang="zh-CN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=(8,4)) </a:t>
            </a:r>
            <a:r>
              <a:rPr lang="zh-CN" altLang="en-US" sz="2200" dirty="0" smtClean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在绘图前指定。</a:t>
            </a:r>
          </a:p>
        </p:txBody>
      </p:sp>
      <p:sp>
        <p:nvSpPr>
          <p:cNvPr id="8" name="矩形 7"/>
          <p:cNvSpPr/>
          <p:nvPr/>
        </p:nvSpPr>
        <p:spPr>
          <a:xfrm>
            <a:off x="5499357" y="1299420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如：</a:t>
            </a:r>
            <a:r>
              <a:rPr lang="en-US" altLang="zh-CN" sz="2400" dirty="0" err="1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plt.plot</a:t>
            </a:r>
            <a:r>
              <a:rPr lang="en-US" altLang="zh-CN" sz="2400" dirty="0" smtClean="0">
                <a:solidFill>
                  <a:srgbClr val="33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endParaRPr lang="zh-CN" altLang="en-US" sz="2400" dirty="0">
              <a:solidFill>
                <a:srgbClr val="3333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1957" y="1212334"/>
            <a:ext cx="4918334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实验任务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648969" y="1657350"/>
            <a:ext cx="10975975" cy="466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●"/>
            </a:pP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任务描述：加载农产品批发价格数据，扮演市场分析师的角色，对数据进行筛选、查询和探索性分析，以挖掘市场信息。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zh-CN" altLang="zh-CN" sz="2200" b="1" dirty="0" smtClean="0">
                <a:solidFill>
                  <a:srgbClr val="1B1C1D"/>
                </a:solidFill>
                <a:cs typeface="宋体" panose="02010600030101010101" pitchFamily="2" charset="-122"/>
              </a:rPr>
              <a:t>精确筛选：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筛选并展示“上海市江桥批发市场经营管理有限公司”中，“最高价”低于</a:t>
            </a:r>
            <a:r>
              <a:rPr lang="en-US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5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元 并且 “最低价”高于</a:t>
            </a:r>
            <a:r>
              <a:rPr lang="en-US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2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元的所有蔬菜交易记录。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zh-CN" altLang="zh-CN" sz="2200" b="1" dirty="0" smtClean="0">
                <a:solidFill>
                  <a:srgbClr val="1B1C1D"/>
                </a:solidFill>
                <a:cs typeface="宋体" panose="02010600030101010101" pitchFamily="2" charset="-122"/>
              </a:rPr>
              <a:t>多品类查询：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使用</a:t>
            </a:r>
            <a:r>
              <a:rPr lang="en-US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 .</a:t>
            </a:r>
            <a:r>
              <a:rPr lang="en-US" altLang="zh-CN" sz="2200" dirty="0" err="1" smtClean="0">
                <a:solidFill>
                  <a:srgbClr val="1B1C1D"/>
                </a:solidFill>
                <a:cs typeface="宋体" panose="02010600030101010101" pitchFamily="2" charset="-122"/>
              </a:rPr>
              <a:t>isin</a:t>
            </a:r>
            <a:r>
              <a:rPr lang="en-US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() 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方法，一次性找出并展示所有品种为“大白菜”、“西红柿”、“黄瓜”的交易数据。</a:t>
            </a:r>
          </a:p>
          <a:p>
            <a:pPr marL="742950" lvl="1" indent="-285750">
              <a:lnSpc>
                <a:spcPct val="150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zh-CN" altLang="zh-CN" sz="2200" b="1" dirty="0" smtClean="0">
                <a:solidFill>
                  <a:srgbClr val="1B1C1D"/>
                </a:solidFill>
                <a:cs typeface="宋体" panose="02010600030101010101" pitchFamily="2" charset="-122"/>
              </a:rPr>
              <a:t>分布探索：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在数据表中创建一个名为 价差 的新列（其值为 最高价</a:t>
            </a:r>
            <a:r>
              <a:rPr lang="en-US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 - 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最低价），并为该列绘制一张直方图（</a:t>
            </a:r>
            <a:r>
              <a:rPr lang="en-US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bins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可设为</a:t>
            </a:r>
            <a:r>
              <a:rPr lang="en-US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15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），以观察价差的分布情况。</a:t>
            </a:r>
          </a:p>
        </p:txBody>
      </p:sp>
      <p:sp>
        <p:nvSpPr>
          <p:cNvPr id="6" name="矩形 5"/>
          <p:cNvSpPr/>
          <p:nvPr/>
        </p:nvSpPr>
        <p:spPr>
          <a:xfrm>
            <a:off x="733579" y="1118354"/>
            <a:ext cx="6032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 smtClean="0">
                <a:solidFill>
                  <a:srgbClr val="3333FF"/>
                </a:solidFill>
              </a:rPr>
              <a:t>实验内容一：农产品价格深度分析（必做）</a:t>
            </a:r>
            <a:endParaRPr lang="zh-CN" altLang="en-US" sz="2400" b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10" y="1038860"/>
            <a:ext cx="9791700" cy="52673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7330" y="243840"/>
            <a:ext cx="4760595" cy="541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zh-CN" b="1" dirty="0" smtClean="0">
                <a:solidFill>
                  <a:srgbClr val="3333FF"/>
                </a:solidFill>
                <a:sym typeface="+mn-ea"/>
              </a:rPr>
              <a:t>实验内容一：参考答案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实验任务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648969" y="1657350"/>
            <a:ext cx="11136631" cy="466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任务描述：加载全球视频游戏销量数据，扮演游戏公司的市场战略分析师，进行复杂条件过滤、相关性分析和分组聚合分析，以发现爆款游戏的特征和市场趋势。</a:t>
            </a:r>
          </a:p>
          <a:p>
            <a:pPr marL="742950" lvl="1" indent="-285750" algn="just">
              <a:lnSpc>
                <a:spcPct val="150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zh-CN" altLang="zh-CN" sz="2000" b="1" dirty="0" smtClean="0">
                <a:solidFill>
                  <a:srgbClr val="1B1C1D"/>
                </a:solidFill>
                <a:cs typeface="宋体" panose="02010600030101010101" pitchFamily="2" charset="-122"/>
              </a:rPr>
              <a:t>组合条件过滤：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筛选并展示满足以下所有条件的游戏数据：（游戏的“发行商”是“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Nintendo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” 或者“类型”是“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Action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”）并且 游戏的“全球销量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(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百万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)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”大于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20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。</a:t>
            </a:r>
          </a:p>
          <a:p>
            <a:pPr marL="742950" lvl="1" indent="-285750" algn="just">
              <a:lnSpc>
                <a:spcPct val="150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zh-CN" altLang="zh-CN" sz="2000" b="1" dirty="0" smtClean="0">
                <a:solidFill>
                  <a:srgbClr val="1B1C1D"/>
                </a:solidFill>
                <a:cs typeface="宋体" panose="02010600030101010101" pitchFamily="2" charset="-122"/>
              </a:rPr>
              <a:t>寻找关联性：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绘制一张散点图，其中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X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轴为“日本销量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(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百万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)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”，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Y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轴为“全球销量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(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百万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)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”，用于探索两个变量之间的关系。</a:t>
            </a:r>
          </a:p>
          <a:p>
            <a:pPr marL="742950" lvl="1" indent="-285750" algn="just">
              <a:lnSpc>
                <a:spcPct val="150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zh-CN" altLang="zh-CN" sz="2000" b="1" dirty="0" smtClean="0">
                <a:solidFill>
                  <a:srgbClr val="1B1C1D"/>
                </a:solidFill>
                <a:cs typeface="宋体" panose="02010600030101010101" pitchFamily="2" charset="-122"/>
              </a:rPr>
              <a:t>热门类型分析：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使用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 .</a:t>
            </a:r>
            <a:r>
              <a:rPr lang="en-US" altLang="zh-CN" sz="2000" dirty="0" err="1" smtClean="0">
                <a:solidFill>
                  <a:srgbClr val="1B1C1D"/>
                </a:solidFill>
                <a:cs typeface="宋体" panose="02010600030101010101" pitchFamily="2" charset="-122"/>
              </a:rPr>
              <a:t>groupby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() 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按“类型”对游戏数据进行分组；计算并得出每种游戏类型的“全球销量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(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百万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)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”总和；对结果进行降序排序，找出销量最高的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Top 5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游戏类型；为这</a:t>
            </a:r>
            <a:r>
              <a:rPr lang="en-US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Top 5</a:t>
            </a:r>
            <a:r>
              <a:rPr lang="zh-CN" altLang="zh-CN" sz="2000" dirty="0" smtClean="0">
                <a:solidFill>
                  <a:srgbClr val="1B1C1D"/>
                </a:solidFill>
                <a:cs typeface="宋体" panose="02010600030101010101" pitchFamily="2" charset="-122"/>
              </a:rPr>
              <a:t>的游戏类型及其总销量，绘制一个清晰的条形图进行对</a:t>
            </a:r>
            <a:r>
              <a:rPr lang="zh-CN" altLang="zh-CN" sz="2200" dirty="0" smtClean="0">
                <a:solidFill>
                  <a:srgbClr val="1B1C1D"/>
                </a:solidFill>
                <a:cs typeface="宋体" panose="02010600030101010101" pitchFamily="2" charset="-122"/>
              </a:rPr>
              <a:t>比。</a:t>
            </a:r>
          </a:p>
        </p:txBody>
      </p:sp>
      <p:sp>
        <p:nvSpPr>
          <p:cNvPr id="6" name="矩形 5"/>
          <p:cNvSpPr/>
          <p:nvPr/>
        </p:nvSpPr>
        <p:spPr>
          <a:xfrm>
            <a:off x="733579" y="1118354"/>
            <a:ext cx="5753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3333FF"/>
                </a:solidFill>
              </a:rPr>
              <a:t>实验内容二：全球游戏市场洞察（必做）</a:t>
            </a:r>
            <a:endParaRPr lang="zh-CN" altLang="en-US" sz="2400" b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711835"/>
            <a:ext cx="9601200" cy="57816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2105" y="254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3333FF"/>
                </a:solidFill>
                <a:sym typeface="+mn-ea"/>
              </a:rPr>
              <a:t>实验内容二：参考答案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t1.gstatic.com/images?q=tbn:ANd9GcT00RGOSmqIbmWmhi73Kgs_vpz6I7DYCcvSp33yJv8LiVjQ6zvoZ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785" y="5223510"/>
            <a:ext cx="2687955" cy="13538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4"/>
          <p:cNvSpPr txBox="1"/>
          <p:nvPr/>
        </p:nvSpPr>
        <p:spPr>
          <a:xfrm>
            <a:off x="2172335" y="1281430"/>
            <a:ext cx="9056370" cy="2521585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4800" b="1" spc="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讲解实验报告完成要求</a:t>
            </a:r>
          </a:p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4800" b="1" spc="800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请同学认真完成实验任务</a:t>
            </a:r>
          </a:p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4800" b="1" spc="800" dirty="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并保存代码和结果截图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k5YmExNGZlYmE1MTAzMzkwZTBlM2Y3YTM0OGUxMDIifQ=="/>
  <p:tag name="RESOURCE_RECORD_KEY" val="{&quot;12&quot;:[25002166,20001833],&quot;65&quot;:[20235870],&quot;70&quot;:[3429078,3314336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87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87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5870"/>
  <p:tag name="KSO_WM_TEMPLATE_CATEGORY" val="custom"/>
  <p:tag name="KSO_WM_TEMPLATE_MASTER_TYPE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g"/>
  <p:tag name="KSO_WM_UNIT_INDEX" val="3"/>
  <p:tag name="KSO_WM_BEAUTIFY_FLAG" val="#wm#"/>
  <p:tag name="KSO_WM_TAG_VERSION" val="3.0"/>
  <p:tag name="KSO_WM_UNIT_PRESET_TEXT" val="公司名"/>
  <p:tag name="KSO_WM_UNIT_ID" val="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70"/>
  <p:tag name="KSO_WM_TEMPLATE_CATEGORY" val="custom"/>
  <p:tag name="KSO_WM_SLIDE_INDEX" val="1"/>
  <p:tag name="KSO_WM_SLIDE_ID" val="custom20235870_1"/>
  <p:tag name="KSO_WM_TEMPLATE_MASTER_TYPE" val="0"/>
  <p:tag name="KSO_WM_SLIDE_LAYOUT" val="a_b_f"/>
  <p:tag name="KSO_WM_SLIDE_LAYOUT_CNT" val="1_1_3"/>
  <p:tag name="RESOURCE_RECORD_KEY" val="{&quot;12&quot;:[25002166,20001833],&quot;65&quot;:[20235870]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70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70"/>
  <p:tag name="KSO_WM_TEMPLATE_CATEGORY" val="custom"/>
  <p:tag name="KSO_WM_UNIT_ISCONTENTSTITLE" val="0"/>
  <p:tag name="KSO_WM_UNIT_VALUE" val="7"/>
  <p:tag name="KSO_WM_UNIT_PRESET_TEXT" val="添加文档标题"/>
  <p:tag name="KSO_WM_UNIT_TEXT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ID" val="custom20235870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70"/>
  <p:tag name="KSO_WM_TEMPLATE_CATEGORY" val="custom"/>
  <p:tag name="KSO_WM_UNIT_VALU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90566929133854,&quot;left&quot;:227.6166929133858,&quot;top&quot;:143,&quot;width&quot;:666.534566929133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958031496063,&quot;left&quot;:239.0666929133858,&quot;top&quot;:173.94763779527554,&quot;width&quot;:655.084566929133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958031496063,&quot;left&quot;:239.0666929133858,&quot;top&quot;:173.94763779527554,&quot;width&quot;:655.084566929133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958031496063,&quot;left&quot;:239.0666929133858,&quot;top&quot;:173.94763779527554,&quot;width&quot;:655.084566929133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958031496063,&quot;left&quot;:239.0666929133858,&quot;top&quot;:173.94763779527554,&quot;width&quot;:655.084566929133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958031496063,&quot;left&quot;:239.0666929133858,&quot;top&quot;:173.94763779527554,&quot;width&quot;:655.0845669291339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蓝色几何渐变职场办公">
  <a:themeElements>
    <a:clrScheme name="蓝色职场">
      <a:dk1>
        <a:srgbClr val="000000"/>
      </a:dk1>
      <a:lt1>
        <a:srgbClr val="FFFFFF"/>
      </a:lt1>
      <a:dk2>
        <a:srgbClr val="0E363E"/>
      </a:dk2>
      <a:lt2>
        <a:srgbClr val="F6FEFE"/>
      </a:lt2>
      <a:accent1>
        <a:srgbClr val="00C3D8"/>
      </a:accent1>
      <a:accent2>
        <a:srgbClr val="0FD38B"/>
      </a:accent2>
      <a:accent3>
        <a:srgbClr val="F2BA02"/>
      </a:accent3>
      <a:accent4>
        <a:srgbClr val="5BB384"/>
      </a:accent4>
      <a:accent5>
        <a:srgbClr val="3077C0"/>
      </a:accent5>
      <a:accent6>
        <a:srgbClr val="E45458"/>
      </a:accent6>
      <a:hlink>
        <a:srgbClr val="0026E5"/>
      </a:hlink>
      <a:folHlink>
        <a:srgbClr val="7E1FAD"/>
      </a:folHlink>
    </a:clrScheme>
    <a:fontScheme name="自定义 4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3334</Words>
  <Application>Microsoft Office PowerPoint</Application>
  <PresentationFormat>宽屏</PresentationFormat>
  <Paragraphs>200</Paragraphs>
  <Slides>23</Slides>
  <Notes>20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PingFang SC</vt:lpstr>
      <vt:lpstr>汉仪正圆-75W</vt:lpstr>
      <vt:lpstr>华文细黑</vt:lpstr>
      <vt:lpstr>宋体</vt:lpstr>
      <vt:lpstr>微软雅黑</vt:lpstr>
      <vt:lpstr>Arial</vt:lpstr>
      <vt:lpstr>Arial Black</vt:lpstr>
      <vt:lpstr>Calibri</vt:lpstr>
      <vt:lpstr>Calibri Light</vt:lpstr>
      <vt:lpstr>Stencil</vt:lpstr>
      <vt:lpstr>Times New Roman</vt:lpstr>
      <vt:lpstr>Wingdings</vt:lpstr>
      <vt:lpstr>Office 主题</vt:lpstr>
      <vt:lpstr>简约风蓝色几何渐变职场办公</vt:lpstr>
      <vt:lpstr>计算思维与人工智能基础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李刚</dc:creator>
  <cp:lastModifiedBy>Administrator</cp:lastModifiedBy>
  <cp:revision>437</cp:revision>
  <dcterms:created xsi:type="dcterms:W3CDTF">2014-07-14T07:34:00Z</dcterms:created>
  <dcterms:modified xsi:type="dcterms:W3CDTF">2025-11-03T08:48:03Z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69B43DC0F66C4F8493B9D99A62BBD0FA_13</vt:lpwstr>
  </property>
  <property fmtid="{D5CDD505-2E9C-101B-9397-08002B2CF9AE}" pid="3" name="KSOProductBuildVer">
    <vt:lpwstr>2052-12.1.0.23125</vt:lpwstr>
  </property>
</Properties>
</file>