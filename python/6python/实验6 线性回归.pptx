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6.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20"/>
  </p:notesMasterIdLst>
  <p:handoutMasterIdLst>
    <p:handoutMasterId r:id="rId21"/>
  </p:handoutMasterIdLst>
  <p:sldIdLst>
    <p:sldId id="354" r:id="rId3"/>
    <p:sldId id="278" r:id="rId4"/>
    <p:sldId id="328" r:id="rId5"/>
    <p:sldId id="382" r:id="rId6"/>
    <p:sldId id="383" r:id="rId7"/>
    <p:sldId id="374" r:id="rId8"/>
    <p:sldId id="329" r:id="rId9"/>
    <p:sldId id="363" r:id="rId10"/>
    <p:sldId id="335" r:id="rId11"/>
    <p:sldId id="381" r:id="rId12"/>
    <p:sldId id="341" r:id="rId13"/>
    <p:sldId id="375" r:id="rId14"/>
    <p:sldId id="376" r:id="rId15"/>
    <p:sldId id="378" r:id="rId16"/>
    <p:sldId id="379" r:id="rId17"/>
    <p:sldId id="372" r:id="rId18"/>
    <p:sldId id="279" r:id="rId19"/>
  </p:sldIdLst>
  <p:sldSz cx="12192000" cy="6858000"/>
  <p:notesSz cx="6858000" cy="9144000"/>
  <p:custDataLst>
    <p:tags r:id="rId22"/>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2" userDrawn="1">
          <p15:clr>
            <a:srgbClr val="A4A3A4"/>
          </p15:clr>
        </p15:guide>
        <p15:guide id="2" pos="381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E598C"/>
    <a:srgbClr val="3333FF"/>
    <a:srgbClr val="FFFF00"/>
    <a:srgbClr val="0F5E93"/>
    <a:srgbClr val="0115CF"/>
    <a:srgbClr val="FFFF99"/>
    <a:srgbClr val="FF99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8974" autoAdjust="0"/>
  </p:normalViewPr>
  <p:slideViewPr>
    <p:cSldViewPr snapToGrid="0" showGuides="1">
      <p:cViewPr varScale="1">
        <p:scale>
          <a:sx n="110" d="100"/>
          <a:sy n="110" d="100"/>
        </p:scale>
        <p:origin x="402" y="108"/>
      </p:cViewPr>
      <p:guideLst>
        <p:guide orient="horz" pos="2192"/>
        <p:guide pos="3814"/>
      </p:guideLst>
    </p:cSldViewPr>
  </p:slideViewPr>
  <p:outlineViewPr>
    <p:cViewPr>
      <p:scale>
        <a:sx n="33" d="100"/>
        <a:sy n="33" d="100"/>
      </p:scale>
      <p:origin x="0" y="-1302"/>
    </p:cViewPr>
  </p:outlineViewPr>
  <p:notesTextViewPr>
    <p:cViewPr>
      <p:scale>
        <a:sx n="1" d="1"/>
        <a:sy n="1" d="1"/>
      </p:scale>
      <p:origin x="0" y="0"/>
    </p:cViewPr>
  </p:notesTextViewPr>
  <p:sorterViewPr>
    <p:cViewPr>
      <p:scale>
        <a:sx n="100" d="100"/>
        <a:sy n="100" d="100"/>
      </p:scale>
      <p:origin x="0" y="-786"/>
    </p:cViewPr>
  </p:sorterViewPr>
  <p:notesViewPr>
    <p:cSldViewPr snapToGrid="0">
      <p:cViewPr varScale="1">
        <p:scale>
          <a:sx n="84" d="100"/>
          <a:sy n="84" d="100"/>
        </p:scale>
        <p:origin x="367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2025/11/18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F36D81-2BE7-439A-B188-04D57FA78A05}" type="datetimeFigureOut">
              <a:rPr lang="zh-CN" altLang="en-US" smtClean="0"/>
              <a:t>2025/11/18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57304E-7477-417F-8581-5FFF4822C48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57304E-7477-417F-8581-5FFF4822C48C}"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57304E-7477-417F-8581-5FFF4822C48C}"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30A81-3837-6EF9-2F2E-6BED990EE1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D271E3-F034-5E5D-6CE0-2522F16D3A3A}"/>
              </a:ext>
            </a:extLst>
          </p:cNvPr>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a:extLst>
              <a:ext uri="{FF2B5EF4-FFF2-40B4-BE49-F238E27FC236}">
                <a16:creationId xmlns:a16="http://schemas.microsoft.com/office/drawing/2014/main" id="{DDBD07CE-BC30-84D6-8648-85B023C42AB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D02C33F-9A01-A245-96C4-CE025916AFFE}"/>
              </a:ext>
            </a:extLst>
          </p:cNvPr>
          <p:cNvSpPr>
            <a:spLocks noGrp="1"/>
          </p:cNvSpPr>
          <p:nvPr>
            <p:ph type="sldNum" sz="quarter" idx="10"/>
          </p:nvPr>
        </p:nvSpPr>
        <p:spPr/>
        <p:txBody>
          <a:bodyPr/>
          <a:lstStyle/>
          <a:p>
            <a:fld id="{CB57304E-7477-417F-8581-5FFF4822C48C}" type="slidenum">
              <a:rPr lang="zh-CN" altLang="en-US" smtClean="0"/>
              <a:t>4</a:t>
            </a:fld>
            <a:endParaRPr lang="zh-CN" altLang="en-US"/>
          </a:p>
        </p:txBody>
      </p:sp>
    </p:spTree>
    <p:extLst>
      <p:ext uri="{BB962C8B-B14F-4D97-AF65-F5344CB8AC3E}">
        <p14:creationId xmlns:p14="http://schemas.microsoft.com/office/powerpoint/2010/main" val="3490207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A40A2-5CDF-B72F-2C0F-77E09347CA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1F08F5-7036-B193-54BB-B615496F55DF}"/>
              </a:ext>
            </a:extLst>
          </p:cNvPr>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a:extLst>
              <a:ext uri="{FF2B5EF4-FFF2-40B4-BE49-F238E27FC236}">
                <a16:creationId xmlns:a16="http://schemas.microsoft.com/office/drawing/2014/main" id="{FE6172C1-7C45-349F-7AC0-A3E1B519E27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9FC3B55-BFF3-B6B4-65CF-5B9CA89E6339}"/>
              </a:ext>
            </a:extLst>
          </p:cNvPr>
          <p:cNvSpPr>
            <a:spLocks noGrp="1"/>
          </p:cNvSpPr>
          <p:nvPr>
            <p:ph type="sldNum" sz="quarter" idx="10"/>
          </p:nvPr>
        </p:nvSpPr>
        <p:spPr/>
        <p:txBody>
          <a:bodyPr/>
          <a:lstStyle/>
          <a:p>
            <a:fld id="{CB57304E-7477-417F-8581-5FFF4822C48C}" type="slidenum">
              <a:rPr lang="zh-CN" altLang="en-US" smtClean="0"/>
              <a:t>5</a:t>
            </a:fld>
            <a:endParaRPr lang="zh-CN" altLang="en-US"/>
          </a:p>
        </p:txBody>
      </p:sp>
    </p:spTree>
    <p:extLst>
      <p:ext uri="{BB962C8B-B14F-4D97-AF65-F5344CB8AC3E}">
        <p14:creationId xmlns:p14="http://schemas.microsoft.com/office/powerpoint/2010/main" val="1114061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6755-B09C-BC72-AE7D-9FCD18A07C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CB67FC-4E81-FA7B-54FC-2DD69FB1A99A}"/>
              </a:ext>
            </a:extLst>
          </p:cNvPr>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a:extLst>
              <a:ext uri="{FF2B5EF4-FFF2-40B4-BE49-F238E27FC236}">
                <a16:creationId xmlns:a16="http://schemas.microsoft.com/office/drawing/2014/main" id="{44520027-0006-8C39-291C-74474D974DD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D80434A-1890-5AD8-72E3-35C9A40D8A7A}"/>
              </a:ext>
            </a:extLst>
          </p:cNvPr>
          <p:cNvSpPr>
            <a:spLocks noGrp="1"/>
          </p:cNvSpPr>
          <p:nvPr>
            <p:ph type="sldNum" sz="quarter" idx="10"/>
          </p:nvPr>
        </p:nvSpPr>
        <p:spPr/>
        <p:txBody>
          <a:bodyPr/>
          <a:lstStyle/>
          <a:p>
            <a:fld id="{CB57304E-7477-417F-8581-5FFF4822C48C}" type="slidenum">
              <a:rPr lang="zh-CN" altLang="en-US" smtClean="0"/>
              <a:t>6</a:t>
            </a:fld>
            <a:endParaRPr lang="zh-CN" altLang="en-US"/>
          </a:p>
        </p:txBody>
      </p:sp>
    </p:spTree>
    <p:extLst>
      <p:ext uri="{BB962C8B-B14F-4D97-AF65-F5344CB8AC3E}">
        <p14:creationId xmlns:p14="http://schemas.microsoft.com/office/powerpoint/2010/main" val="3345258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57304E-7477-417F-8581-5FFF4822C48C}"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57304E-7477-417F-8581-5FFF4822C48C}"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57304E-7477-417F-8581-5FFF4822C48C}"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ADF2F-19E0-260A-DB71-68E5D227CE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1D3DF1-8BFE-D4AD-4CE0-ECA83409C0DE}"/>
              </a:ext>
            </a:extLst>
          </p:cNvPr>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a:extLst>
              <a:ext uri="{FF2B5EF4-FFF2-40B4-BE49-F238E27FC236}">
                <a16:creationId xmlns:a16="http://schemas.microsoft.com/office/drawing/2014/main" id="{BF648C39-BFE0-378D-6B01-31FF982582B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8CB5044-494A-B896-CA83-3AEAA9805C56}"/>
              </a:ext>
            </a:extLst>
          </p:cNvPr>
          <p:cNvSpPr>
            <a:spLocks noGrp="1"/>
          </p:cNvSpPr>
          <p:nvPr>
            <p:ph type="sldNum" sz="quarter" idx="10"/>
          </p:nvPr>
        </p:nvSpPr>
        <p:spPr/>
        <p:txBody>
          <a:bodyPr/>
          <a:lstStyle/>
          <a:p>
            <a:fld id="{CB57304E-7477-417F-8581-5FFF4822C48C}" type="slidenum">
              <a:rPr lang="zh-CN" altLang="en-US" smtClean="0"/>
              <a:t>10</a:t>
            </a:fld>
            <a:endParaRPr lang="zh-CN" altLang="en-US"/>
          </a:p>
        </p:txBody>
      </p:sp>
    </p:spTree>
    <p:extLst>
      <p:ext uri="{BB962C8B-B14F-4D97-AF65-F5344CB8AC3E}">
        <p14:creationId xmlns:p14="http://schemas.microsoft.com/office/powerpoint/2010/main" val="2204416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57304E-7477-417F-8581-5FFF4822C48C}"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57304E-7477-417F-8581-5FFF4822C48C}" type="slidenum">
              <a:rPr lang="zh-CN" altLang="en-US" smtClean="0"/>
              <a:t>17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slideMaster" Target="../slideMasters/slideMaster2.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image" Target="../media/image7.png"/><Relationship Id="rId10" Type="http://schemas.openxmlformats.org/officeDocument/2006/relationships/tags" Target="../tags/tag21.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cxnSp>
        <p:nvCxnSpPr>
          <p:cNvPr id="20" name="直接连接符 19"/>
          <p:cNvCxnSpPr/>
          <p:nvPr userDrawn="1"/>
        </p:nvCxnSpPr>
        <p:spPr>
          <a:xfrm flipV="1">
            <a:off x="5362342" y="5312229"/>
            <a:ext cx="978577" cy="42763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userDrawn="1"/>
        </p:nvPicPr>
        <p:blipFill>
          <a:blip r:embed="rId2"/>
          <a:stretch>
            <a:fillRect/>
          </a:stretch>
        </p:blipFill>
        <p:spPr>
          <a:xfrm>
            <a:off x="6565900" y="5817235"/>
            <a:ext cx="4967605" cy="643255"/>
          </a:xfrm>
          <a:prstGeom prst="rect">
            <a:avLst/>
          </a:prstGeom>
        </p:spPr>
      </p:pic>
      <p:grpSp>
        <p:nvGrpSpPr>
          <p:cNvPr id="2" name="组合 1"/>
          <p:cNvGrpSpPr/>
          <p:nvPr userDrawn="1"/>
        </p:nvGrpSpPr>
        <p:grpSpPr>
          <a:xfrm>
            <a:off x="8180705" y="34925"/>
            <a:ext cx="3783965" cy="838199"/>
            <a:chOff x="4566844" y="34931"/>
            <a:chExt cx="4755662" cy="1318966"/>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6844" y="34931"/>
              <a:ext cx="1314122" cy="1300981"/>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6890" y="221024"/>
              <a:ext cx="2522515" cy="494863"/>
            </a:xfrm>
            <a:prstGeom prst="rect">
              <a:avLst/>
            </a:prstGeom>
          </p:spPr>
        </p:pic>
        <p:cxnSp>
          <p:nvCxnSpPr>
            <p:cNvPr id="15" name="直线连接符 9"/>
            <p:cNvCxnSpPr/>
            <p:nvPr/>
          </p:nvCxnSpPr>
          <p:spPr>
            <a:xfrm>
              <a:off x="5921490" y="725690"/>
              <a:ext cx="2230016" cy="933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符 21"/>
            <p:cNvCxnSpPr/>
            <p:nvPr/>
          </p:nvCxnSpPr>
          <p:spPr>
            <a:xfrm>
              <a:off x="6459595" y="761984"/>
              <a:ext cx="2581663" cy="12671"/>
            </a:xfrm>
            <a:prstGeom prst="line">
              <a:avLst/>
            </a:prstGeom>
            <a:ln w="19050">
              <a:gradFill flip="none" rotWithShape="1">
                <a:gsLst>
                  <a:gs pos="4000">
                    <a:schemeClr val="tx1">
                      <a:lumMod val="65000"/>
                      <a:lumOff val="35000"/>
                    </a:schemeClr>
                  </a:gs>
                  <a:gs pos="49000">
                    <a:schemeClr val="accent6">
                      <a:lumMod val="75000"/>
                    </a:schemeClr>
                  </a:gs>
                  <a:gs pos="100000">
                    <a:schemeClr val="accent6">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7" name="直线连接符 26"/>
            <p:cNvCxnSpPr/>
            <p:nvPr/>
          </p:nvCxnSpPr>
          <p:spPr>
            <a:xfrm>
              <a:off x="6176530" y="795054"/>
              <a:ext cx="2230016" cy="933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5718450" y="823313"/>
              <a:ext cx="3604056" cy="5305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rPr>
                <a:t>Shanxi Agricultural University</a:t>
              </a: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bwMode="auto">
          <a:xfrm>
            <a:off x="1552583" y="862013"/>
            <a:ext cx="10639425" cy="36512"/>
          </a:xfrm>
          <a:prstGeom prst="rect">
            <a:avLst/>
          </a:prstGeom>
          <a:gradFill>
            <a:gsLst>
              <a:gs pos="2000">
                <a:schemeClr val="bg2"/>
              </a:gs>
              <a:gs pos="50000">
                <a:schemeClr val="accent1">
                  <a:lumMod val="40000"/>
                  <a:lumOff val="60000"/>
                </a:schemeClr>
              </a:gs>
              <a:gs pos="100000">
                <a:schemeClr val="bg2"/>
              </a:gs>
            </a:gsLst>
          </a:gradFill>
          <a:ln>
            <a:headEnd type="none" w="med" len="med"/>
            <a:tailEnd type="triangle" w="med" len="med"/>
          </a:ln>
        </p:spPr>
        <p:style>
          <a:lnRef idx="0">
            <a:schemeClr val="accent3"/>
          </a:lnRef>
          <a:fillRef idx="3">
            <a:schemeClr val="accent3"/>
          </a:fillRef>
          <a:effectRef idx="3">
            <a:schemeClr val="accent3"/>
          </a:effectRef>
          <a:fontRef idx="minor">
            <a:schemeClr val="lt1"/>
          </a:fontRef>
        </p:style>
        <p:txBody>
          <a:bodyPr/>
          <a:lstStyle/>
          <a:p>
            <a:pPr eaLnBrk="0" hangingPunct="0">
              <a:buSzPct val="100000"/>
              <a:buFont typeface="Times New Roman" panose="02020603050405020304" pitchFamily="18" charset="0"/>
              <a:buNone/>
              <a:defRPr/>
            </a:pPr>
            <a:endParaRPr lang="zh-CN" altLang="en-US" sz="1600"/>
          </a:p>
        </p:txBody>
      </p:sp>
      <p:sp>
        <p:nvSpPr>
          <p:cNvPr id="8" name="矩形 7"/>
          <p:cNvSpPr/>
          <p:nvPr userDrawn="1"/>
        </p:nvSpPr>
        <p:spPr>
          <a:xfrm>
            <a:off x="420703" y="134938"/>
            <a:ext cx="3502025" cy="595312"/>
          </a:xfrm>
          <a:prstGeom prst="rect">
            <a:avLst/>
          </a:prstGeom>
          <a:solidFill>
            <a:srgbClr val="00428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711200" fontAlgn="auto">
              <a:spcBef>
                <a:spcPts val="0"/>
              </a:spcBef>
              <a:spcAft>
                <a:spcPts val="0"/>
              </a:spcAft>
              <a:defRPr/>
            </a:pPr>
            <a:endParaRPr lang="zh-CN" altLang="en-US" sz="2400" dirty="0">
              <a:solidFill>
                <a:srgbClr val="FFFF00"/>
              </a:solidFill>
              <a:latin typeface="微软雅黑" panose="020B0503020204020204" pitchFamily="34" charset="-122"/>
              <a:ea typeface="微软雅黑" panose="020B0503020204020204" pitchFamily="34" charset="-122"/>
            </a:endParaRPr>
          </a:p>
        </p:txBody>
      </p:sp>
      <p:sp>
        <p:nvSpPr>
          <p:cNvPr id="9" name="平行四边形 8"/>
          <p:cNvSpPr/>
          <p:nvPr userDrawn="1"/>
        </p:nvSpPr>
        <p:spPr>
          <a:xfrm>
            <a:off x="7" y="212726"/>
            <a:ext cx="3465513" cy="417513"/>
          </a:xfrm>
          <a:prstGeom prst="parallelogram">
            <a:avLst>
              <a:gd name="adj" fmla="val 42392"/>
            </a:avLst>
          </a:prstGeom>
          <a:solidFill>
            <a:srgbClr val="FFFF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indent="450850"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defRPr/>
            </a:pPr>
            <a:endParaRPr lang="zh-CN" altLang="en-US" sz="1800" dirty="0">
              <a:solidFill>
                <a:srgbClr val="00428E"/>
              </a:solidFill>
              <a:latin typeface="微软雅黑" panose="020B0503020204020204" pitchFamily="34" charset="-122"/>
              <a:ea typeface="微软雅黑" panose="020B0503020204020204" pitchFamily="34" charset="-122"/>
            </a:endParaRPr>
          </a:p>
        </p:txBody>
      </p:sp>
      <p:sp>
        <p:nvSpPr>
          <p:cNvPr id="11" name="文本占位符 10"/>
          <p:cNvSpPr>
            <a:spLocks noGrp="1"/>
          </p:cNvSpPr>
          <p:nvPr>
            <p:ph type="body" sz="quarter" idx="13"/>
          </p:nvPr>
        </p:nvSpPr>
        <p:spPr>
          <a:xfrm>
            <a:off x="445068" y="267383"/>
            <a:ext cx="3081907" cy="417513"/>
          </a:xfrm>
        </p:spPr>
        <p:txBody>
          <a:bodyPr/>
          <a:lstStyle>
            <a:lvl1pPr marL="0" indent="0">
              <a:buNone/>
              <a:defRPr sz="1800">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
        <p:nvSpPr>
          <p:cNvPr id="12" name="矩形 11"/>
          <p:cNvSpPr/>
          <p:nvPr userDrawn="1"/>
        </p:nvSpPr>
        <p:spPr>
          <a:xfrm>
            <a:off x="0" y="6554788"/>
            <a:ext cx="12192000" cy="323850"/>
          </a:xfrm>
          <a:prstGeom prst="rect">
            <a:avLst/>
          </a:prstGeom>
          <a:solidFill>
            <a:srgbClr val="00428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13" name="矩形 12"/>
          <p:cNvSpPr/>
          <p:nvPr userDrawn="1"/>
        </p:nvSpPr>
        <p:spPr>
          <a:xfrm>
            <a:off x="9748837" y="6578358"/>
            <a:ext cx="2443163" cy="182563"/>
          </a:xfrm>
          <a:prstGeom prst="rect">
            <a:avLst/>
          </a:prstGeom>
          <a:solidFill>
            <a:srgbClr val="FFFF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1200" dirty="0">
                <a:solidFill>
                  <a:srgbClr val="0115CF"/>
                </a:solidFill>
                <a:latin typeface="微软雅黑" panose="020B0503020204020204" pitchFamily="34" charset="-122"/>
                <a:ea typeface="微软雅黑" panose="020B0503020204020204" pitchFamily="34" charset="-122"/>
              </a:rPr>
              <a:t>第</a:t>
            </a:r>
            <a:fld id="{C1C92265-4D17-48E2-ACCF-43FEFF1957EC}" type="slidenum">
              <a:rPr lang="en-US" altLang="zh-CN" sz="1200" smtClean="0">
                <a:solidFill>
                  <a:srgbClr val="0115CF"/>
                </a:solidFill>
              </a:rPr>
              <a:t>‹#›</a:t>
            </a:fld>
            <a:r>
              <a:rPr lang="zh-CN" altLang="en-US" sz="1200" dirty="0">
                <a:solidFill>
                  <a:srgbClr val="0115CF"/>
                </a:solidFill>
                <a:latin typeface="微软雅黑" panose="020B0503020204020204" pitchFamily="34" charset="-122"/>
                <a:ea typeface="微软雅黑" panose="020B0503020204020204" pitchFamily="34" charset="-122"/>
              </a:rPr>
              <a:t>页</a:t>
            </a:r>
          </a:p>
        </p:txBody>
      </p:sp>
      <p:sp>
        <p:nvSpPr>
          <p:cNvPr id="14" name="矩形 13"/>
          <p:cNvSpPr/>
          <p:nvPr userDrawn="1"/>
        </p:nvSpPr>
        <p:spPr>
          <a:xfrm>
            <a:off x="117475" y="6513830"/>
            <a:ext cx="8028305" cy="337185"/>
          </a:xfrm>
          <a:prstGeom prst="rect">
            <a:avLst/>
          </a:prstGeom>
        </p:spPr>
        <p:txBody>
          <a:bodyPr wrap="square">
            <a:spAutoFit/>
          </a:bodyPr>
          <a:lstStyle/>
          <a:p>
            <a:pPr fontAlgn="auto">
              <a:spcBef>
                <a:spcPts val="0"/>
              </a:spcBef>
              <a:spcAft>
                <a:spcPts val="0"/>
              </a:spcAft>
              <a:defRPr/>
            </a:pPr>
            <a:r>
              <a:rPr lang="zh-CN" altLang="en-US" sz="1600" b="1" dirty="0">
                <a:solidFill>
                  <a:schemeClr val="accent4"/>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计算思维</a:t>
            </a:r>
            <a:r>
              <a:rPr lang="zh-CN" altLang="en-US" sz="1600" b="1" i="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与</a:t>
            </a:r>
            <a:r>
              <a:rPr lang="zh-CN" altLang="en-US" sz="1600" b="1" dirty="0">
                <a:solidFill>
                  <a:schemeClr val="accent4"/>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人工智能</a:t>
            </a:r>
            <a:r>
              <a:rPr lang="zh-CN" altLang="en-US" sz="1600" b="1" i="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基础</a:t>
            </a:r>
            <a:r>
              <a:rPr lang="zh-CN" altLang="en-US" sz="1600" b="1" i="1" dirty="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i="1" dirty="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Introduction to Computing &amp; AI</a:t>
            </a:r>
            <a:r>
              <a:rPr lang="zh-CN" altLang="en-US" sz="1600" b="1" i="1" dirty="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4" name="内容占位符 3"/>
          <p:cNvSpPr>
            <a:spLocks noGrp="1"/>
          </p:cNvSpPr>
          <p:nvPr>
            <p:ph sz="quarter" idx="14"/>
          </p:nvPr>
        </p:nvSpPr>
        <p:spPr>
          <a:xfrm>
            <a:off x="1493727" y="1437368"/>
            <a:ext cx="9567636" cy="3570061"/>
          </a:xfrm>
        </p:spPr>
        <p:txBody>
          <a:bodyPr/>
          <a:lstStyle>
            <a:lvl1pPr>
              <a:defRPr sz="3600">
                <a:latin typeface="微软雅黑" panose="020B0503020204020204" pitchFamily="34" charset="-122"/>
                <a:ea typeface="微软雅黑" panose="020B0503020204020204" pitchFamily="34" charset="-122"/>
              </a:defRPr>
            </a:lvl1pPr>
            <a:lvl2pPr>
              <a:defRPr sz="32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1800">
                <a:latin typeface="微软雅黑" panose="020B0503020204020204" pitchFamily="34" charset="-122"/>
                <a:ea typeface="微软雅黑" panose="020B0503020204020204" pitchFamily="34" charset="-122"/>
              </a:defRPr>
            </a:lvl4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grpSp>
        <p:nvGrpSpPr>
          <p:cNvPr id="5" name="组合 4"/>
          <p:cNvGrpSpPr/>
          <p:nvPr userDrawn="1"/>
        </p:nvGrpSpPr>
        <p:grpSpPr>
          <a:xfrm>
            <a:off x="8180705" y="34925"/>
            <a:ext cx="3783965" cy="838199"/>
            <a:chOff x="4566844" y="34931"/>
            <a:chExt cx="4755662" cy="1318966"/>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66844" y="34931"/>
              <a:ext cx="1314122" cy="1300981"/>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6890" y="221024"/>
              <a:ext cx="2522515" cy="494863"/>
            </a:xfrm>
            <a:prstGeom prst="rect">
              <a:avLst/>
            </a:prstGeom>
          </p:spPr>
        </p:pic>
        <p:cxnSp>
          <p:nvCxnSpPr>
            <p:cNvPr id="10" name="直线连接符 9"/>
            <p:cNvCxnSpPr/>
            <p:nvPr/>
          </p:nvCxnSpPr>
          <p:spPr>
            <a:xfrm>
              <a:off x="5921490" y="725690"/>
              <a:ext cx="2230016" cy="933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符 21"/>
            <p:cNvCxnSpPr/>
            <p:nvPr/>
          </p:nvCxnSpPr>
          <p:spPr>
            <a:xfrm>
              <a:off x="6459595" y="761984"/>
              <a:ext cx="2581663" cy="12671"/>
            </a:xfrm>
            <a:prstGeom prst="line">
              <a:avLst/>
            </a:prstGeom>
            <a:ln w="19050">
              <a:gradFill flip="none" rotWithShape="1">
                <a:gsLst>
                  <a:gs pos="4000">
                    <a:schemeClr val="tx1">
                      <a:lumMod val="65000"/>
                      <a:lumOff val="35000"/>
                    </a:schemeClr>
                  </a:gs>
                  <a:gs pos="49000">
                    <a:schemeClr val="accent6">
                      <a:lumMod val="75000"/>
                    </a:schemeClr>
                  </a:gs>
                  <a:gs pos="100000">
                    <a:schemeClr val="accent6">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7" name="直线连接符 26"/>
            <p:cNvCxnSpPr/>
            <p:nvPr/>
          </p:nvCxnSpPr>
          <p:spPr>
            <a:xfrm>
              <a:off x="6176530" y="795054"/>
              <a:ext cx="2230016" cy="933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5718450" y="823313"/>
              <a:ext cx="3604056" cy="5305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rPr>
                <a:t>Shanxi Agricultural University</a:t>
              </a: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3"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74A38C2-2AC0-4F4E-BA51-D50C45FB376A}" type="datetimeFigureOut">
              <a:rPr lang="zh-CN" altLang="en-US" smtClean="0"/>
              <a:t>2025/11/18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D68E39D-6F91-4985-B6FF-87874C6601F1}"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和内容">
    <p:bg bwMode="auto">
      <p:bgPr>
        <a:solidFill>
          <a:schemeClr val="bg1"/>
        </a:solidFill>
        <a:effectLst/>
      </p:bgPr>
    </p:bg>
    <p:spTree>
      <p:nvGrpSpPr>
        <p:cNvPr id="1" name=""/>
        <p:cNvGrpSpPr/>
        <p:nvPr/>
      </p:nvGrpSpPr>
      <p:grpSpPr>
        <a:xfrm>
          <a:off x="0" y="0"/>
          <a:ext cx="0" cy="0"/>
          <a:chOff x="0" y="0"/>
          <a:chExt cx="0" cy="0"/>
        </a:xfrm>
      </p:grpSpPr>
      <p:sp>
        <p:nvSpPr>
          <p:cNvPr id="2" name="矩形 1"/>
          <p:cNvSpPr/>
          <p:nvPr userDrawn="1"/>
        </p:nvSpPr>
        <p:spPr bwMode="auto">
          <a:xfrm>
            <a:off x="2070072" y="805513"/>
            <a:ext cx="10096528" cy="71439"/>
          </a:xfrm>
          <a:prstGeom prst="rect">
            <a:avLst/>
          </a:prstGeom>
          <a:ln>
            <a:headEnd type="none" w="med" len="med"/>
            <a:tailEnd type="triangle" w="med" len="med"/>
          </a:ln>
        </p:spPr>
        <p:style>
          <a:lnRef idx="0">
            <a:schemeClr val="accent3"/>
          </a:lnRef>
          <a:fillRef idx="3">
            <a:schemeClr val="accent3"/>
          </a:fillRef>
          <a:effectRef idx="3">
            <a:schemeClr val="accent3"/>
          </a:effectRef>
          <a:fontRef idx="minor">
            <a:schemeClr val="lt1"/>
          </a:fontRef>
        </p:style>
        <p:txBody>
          <a:bodyPr/>
          <a:lstStyle/>
          <a:p>
            <a:pPr eaLnBrk="0" hangingPunct="0">
              <a:buSzPct val="100000"/>
              <a:buFont typeface="Times New Roman" panose="02020603050405020304" pitchFamily="18" charset="0"/>
              <a:buNone/>
              <a:defRPr/>
            </a:pPr>
            <a:endParaRPr lang="zh-CN" altLang="en-US" sz="1600">
              <a:solidFill>
                <a:srgbClr val="FFFFFF"/>
              </a:solidFill>
              <a:ea typeface="宋体" panose="02010600030101010101" pitchFamily="2" charset="-122"/>
            </a:endParaRPr>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3582" y="93416"/>
            <a:ext cx="1179443" cy="1179443"/>
          </a:xfrm>
          <a:prstGeom prst="rect">
            <a:avLst/>
          </a:prstGeom>
          <a:ln>
            <a:noFill/>
          </a:ln>
          <a:effectLst>
            <a:softEdge rad="112500"/>
          </a:effectLst>
        </p:spPr>
      </p:pic>
      <p:grpSp>
        <p:nvGrpSpPr>
          <p:cNvPr id="6" name="组合 5"/>
          <p:cNvGrpSpPr/>
          <p:nvPr userDrawn="1"/>
        </p:nvGrpSpPr>
        <p:grpSpPr>
          <a:xfrm>
            <a:off x="8180705" y="34925"/>
            <a:ext cx="3783965" cy="838199"/>
            <a:chOff x="4566844" y="34931"/>
            <a:chExt cx="4755662" cy="1318966"/>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6844" y="34931"/>
              <a:ext cx="1314122" cy="1300981"/>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6890" y="221024"/>
              <a:ext cx="2522515" cy="494863"/>
            </a:xfrm>
            <a:prstGeom prst="rect">
              <a:avLst/>
            </a:prstGeom>
          </p:spPr>
        </p:pic>
        <p:cxnSp>
          <p:nvCxnSpPr>
            <p:cNvPr id="9" name="直线连接符 9"/>
            <p:cNvCxnSpPr/>
            <p:nvPr/>
          </p:nvCxnSpPr>
          <p:spPr>
            <a:xfrm>
              <a:off x="5921490" y="725690"/>
              <a:ext cx="2230016" cy="933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符 21"/>
            <p:cNvCxnSpPr/>
            <p:nvPr/>
          </p:nvCxnSpPr>
          <p:spPr>
            <a:xfrm>
              <a:off x="6459595" y="761984"/>
              <a:ext cx="2581663" cy="12671"/>
            </a:xfrm>
            <a:prstGeom prst="line">
              <a:avLst/>
            </a:prstGeom>
            <a:ln w="19050">
              <a:gradFill flip="none" rotWithShape="1">
                <a:gsLst>
                  <a:gs pos="4000">
                    <a:schemeClr val="tx1">
                      <a:lumMod val="65000"/>
                      <a:lumOff val="35000"/>
                    </a:schemeClr>
                  </a:gs>
                  <a:gs pos="49000">
                    <a:schemeClr val="accent6">
                      <a:lumMod val="75000"/>
                    </a:schemeClr>
                  </a:gs>
                  <a:gs pos="100000">
                    <a:schemeClr val="accent6">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7" name="直线连接符 26"/>
            <p:cNvCxnSpPr/>
            <p:nvPr/>
          </p:nvCxnSpPr>
          <p:spPr>
            <a:xfrm>
              <a:off x="6176530" y="795054"/>
              <a:ext cx="2230016" cy="933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5718450" y="823313"/>
              <a:ext cx="3604056" cy="5305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rPr>
                <a:t>Shanxi Agricultural University</a:t>
              </a: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2025/11/18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12192000" cy="6858000"/>
          </a:xfrm>
          <a:prstGeom prst="rect">
            <a:avLst/>
          </a:prstGeom>
          <a:gradFill>
            <a:gsLst>
              <a:gs pos="35000">
                <a:schemeClr val="bg2"/>
              </a:gs>
              <a:gs pos="100000">
                <a:schemeClr val="bg2">
                  <a:lumMod val="90000"/>
                </a:scheme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微软雅黑" panose="020B0503020204020204" pitchFamily="34" charset="-122"/>
            </a:endParaRPr>
          </a:p>
        </p:txBody>
      </p:sp>
      <p:pic>
        <p:nvPicPr>
          <p:cNvPr id="8" name="图片 7"/>
          <p:cNvPicPr>
            <a:picLocks noChangeAspect="1"/>
          </p:cNvPicPr>
          <p:nvPr userDrawn="1">
            <p:custDataLst>
              <p:tags r:id="rId2"/>
            </p:custDataLst>
          </p:nvPr>
        </p:nvPicPr>
        <p:blipFill rotWithShape="1">
          <a:blip r:embed="rId14">
            <a:alphaModFix amt="10000"/>
          </a:blip>
          <a:srcRect/>
          <a:stretch>
            <a:fillRect/>
          </a:stretch>
        </p:blipFill>
        <p:spPr>
          <a:xfrm>
            <a:off x="0" y="0"/>
            <a:ext cx="11160000" cy="6858000"/>
          </a:xfrm>
          <a:prstGeom prst="rect">
            <a:avLst/>
          </a:prstGeom>
        </p:spPr>
      </p:pic>
      <p:pic>
        <p:nvPicPr>
          <p:cNvPr id="9" name="图片 8"/>
          <p:cNvPicPr>
            <a:picLocks noChangeAspect="1"/>
          </p:cNvPicPr>
          <p:nvPr userDrawn="1">
            <p:custDataLst>
              <p:tags r:id="rId3"/>
            </p:custDataLst>
          </p:nvPr>
        </p:nvPicPr>
        <p:blipFill rotWithShape="1">
          <a:blip r:embed="rId15"/>
          <a:srcRect l="10404" b="3787"/>
          <a:stretch>
            <a:fillRect/>
          </a:stretch>
        </p:blipFill>
        <p:spPr>
          <a:xfrm>
            <a:off x="2" y="261000"/>
            <a:ext cx="6129901" cy="6336000"/>
          </a:xfrm>
          <a:prstGeom prst="rect">
            <a:avLst/>
          </a:prstGeom>
        </p:spPr>
      </p:pic>
      <p:sp>
        <p:nvSpPr>
          <p:cNvPr id="11" name="圆角矩形 27"/>
          <p:cNvSpPr/>
          <p:nvPr userDrawn="1">
            <p:custDataLst>
              <p:tags r:id="rId4"/>
            </p:custDataLst>
          </p:nvPr>
        </p:nvSpPr>
        <p:spPr>
          <a:xfrm>
            <a:off x="11162032" y="802850"/>
            <a:ext cx="71755" cy="215900"/>
          </a:xfrm>
          <a:prstGeom prst="roundRect">
            <a:avLst>
              <a:gd name="adj" fmla="val 50000"/>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lang="zh-CN" altLang="en-US" sz="1800">
              <a:cs typeface="微软雅黑" panose="020B0503020204020204" pitchFamily="34" charset="-122"/>
            </a:endParaRPr>
          </a:p>
        </p:txBody>
      </p:sp>
      <p:sp>
        <p:nvSpPr>
          <p:cNvPr id="2" name="标题 1"/>
          <p:cNvSpPr>
            <a:spLocks noGrp="1"/>
          </p:cNvSpPr>
          <p:nvPr>
            <p:ph type="ctrTitle" hasCustomPrompt="1"/>
            <p:custDataLst>
              <p:tags r:id="rId5"/>
            </p:custDataLst>
          </p:nvPr>
        </p:nvSpPr>
        <p:spPr>
          <a:xfrm>
            <a:off x="5997575" y="2491105"/>
            <a:ext cx="5339080" cy="1227455"/>
          </a:xfrm>
        </p:spPr>
        <p:txBody>
          <a:bodyPr wrap="square" lIns="90000" tIns="46800" rIns="90000" bIns="46800" anchor="ctr" anchorCtr="0">
            <a:normAutofit/>
          </a:bodyPr>
          <a:lstStyle>
            <a:lvl1pPr algn="r">
              <a:lnSpc>
                <a:spcPct val="100000"/>
              </a:lnSpc>
              <a:defRPr sz="6000" b="1">
                <a:solidFill>
                  <a:schemeClr val="tx1">
                    <a:lumMod val="75000"/>
                    <a:lumOff val="25000"/>
                  </a:schemeClr>
                </a:solidFill>
              </a:defRPr>
            </a:lvl1pPr>
          </a:lstStyle>
          <a:p>
            <a:r>
              <a:rPr lang="zh-CN" altLang="en-US" dirty="0"/>
              <a:t>编辑母版标题</a:t>
            </a:r>
          </a:p>
        </p:txBody>
      </p:sp>
      <p:sp>
        <p:nvSpPr>
          <p:cNvPr id="3" name="副标题 2"/>
          <p:cNvSpPr>
            <a:spLocks noGrp="1"/>
          </p:cNvSpPr>
          <p:nvPr>
            <p:ph type="subTitle" idx="1" hasCustomPrompt="1"/>
            <p:custDataLst>
              <p:tags r:id="rId6"/>
            </p:custDataLst>
          </p:nvPr>
        </p:nvSpPr>
        <p:spPr>
          <a:xfrm>
            <a:off x="5997600" y="3733200"/>
            <a:ext cx="5335200" cy="507600"/>
          </a:xfrm>
        </p:spPr>
        <p:txBody>
          <a:bodyPr wrap="square" lIns="90000" tIns="46800" rIns="90000" bIns="46800" anchor="ctr">
            <a:normAutofit/>
          </a:bodyPr>
          <a:lstStyle>
            <a:lvl1pPr marL="0" indent="0" algn="r">
              <a:lnSpc>
                <a:spcPct val="100000"/>
              </a:lnSpc>
              <a:buNone/>
              <a:defRPr sz="2000">
                <a:solidFill>
                  <a:schemeClr val="tx2">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4" name="日期占位符 3"/>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t>2025/11/18</a:t>
            </a:fld>
            <a:endParaRPr lang="zh-CN" altLang="en-US"/>
          </a:p>
        </p:txBody>
      </p:sp>
      <p:sp>
        <p:nvSpPr>
          <p:cNvPr id="5" name="页脚占位符 4"/>
          <p:cNvSpPr>
            <a:spLocks noGrp="1"/>
          </p:cNvSpPr>
          <p:nvPr>
            <p:ph type="ftr" sz="quarter" idx="11"/>
            <p:custDataLst>
              <p:tags r:id="rId8"/>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10" name="公司名占位符 6"/>
          <p:cNvSpPr>
            <a:spLocks noGrp="1"/>
          </p:cNvSpPr>
          <p:nvPr>
            <p:ph type="body" sz="quarter" idx="13" hasCustomPrompt="1"/>
            <p:custDataLst>
              <p:tags r:id="rId10"/>
            </p:custDataLst>
          </p:nvPr>
        </p:nvSpPr>
        <p:spPr>
          <a:xfrm>
            <a:off x="7639200" y="727200"/>
            <a:ext cx="3376800" cy="367200"/>
          </a:xfrm>
        </p:spPr>
        <p:txBody>
          <a:bodyPr wrap="square" lIns="90000" rIns="90000" anchor="ctr">
            <a:normAutofit/>
          </a:bodyPr>
          <a:lstStyle>
            <a:lvl1pPr marL="0" indent="0" algn="r">
              <a:lnSpc>
                <a:spcPct val="100000"/>
              </a:lnSpc>
              <a:buNone/>
              <a:defRPr sz="1800">
                <a:solidFill>
                  <a:schemeClr val="tx2">
                    <a:lumMod val="75000"/>
                    <a:lumOff val="25000"/>
                  </a:schemeClr>
                </a:solidFill>
              </a:defRPr>
            </a:lvl1pPr>
          </a:lstStyle>
          <a:p>
            <a:pPr lvl="0"/>
            <a:r>
              <a:rPr lang="zh-CN" altLang="en-US" dirty="0"/>
              <a:t>公司名</a:t>
            </a:r>
          </a:p>
        </p:txBody>
      </p:sp>
      <p:sp>
        <p:nvSpPr>
          <p:cNvPr id="18" name="年号占位符 8"/>
          <p:cNvSpPr>
            <a:spLocks noGrp="1"/>
          </p:cNvSpPr>
          <p:nvPr>
            <p:ph type="body" sz="quarter" idx="15" hasCustomPrompt="1"/>
            <p:custDataLst>
              <p:tags r:id="rId11"/>
            </p:custDataLst>
          </p:nvPr>
        </p:nvSpPr>
        <p:spPr>
          <a:xfrm>
            <a:off x="7272020" y="1581150"/>
            <a:ext cx="4064635" cy="870585"/>
          </a:xfrm>
        </p:spPr>
        <p:txBody>
          <a:bodyPr wrap="square" lIns="90000" tIns="46800" rIns="90000" bIns="46800" anchor="b" anchorCtr="0">
            <a:normAutofit/>
          </a:bodyPr>
          <a:lstStyle>
            <a:lvl1pPr marL="0" indent="0" algn="r">
              <a:lnSpc>
                <a:spcPct val="100000"/>
              </a:lnSpc>
              <a:buNone/>
              <a:defRPr sz="4400" b="1">
                <a:ln w="15875">
                  <a:solidFill>
                    <a:schemeClr val="tx2">
                      <a:lumMod val="75000"/>
                      <a:lumOff val="25000"/>
                      <a:alpha val="50000"/>
                    </a:schemeClr>
                  </a:solidFill>
                </a:ln>
                <a:noFill/>
                <a:latin typeface="+mn-ea"/>
                <a:ea typeface="+mn-ea"/>
              </a:defRPr>
            </a:lvl1pPr>
          </a:lstStyle>
          <a:p>
            <a:pPr lvl="0"/>
            <a:r>
              <a:rPr lang="zh-CN" altLang="en-US" dirty="0"/>
              <a:t>年号</a:t>
            </a:r>
          </a:p>
        </p:txBody>
      </p:sp>
      <p:sp>
        <p:nvSpPr>
          <p:cNvPr id="24" name="署名占位符 10"/>
          <p:cNvSpPr>
            <a:spLocks noGrp="1"/>
          </p:cNvSpPr>
          <p:nvPr>
            <p:ph type="body" sz="quarter" idx="17" hasCustomPrompt="1"/>
            <p:custDataLst>
              <p:tags r:id="rId12"/>
            </p:custDataLst>
          </p:nvPr>
        </p:nvSpPr>
        <p:spPr>
          <a:xfrm>
            <a:off x="7959600" y="4417200"/>
            <a:ext cx="3376800" cy="626400"/>
          </a:xfrm>
          <a:prstGeom prst="roundRect">
            <a:avLst>
              <a:gd name="adj" fmla="val 0"/>
            </a:avLst>
          </a:prstGeom>
          <a:gradFill>
            <a:gsLst>
              <a:gs pos="0">
                <a:schemeClr val="accent1">
                  <a:alpha val="86000"/>
                </a:schemeClr>
              </a:gs>
              <a:gs pos="100000">
                <a:schemeClr val="accent1"/>
              </a:gs>
            </a:gsLst>
            <a:lin ang="0" scaled="0"/>
          </a:gradFill>
        </p:spPr>
        <p:txBody>
          <a:bodyPr wrap="square" lIns="90000" tIns="46800" rIns="90000" bIns="46800" anchor="ctr">
            <a:normAutofit/>
          </a:bodyPr>
          <a:lstStyle>
            <a:lvl1pPr marL="0" indent="0" algn="ctr">
              <a:lnSpc>
                <a:spcPct val="100000"/>
              </a:lnSpc>
              <a:buNone/>
              <a:defRPr sz="1800" b="1">
                <a:solidFill>
                  <a:srgbClr val="FFFFFF"/>
                </a:solidFill>
                <a:latin typeface="+mn-ea"/>
                <a:ea typeface="+mn-ea"/>
              </a:defRPr>
            </a:lvl1pPr>
          </a:lstStyle>
          <a:p>
            <a:pPr lvl="0"/>
            <a:r>
              <a:rPr lang="zh-CN" altLang="en-US" dirty="0"/>
              <a:t>署名</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heme" Target="../theme/theme2.xml"/><Relationship Id="rId1" Type="http://schemas.openxmlformats.org/officeDocument/2006/relationships/slideLayout" Target="../slideLayouts/slideLayout6.xml"/><Relationship Id="rId6" Type="http://schemas.openxmlformats.org/officeDocument/2006/relationships/tags" Target="../tags/tag8.xml"/><Relationship Id="rId5" Type="http://schemas.openxmlformats.org/officeDocument/2006/relationships/tags" Target="../tags/tag7.xml"/><Relationship Id="rId10" Type="http://schemas.openxmlformats.org/officeDocument/2006/relationships/image" Target="../media/image5.png"/><Relationship Id="rId4" Type="http://schemas.openxmlformats.org/officeDocument/2006/relationships/tags" Target="../tags/tag6.xml"/><Relationship Id="rId9" Type="http://schemas.openxmlformats.org/officeDocument/2006/relationships/tags" Target="../tags/tag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7016"/>
            <a:ext cx="2743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D2102DF5-A3CE-4FA9-BC9F-CF3E71E8E268}" type="datetimeFigureOut">
              <a:rPr lang="zh-CN" altLang="en-US" smtClean="0"/>
              <a:t>2025/11/18</a:t>
            </a:fld>
            <a:endParaRPr lang="zh-CN" altLang="en-US"/>
          </a:p>
        </p:txBody>
      </p:sp>
      <p:sp>
        <p:nvSpPr>
          <p:cNvPr id="5" name="页脚占位符 4"/>
          <p:cNvSpPr>
            <a:spLocks noGrp="1"/>
          </p:cNvSpPr>
          <p:nvPr>
            <p:ph type="ftr" sz="quarter" idx="3"/>
          </p:nvPr>
        </p:nvSpPr>
        <p:spPr>
          <a:xfrm>
            <a:off x="4038600" y="6357016"/>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7016"/>
            <a:ext cx="2743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EFB58A13-8CE3-46E1-A336-9AFA325771FC}"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custDataLst>
              <p:tags r:id="rId3"/>
            </p:custDataLst>
          </p:nvPr>
        </p:nvPicPr>
        <p:blipFill rotWithShape="1">
          <a:blip r:embed="rId10">
            <a:alphaModFix amt="10000"/>
          </a:blip>
          <a:srcRect l="5232" t="8869" b="17919"/>
          <a:stretch>
            <a:fillRect/>
          </a:stretch>
        </p:blipFill>
        <p:spPr>
          <a:xfrm flipH="1">
            <a:off x="2969296" y="0"/>
            <a:ext cx="9222701" cy="6858000"/>
          </a:xfrm>
          <a:prstGeom prst="rect">
            <a:avLst/>
          </a:prstGeom>
        </p:spPr>
      </p:pic>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mn-ea"/>
                <a:ea typeface="+mn-ea"/>
                <a:cs typeface="微软雅黑" panose="020B0503020204020204" pitchFamily="34" charset="-122"/>
              </a:defRPr>
            </a:lvl1pPr>
          </a:lstStyle>
          <a:p>
            <a:fld id="{5592522B-0F24-4480-B9DD-A9474A6880D6}" type="datetimeFigureOut">
              <a:rPr lang="zh-CN" altLang="en-US" smtClean="0"/>
              <a:t>2025/11/18</a:t>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ea typeface="+mn-ea"/>
                <a:cs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mn-ea"/>
                <a:ea typeface="+mn-ea"/>
                <a:cs typeface="微软雅黑" panose="020B0503020204020204" pitchFamily="34" charset="-122"/>
              </a:defRPr>
            </a:lvl1pPr>
          </a:lstStyle>
          <a:p>
            <a:fld id="{BE5F26B5-172A-4DC2-B0B7-181CFC56B87C}" type="slidenum">
              <a:rPr lang="zh-CN" altLang="en-US" smtClean="0"/>
              <a:t>‹#›</a:t>
            </a:fld>
            <a:endParaRPr lang="zh-CN" altLang="en-US"/>
          </a:p>
        </p:txBody>
      </p:sp>
      <p:sp>
        <p:nvSpPr>
          <p:cNvPr id="9"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100000"/>
        </a:lnSpc>
        <a:spcBef>
          <a:spcPct val="0"/>
        </a:spcBef>
        <a:buNone/>
        <a:defRPr sz="3200" b="1" kern="1200">
          <a:solidFill>
            <a:schemeClr val="tx1">
              <a:lumMod val="75000"/>
              <a:lumOff val="25000"/>
            </a:schemeClr>
          </a:solidFill>
          <a:latin typeface="+mj-lt"/>
          <a:ea typeface="+mj-lt"/>
          <a:cs typeface="微软雅黑" panose="020B0503020204020204" pitchFamily="34"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lt"/>
          <a:cs typeface="微软雅黑" panose="020B0503020204020204" pitchFamily="34"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solidFill>
          <a:latin typeface="+mn-lt"/>
          <a:ea typeface="+mn-lt"/>
          <a:cs typeface="微软雅黑" panose="020B0503020204020204" pitchFamily="34"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solidFill>
          <a:latin typeface="+mn-lt"/>
          <a:ea typeface="+mn-lt"/>
          <a:cs typeface="微软雅黑" panose="020B0503020204020204" pitchFamily="34" charset="-122"/>
          <a:sym typeface="微软雅黑" panose="020B0503020204020204" pitchFamily="34"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solidFill>
          <a:latin typeface="+mn-lt"/>
          <a:ea typeface="+mn-lt"/>
          <a:cs typeface="微软雅黑" panose="020B0503020204020204" pitchFamily="34" charset="-122"/>
          <a:sym typeface="微软雅黑" panose="020B0503020204020204" pitchFamily="34"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solidFill>
          <a:latin typeface="+mn-lt"/>
          <a:ea typeface="+mn-lt"/>
          <a:cs typeface="微软雅黑" panose="020B0503020204020204" pitchFamily="34" charset="-122"/>
          <a:sym typeface="微软雅黑" panose="020B0503020204020204"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18" Type="http://schemas.openxmlformats.org/officeDocument/2006/relationships/notesSlide" Target="../notesSlides/notesSlide1.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slideLayout" Target="../slideLayouts/slideLayout2.xml"/><Relationship Id="rId2" Type="http://schemas.openxmlformats.org/officeDocument/2006/relationships/tags" Target="../tags/tag28.xml"/><Relationship Id="rId16" Type="http://schemas.openxmlformats.org/officeDocument/2006/relationships/tags" Target="../tags/tag42.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tags" Target="../tags/tag41.xml"/><Relationship Id="rId10" Type="http://schemas.openxmlformats.org/officeDocument/2006/relationships/tags" Target="../tags/tag36.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2"/>
            </p:custDataLst>
          </p:nvPr>
        </p:nvSpPr>
        <p:spPr>
          <a:xfrm>
            <a:off x="2185035" y="2505710"/>
            <a:ext cx="8946515" cy="1227455"/>
          </a:xfrm>
        </p:spPr>
        <p:txBody>
          <a:bodyPr>
            <a:normAutofit/>
          </a:bodyPr>
          <a:lstStyle/>
          <a:p>
            <a:r>
              <a:rPr lang="zh-CN" altLang="en-US" dirty="0">
                <a:solidFill>
                  <a:srgbClr val="004F8A"/>
                </a:solidFill>
                <a:latin typeface="微软雅黑" panose="020B0503020204020204" pitchFamily="34" charset="-122"/>
                <a:ea typeface="微软雅黑" panose="020B0503020204020204" pitchFamily="34" charset="-122"/>
                <a:sym typeface="+mn-ea"/>
              </a:rPr>
              <a:t>计算思维与人工智能基础</a:t>
            </a:r>
            <a:endParaRPr lang="zh-CN" altLang="en-US" dirty="0"/>
          </a:p>
        </p:txBody>
      </p:sp>
      <p:sp>
        <p:nvSpPr>
          <p:cNvPr id="8" name="年份"/>
          <p:cNvSpPr>
            <a:spLocks noGrp="1"/>
          </p:cNvSpPr>
          <p:nvPr>
            <p:ph type="body" sz="quarter" idx="15"/>
            <p:custDataLst>
              <p:tags r:id="rId3"/>
            </p:custDataLst>
          </p:nvPr>
        </p:nvSpPr>
        <p:spPr/>
        <p:txBody>
          <a:bodyPr/>
          <a:lstStyle/>
          <a:p>
            <a:r>
              <a:rPr lang="en-US" altLang="zh-CN"/>
              <a:t>2025</a:t>
            </a:r>
            <a:r>
              <a:rPr lang="zh-CN" altLang="en-US"/>
              <a:t>秋</a:t>
            </a:r>
          </a:p>
        </p:txBody>
      </p:sp>
      <p:grpSp>
        <p:nvGrpSpPr>
          <p:cNvPr id="3" name="组合 2"/>
          <p:cNvGrpSpPr/>
          <p:nvPr userDrawn="1"/>
        </p:nvGrpSpPr>
        <p:grpSpPr>
          <a:xfrm>
            <a:off x="8041640" y="285115"/>
            <a:ext cx="3783965" cy="838199"/>
            <a:chOff x="4566844" y="34931"/>
            <a:chExt cx="4755662" cy="1318966"/>
          </a:xfrm>
        </p:grpSpPr>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6844" y="34931"/>
              <a:ext cx="1314122" cy="1300981"/>
            </a:xfrm>
            <a:prstGeom prst="rect">
              <a:avLst/>
            </a:prstGeom>
          </p:spPr>
        </p:pic>
        <p:pic>
          <p:nvPicPr>
            <p:cNvPr id="9" name="图片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76890" y="221024"/>
              <a:ext cx="2522515" cy="494863"/>
            </a:xfrm>
            <a:prstGeom prst="rect">
              <a:avLst/>
            </a:prstGeom>
          </p:spPr>
        </p:pic>
        <p:cxnSp>
          <p:nvCxnSpPr>
            <p:cNvPr id="11" name="直线连接符 9"/>
            <p:cNvCxnSpPr/>
            <p:nvPr/>
          </p:nvCxnSpPr>
          <p:spPr>
            <a:xfrm>
              <a:off x="5921490" y="725690"/>
              <a:ext cx="2230016" cy="933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符 21"/>
            <p:cNvCxnSpPr/>
            <p:nvPr/>
          </p:nvCxnSpPr>
          <p:spPr>
            <a:xfrm>
              <a:off x="6459595" y="761984"/>
              <a:ext cx="2581663" cy="12671"/>
            </a:xfrm>
            <a:prstGeom prst="line">
              <a:avLst/>
            </a:prstGeom>
            <a:ln w="19050">
              <a:gradFill flip="none" rotWithShape="1">
                <a:gsLst>
                  <a:gs pos="4000">
                    <a:schemeClr val="tx1">
                      <a:lumMod val="65000"/>
                      <a:lumOff val="35000"/>
                    </a:schemeClr>
                  </a:gs>
                  <a:gs pos="49000">
                    <a:schemeClr val="accent6">
                      <a:lumMod val="75000"/>
                    </a:schemeClr>
                  </a:gs>
                  <a:gs pos="100000">
                    <a:schemeClr val="accent6">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7" name="直线连接符 26"/>
            <p:cNvCxnSpPr/>
            <p:nvPr/>
          </p:nvCxnSpPr>
          <p:spPr>
            <a:xfrm>
              <a:off x="6176530" y="795054"/>
              <a:ext cx="2230016" cy="9331"/>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5718450" y="823313"/>
              <a:ext cx="3604056" cy="5305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rPr>
                <a:t>Shanxi Agricultural University</a:t>
              </a:r>
            </a:p>
          </p:txBody>
        </p:sp>
      </p:grpSp>
      <p:sp>
        <p:nvSpPr>
          <p:cNvPr id="2" name="文本框 1" descr="7b0a2020202022776f7264617274223a2022220a7d0a"/>
          <p:cNvSpPr txBox="1"/>
          <p:nvPr/>
        </p:nvSpPr>
        <p:spPr>
          <a:xfrm>
            <a:off x="3451859" y="4397375"/>
            <a:ext cx="7539601" cy="675005"/>
          </a:xfrm>
          <a:prstGeom prst="rect">
            <a:avLst/>
          </a:prstGeom>
          <a:noFill/>
        </p:spPr>
        <p:txBody>
          <a:bodyPr wrap="square" rtlCol="0" anchor="t">
            <a:noAutofit/>
            <a:scene3d>
              <a:camera prst="orthographicFront"/>
              <a:lightRig rig="threePt" dir="t"/>
            </a:scene3d>
          </a:bodyPr>
          <a:lstStyle/>
          <a:p>
            <a:r>
              <a:rPr lang="zh-CN" sz="4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汉仪正圆-75W" panose="00020600040101010101" charset="-122"/>
                <a:ea typeface="汉仪正圆-75W" panose="00020600040101010101" charset="-122"/>
                <a:cs typeface="汉仪正圆-75W" panose="00020600040101010101" charset="-122"/>
                <a:sym typeface="+mn-ea"/>
              </a:rPr>
              <a:t>实验</a:t>
            </a:r>
            <a:r>
              <a:rPr lang="en-US" altLang="zh-CN" sz="4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汉仪正圆-75W" panose="00020600040101010101" charset="-122"/>
                <a:ea typeface="汉仪正圆-75W" panose="00020600040101010101" charset="-122"/>
                <a:cs typeface="汉仪正圆-75W" panose="00020600040101010101" charset="-122"/>
                <a:sym typeface="+mn-ea"/>
              </a:rPr>
              <a:t>6</a:t>
            </a:r>
            <a:r>
              <a:rPr lang="zh-CN" altLang="zh-CN" sz="4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汉仪正圆-75W" panose="00020600040101010101" charset="-122"/>
                <a:ea typeface="汉仪正圆-75W" panose="00020600040101010101" charset="-122"/>
                <a:cs typeface="汉仪正圆-75W" panose="00020600040101010101" charset="-122"/>
                <a:sym typeface="+mn-ea"/>
              </a:rPr>
              <a:t> </a:t>
            </a:r>
            <a:r>
              <a:rPr lang="zh-CN" altLang="en-US" sz="4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汉仪正圆-75W" panose="00020600040101010101" charset="-122"/>
                <a:ea typeface="汉仪正圆-75W" panose="00020600040101010101" charset="-122"/>
                <a:cs typeface="汉仪正圆-75W" panose="00020600040101010101" charset="-122"/>
                <a:sym typeface="+mn-ea"/>
              </a:rPr>
              <a:t>线性回归</a:t>
            </a:r>
            <a:endParaRPr lang="zh-CN" altLang="zh-CN" sz="4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汉仪正圆-75W" panose="00020600040101010101" charset="-122"/>
              <a:ea typeface="汉仪正圆-75W" panose="00020600040101010101" charset="-122"/>
              <a:cs typeface="汉仪正圆-75W" panose="00020600040101010101" charset="-122"/>
              <a:sym typeface="+mn-ea"/>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占位符 1"/>
          <p:cNvSpPr>
            <a:spLocks noGrp="1"/>
          </p:cNvSpPr>
          <p:nvPr>
            <p:ph type="body" sz="quarter" idx="13"/>
          </p:nvPr>
        </p:nvSpPr>
        <p:spPr/>
        <p:txBody>
          <a:bodyPr/>
          <a:lstStyle/>
          <a:p>
            <a:r>
              <a:rPr lang="zh-CN" dirty="0"/>
              <a:t>实验</a:t>
            </a:r>
            <a:r>
              <a:rPr lang="en-US" altLang="zh-CN" dirty="0"/>
              <a:t>6 </a:t>
            </a:r>
            <a:r>
              <a:rPr lang="zh-CN" altLang="en-US" dirty="0"/>
              <a:t>线性回归</a:t>
            </a:r>
          </a:p>
        </p:txBody>
      </p:sp>
      <p:sp>
        <p:nvSpPr>
          <p:cNvPr id="43" name="文本框 8"/>
          <p:cNvSpPr txBox="1"/>
          <p:nvPr>
            <p:custDataLst>
              <p:tags r:id="rId1"/>
            </p:custDataLst>
          </p:nvPr>
        </p:nvSpPr>
        <p:spPr>
          <a:xfrm>
            <a:off x="2146041" y="1797050"/>
            <a:ext cx="7460890" cy="521970"/>
          </a:xfrm>
          <a:prstGeom prst="rect">
            <a:avLst/>
          </a:prstGeom>
          <a:noFill/>
          <a:effectLst>
            <a:innerShdw blurRad="114300">
              <a:prstClr val="black"/>
            </a:innerShdw>
          </a:effectLst>
        </p:spPr>
        <p:txBody>
          <a:bodyPr wrap="square" rtlCol="0">
            <a:spAutoFit/>
          </a:bodyPr>
          <a:lstStyle/>
          <a:p>
            <a:r>
              <a:rPr lang="zh-CN" altLang="en-US" sz="2800" dirty="0">
                <a:solidFill>
                  <a:schemeClr val="tx2">
                    <a:lumMod val="95000"/>
                    <a:lumOff val="5000"/>
                  </a:schemeClr>
                </a:solidFill>
                <a:latin typeface="微软雅黑" panose="020B0503020204020204" pitchFamily="34" charset="-122"/>
                <a:ea typeface="微软雅黑" panose="020B0503020204020204" pitchFamily="34" charset="-122"/>
                <a:sym typeface="+mn-ea"/>
              </a:rPr>
              <a:t>回归介绍</a:t>
            </a:r>
            <a:endParaRPr lang="en-US" altLang="zh-CN" sz="2800" dirty="0">
              <a:solidFill>
                <a:schemeClr val="tx2">
                  <a:lumMod val="95000"/>
                  <a:lumOff val="5000"/>
                </a:schemeClr>
              </a:solidFill>
              <a:latin typeface="微软雅黑" panose="020B0503020204020204" pitchFamily="34" charset="-122"/>
              <a:ea typeface="微软雅黑" panose="020B0503020204020204" pitchFamily="34" charset="-122"/>
            </a:endParaRPr>
          </a:p>
        </p:txBody>
      </p:sp>
      <p:sp>
        <p:nvSpPr>
          <p:cNvPr id="44" name="椭圆 43"/>
          <p:cNvSpPr/>
          <p:nvPr>
            <p:custDataLst>
              <p:tags r:id="rId2"/>
            </p:custDataLst>
          </p:nvPr>
        </p:nvSpPr>
        <p:spPr>
          <a:xfrm>
            <a:off x="1333712" y="1790803"/>
            <a:ext cx="544071" cy="544071"/>
          </a:xfrm>
          <a:prstGeom prst="ellipse">
            <a:avLst/>
          </a:prstGeom>
          <a:solidFill>
            <a:srgbClr val="005D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Black" panose="020B0A04020102020204" pitchFamily="34" charset="0"/>
            </a:endParaRPr>
          </a:p>
        </p:txBody>
      </p:sp>
      <p:sp>
        <p:nvSpPr>
          <p:cNvPr id="45" name="矩形 44"/>
          <p:cNvSpPr/>
          <p:nvPr>
            <p:custDataLst>
              <p:tags r:id="rId3"/>
            </p:custDataLst>
          </p:nvPr>
        </p:nvSpPr>
        <p:spPr>
          <a:xfrm>
            <a:off x="1349595" y="1839458"/>
            <a:ext cx="512306" cy="429895"/>
          </a:xfrm>
          <a:prstGeom prst="rect">
            <a:avLst/>
          </a:prstGeom>
        </p:spPr>
        <p:txBody>
          <a:bodyPr wrap="square">
            <a:spAutoFit/>
          </a:bodyPr>
          <a:lstStyle/>
          <a:p>
            <a:pPr algn="ctr"/>
            <a:r>
              <a:rPr lang="en-US" altLang="zh-CN" sz="2200" dirty="0">
                <a:solidFill>
                  <a:schemeClr val="bg1"/>
                </a:solidFill>
                <a:latin typeface="Stencil" panose="040409050D0802020404" pitchFamily="82" charset="0"/>
              </a:rPr>
              <a:t>01</a:t>
            </a:r>
            <a:endParaRPr lang="zh-CN" altLang="en-US" sz="2200" dirty="0">
              <a:solidFill>
                <a:schemeClr val="bg1"/>
              </a:solidFill>
              <a:latin typeface="Stencil" panose="040409050D0802020404" pitchFamily="82" charset="0"/>
            </a:endParaRPr>
          </a:p>
        </p:txBody>
      </p:sp>
      <p:sp>
        <p:nvSpPr>
          <p:cNvPr id="46" name="文本框 8"/>
          <p:cNvSpPr txBox="1"/>
          <p:nvPr>
            <p:custDataLst>
              <p:tags r:id="rId4"/>
            </p:custDataLst>
          </p:nvPr>
        </p:nvSpPr>
        <p:spPr>
          <a:xfrm>
            <a:off x="2146041" y="3190885"/>
            <a:ext cx="7381860" cy="565604"/>
          </a:xfrm>
          <a:prstGeom prst="rect">
            <a:avLst/>
          </a:prstGeom>
          <a:noFill/>
          <a:effectLst>
            <a:innerShdw blurRad="114300">
              <a:prstClr val="black"/>
            </a:innerShdw>
          </a:effectLst>
        </p:spPr>
        <p:txBody>
          <a:bodyPr wrap="square" rtlCol="0">
            <a:spAutoFit/>
          </a:bodyPr>
          <a:lstStyle>
            <a:defPPr>
              <a:defRPr lang="zh-CN"/>
            </a:defPPr>
            <a:lvl1pPr>
              <a:defRPr sz="2800">
                <a:solidFill>
                  <a:schemeClr val="tx2">
                    <a:lumMod val="95000"/>
                    <a:lumOff val="5000"/>
                  </a:schemeClr>
                </a:solidFill>
                <a:latin typeface="微软雅黑" panose="020B0503020204020204" pitchFamily="34" charset="-122"/>
                <a:ea typeface="微软雅黑" panose="020B0503020204020204" pitchFamily="34" charset="-122"/>
              </a:defRPr>
            </a:lvl1pPr>
          </a:lstStyle>
          <a:p>
            <a:pPr indent="0" eaLnBrk="1" hangingPunct="1">
              <a:lnSpc>
                <a:spcPct val="120000"/>
              </a:lnSpc>
              <a:buFontTx/>
              <a:buNone/>
            </a:pPr>
            <a:r>
              <a:rPr lang="zh-CN" altLang="en-US" dirty="0"/>
              <a:t>实践</a:t>
            </a:r>
            <a:r>
              <a:rPr lang="en-US" altLang="zh-CN" dirty="0"/>
              <a:t>--</a:t>
            </a:r>
            <a:r>
              <a:rPr lang="zh-CN" altLang="en-US" dirty="0"/>
              <a:t>广告投放</a:t>
            </a:r>
            <a:endParaRPr lang="en-US" altLang="zh-CN" dirty="0"/>
          </a:p>
        </p:txBody>
      </p:sp>
      <p:sp>
        <p:nvSpPr>
          <p:cNvPr id="47" name="椭圆 46"/>
          <p:cNvSpPr/>
          <p:nvPr>
            <p:custDataLst>
              <p:tags r:id="rId5"/>
            </p:custDataLst>
          </p:nvPr>
        </p:nvSpPr>
        <p:spPr>
          <a:xfrm>
            <a:off x="1345191" y="2473007"/>
            <a:ext cx="544071" cy="544071"/>
          </a:xfrm>
          <a:prstGeom prst="ellipse">
            <a:avLst/>
          </a:prstGeom>
          <a:solidFill>
            <a:srgbClr val="005D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Black" panose="020B0A04020102020204" pitchFamily="34" charset="0"/>
            </a:endParaRPr>
          </a:p>
        </p:txBody>
      </p:sp>
      <p:sp>
        <p:nvSpPr>
          <p:cNvPr id="48" name="矩形 47"/>
          <p:cNvSpPr/>
          <p:nvPr>
            <p:custDataLst>
              <p:tags r:id="rId6"/>
            </p:custDataLst>
          </p:nvPr>
        </p:nvSpPr>
        <p:spPr>
          <a:xfrm>
            <a:off x="1361073" y="2522331"/>
            <a:ext cx="512306" cy="429895"/>
          </a:xfrm>
          <a:prstGeom prst="rect">
            <a:avLst/>
          </a:prstGeom>
        </p:spPr>
        <p:txBody>
          <a:bodyPr wrap="square">
            <a:spAutoFit/>
          </a:bodyPr>
          <a:lstStyle/>
          <a:p>
            <a:pPr algn="ctr"/>
            <a:r>
              <a:rPr lang="en-US" altLang="zh-CN" sz="2200" dirty="0">
                <a:solidFill>
                  <a:schemeClr val="bg1"/>
                </a:solidFill>
                <a:latin typeface="Stencil" panose="040409050D0802020404" pitchFamily="82" charset="0"/>
              </a:rPr>
              <a:t>02</a:t>
            </a:r>
            <a:endParaRPr lang="zh-CN" altLang="en-US" sz="2200" dirty="0">
              <a:solidFill>
                <a:schemeClr val="bg1"/>
              </a:solidFill>
              <a:latin typeface="Stencil" panose="040409050D0802020404" pitchFamily="82" charset="0"/>
            </a:endParaRPr>
          </a:p>
        </p:txBody>
      </p:sp>
      <p:sp>
        <p:nvSpPr>
          <p:cNvPr id="49" name="文本框 8"/>
          <p:cNvSpPr txBox="1"/>
          <p:nvPr>
            <p:custDataLst>
              <p:tags r:id="rId7"/>
            </p:custDataLst>
          </p:nvPr>
        </p:nvSpPr>
        <p:spPr>
          <a:xfrm>
            <a:off x="2099685" y="3945271"/>
            <a:ext cx="8924925" cy="521970"/>
          </a:xfrm>
          <a:prstGeom prst="rect">
            <a:avLst/>
          </a:prstGeom>
          <a:noFill/>
          <a:effectLst>
            <a:innerShdw blurRad="114300">
              <a:prstClr val="black"/>
            </a:innerShdw>
          </a:effectLst>
        </p:spPr>
        <p:txBody>
          <a:bodyPr wrap="square" rtlCol="0">
            <a:spAutoFit/>
          </a:bodyPr>
          <a:lstStyle>
            <a:defPPr>
              <a:defRPr lang="zh-CN"/>
            </a:defPPr>
            <a:lvl1pPr>
              <a:defRPr sz="2800">
                <a:solidFill>
                  <a:schemeClr val="tx2">
                    <a:lumMod val="95000"/>
                    <a:lumOff val="5000"/>
                  </a:schemeClr>
                </a:solidFill>
                <a:latin typeface="微软雅黑" panose="020B0503020204020204" pitchFamily="34" charset="-122"/>
                <a:ea typeface="微软雅黑" panose="020B0503020204020204" pitchFamily="34" charset="-122"/>
              </a:defRPr>
            </a:lvl1pPr>
          </a:lstStyle>
          <a:p>
            <a:pPr algn="l">
              <a:buClrTx/>
              <a:buSzTx/>
              <a:buFontTx/>
            </a:pPr>
            <a:r>
              <a:rPr lang="zh-CN" altLang="en-US" dirty="0"/>
              <a:t>多特征模型与数据预处理</a:t>
            </a:r>
          </a:p>
        </p:txBody>
      </p:sp>
      <p:sp>
        <p:nvSpPr>
          <p:cNvPr id="50" name="椭圆 49"/>
          <p:cNvSpPr/>
          <p:nvPr>
            <p:custDataLst>
              <p:tags r:id="rId8"/>
            </p:custDataLst>
          </p:nvPr>
        </p:nvSpPr>
        <p:spPr>
          <a:xfrm>
            <a:off x="1335284" y="3198516"/>
            <a:ext cx="544071" cy="544071"/>
          </a:xfrm>
          <a:prstGeom prst="ellipse">
            <a:avLst/>
          </a:prstGeom>
          <a:solidFill>
            <a:srgbClr val="005D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Black" panose="020B0A04020102020204" pitchFamily="34" charset="0"/>
            </a:endParaRPr>
          </a:p>
        </p:txBody>
      </p:sp>
      <p:sp>
        <p:nvSpPr>
          <p:cNvPr id="51" name="矩形 50"/>
          <p:cNvSpPr/>
          <p:nvPr>
            <p:custDataLst>
              <p:tags r:id="rId9"/>
            </p:custDataLst>
          </p:nvPr>
        </p:nvSpPr>
        <p:spPr>
          <a:xfrm>
            <a:off x="1351167" y="3247171"/>
            <a:ext cx="512306" cy="429895"/>
          </a:xfrm>
          <a:prstGeom prst="rect">
            <a:avLst/>
          </a:prstGeom>
        </p:spPr>
        <p:txBody>
          <a:bodyPr wrap="square">
            <a:spAutoFit/>
          </a:bodyPr>
          <a:lstStyle/>
          <a:p>
            <a:pPr algn="ctr"/>
            <a:r>
              <a:rPr lang="en-US" altLang="zh-CN" sz="2200" dirty="0">
                <a:solidFill>
                  <a:schemeClr val="bg1"/>
                </a:solidFill>
                <a:latin typeface="Stencil" panose="040409050D0802020404" pitchFamily="82" charset="0"/>
              </a:rPr>
              <a:t>03</a:t>
            </a:r>
            <a:endParaRPr lang="zh-CN" altLang="en-US" sz="2200" dirty="0">
              <a:solidFill>
                <a:schemeClr val="bg1"/>
              </a:solidFill>
              <a:latin typeface="Stencil" panose="040409050D0802020404" pitchFamily="82" charset="0"/>
            </a:endParaRPr>
          </a:p>
        </p:txBody>
      </p:sp>
      <p:sp>
        <p:nvSpPr>
          <p:cNvPr id="53" name="椭圆 52"/>
          <p:cNvSpPr/>
          <p:nvPr>
            <p:custDataLst>
              <p:tags r:id="rId10"/>
            </p:custDataLst>
          </p:nvPr>
        </p:nvSpPr>
        <p:spPr>
          <a:xfrm>
            <a:off x="1345191" y="3901791"/>
            <a:ext cx="544071" cy="544071"/>
          </a:xfrm>
          <a:prstGeom prst="ellipse">
            <a:avLst/>
          </a:prstGeom>
          <a:solidFill>
            <a:srgbClr val="005D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Black" panose="020B0A04020102020204" pitchFamily="34" charset="0"/>
            </a:endParaRPr>
          </a:p>
        </p:txBody>
      </p:sp>
      <p:sp>
        <p:nvSpPr>
          <p:cNvPr id="54" name="矩形 53"/>
          <p:cNvSpPr/>
          <p:nvPr>
            <p:custDataLst>
              <p:tags r:id="rId11"/>
            </p:custDataLst>
          </p:nvPr>
        </p:nvSpPr>
        <p:spPr>
          <a:xfrm>
            <a:off x="1361073" y="3950452"/>
            <a:ext cx="512306" cy="429895"/>
          </a:xfrm>
          <a:prstGeom prst="rect">
            <a:avLst/>
          </a:prstGeom>
        </p:spPr>
        <p:txBody>
          <a:bodyPr wrap="square">
            <a:spAutoFit/>
          </a:bodyPr>
          <a:lstStyle/>
          <a:p>
            <a:pPr algn="ctr"/>
            <a:r>
              <a:rPr lang="en-US" altLang="zh-CN" sz="2200" dirty="0">
                <a:solidFill>
                  <a:schemeClr val="bg1"/>
                </a:solidFill>
                <a:latin typeface="Stencil" panose="040409050D0802020404" pitchFamily="82" charset="0"/>
              </a:rPr>
              <a:t>04</a:t>
            </a:r>
            <a:endParaRPr lang="zh-CN" altLang="en-US" sz="2200" dirty="0">
              <a:solidFill>
                <a:schemeClr val="bg1"/>
              </a:solidFill>
              <a:latin typeface="Stencil" panose="040409050D0802020404" pitchFamily="82" charset="0"/>
            </a:endParaRPr>
          </a:p>
        </p:txBody>
      </p:sp>
      <p:sp>
        <p:nvSpPr>
          <p:cNvPr id="56" name="文本框 38"/>
          <p:cNvSpPr txBox="1">
            <a:spLocks noChangeArrowheads="1"/>
          </p:cNvSpPr>
          <p:nvPr/>
        </p:nvSpPr>
        <p:spPr bwMode="auto">
          <a:xfrm>
            <a:off x="974522" y="895636"/>
            <a:ext cx="20226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b="1" dirty="0">
                <a:solidFill>
                  <a:schemeClr val="accent1">
                    <a:lumMod val="50000"/>
                  </a:schemeClr>
                </a:solidFill>
                <a:latin typeface="Times New Roman" panose="02020603050405020304" pitchFamily="18" charset="0"/>
                <a:ea typeface="华文细黑" panose="02010600040101010101" pitchFamily="2" charset="-122"/>
              </a:rPr>
              <a:t>本讲提纲</a:t>
            </a:r>
            <a:endParaRPr lang="en-US" altLang="zh-CN" b="1" dirty="0">
              <a:solidFill>
                <a:schemeClr val="accent1">
                  <a:lumMod val="50000"/>
                </a:schemeClr>
              </a:solidFill>
              <a:latin typeface="Times New Roman" panose="02020603050405020304" pitchFamily="18" charset="0"/>
              <a:ea typeface="华文细黑" panose="02010600040101010101" pitchFamily="2" charset="-122"/>
            </a:endParaRPr>
          </a:p>
        </p:txBody>
      </p:sp>
      <p:sp>
        <p:nvSpPr>
          <p:cNvPr id="3" name="矩形 2"/>
          <p:cNvSpPr/>
          <p:nvPr>
            <p:custDataLst>
              <p:tags r:id="rId12"/>
            </p:custDataLst>
          </p:nvPr>
        </p:nvSpPr>
        <p:spPr>
          <a:xfrm>
            <a:off x="1309638" y="5234422"/>
            <a:ext cx="512306" cy="429895"/>
          </a:xfrm>
          <a:prstGeom prst="rect">
            <a:avLst/>
          </a:prstGeom>
        </p:spPr>
        <p:txBody>
          <a:bodyPr wrap="square">
            <a:spAutoFit/>
          </a:bodyPr>
          <a:lstStyle/>
          <a:p>
            <a:pPr algn="ctr"/>
            <a:r>
              <a:rPr lang="en-US" altLang="zh-CN" sz="2200" dirty="0">
                <a:solidFill>
                  <a:schemeClr val="bg1"/>
                </a:solidFill>
                <a:latin typeface="Stencil" panose="040409050D0802020404" pitchFamily="82" charset="0"/>
              </a:rPr>
              <a:t>04</a:t>
            </a:r>
            <a:endParaRPr lang="zh-CN" altLang="en-US" sz="2200" dirty="0">
              <a:solidFill>
                <a:schemeClr val="bg1"/>
              </a:solidFill>
              <a:latin typeface="Stencil" panose="040409050D0802020404" pitchFamily="82" charset="0"/>
            </a:endParaRPr>
          </a:p>
        </p:txBody>
      </p:sp>
      <p:sp>
        <p:nvSpPr>
          <p:cNvPr id="9" name="文本框 8"/>
          <p:cNvSpPr txBox="1"/>
          <p:nvPr>
            <p:custDataLst>
              <p:tags r:id="rId13"/>
            </p:custDataLst>
          </p:nvPr>
        </p:nvSpPr>
        <p:spPr>
          <a:xfrm>
            <a:off x="2146041" y="4773901"/>
            <a:ext cx="8832215" cy="521970"/>
          </a:xfrm>
          <a:prstGeom prst="rect">
            <a:avLst/>
          </a:prstGeom>
          <a:noFill/>
          <a:effectLst>
            <a:innerShdw blurRad="114300">
              <a:prstClr val="black"/>
            </a:innerShdw>
          </a:effectLst>
        </p:spPr>
        <p:txBody>
          <a:bodyPr wrap="square" rtlCol="0">
            <a:spAutoFit/>
          </a:bodyPr>
          <a:lstStyle>
            <a:defPPr>
              <a:defRPr lang="zh-CN"/>
            </a:defPPr>
            <a:lvl1pPr>
              <a:defRPr sz="2800">
                <a:solidFill>
                  <a:schemeClr val="tx2">
                    <a:lumMod val="95000"/>
                    <a:lumOff val="5000"/>
                  </a:schemeClr>
                </a:solidFill>
                <a:latin typeface="微软雅黑" panose="020B0503020204020204" pitchFamily="34" charset="-122"/>
                <a:ea typeface="微软雅黑" panose="020B0503020204020204" pitchFamily="34" charset="-122"/>
              </a:defRPr>
            </a:lvl1pPr>
          </a:lstStyle>
          <a:p>
            <a:r>
              <a:rPr lang="zh-CN" altLang="en-US" dirty="0"/>
              <a:t>任务发布与解析</a:t>
            </a:r>
            <a:endParaRPr lang="zh-CN" altLang="en-US" sz="2000" dirty="0"/>
          </a:p>
        </p:txBody>
      </p:sp>
      <p:sp>
        <p:nvSpPr>
          <p:cNvPr id="2" name="矩形 1"/>
          <p:cNvSpPr/>
          <p:nvPr>
            <p:custDataLst>
              <p:tags r:id="rId14"/>
            </p:custDataLst>
          </p:nvPr>
        </p:nvSpPr>
        <p:spPr>
          <a:xfrm>
            <a:off x="1374408" y="4614662"/>
            <a:ext cx="512306" cy="429895"/>
          </a:xfrm>
          <a:prstGeom prst="rect">
            <a:avLst/>
          </a:prstGeom>
        </p:spPr>
        <p:txBody>
          <a:bodyPr wrap="square">
            <a:spAutoFit/>
          </a:bodyPr>
          <a:lstStyle/>
          <a:p>
            <a:pPr algn="ctr"/>
            <a:r>
              <a:rPr lang="en-US" altLang="zh-CN" sz="2200" dirty="0">
                <a:solidFill>
                  <a:schemeClr val="bg1"/>
                </a:solidFill>
                <a:latin typeface="Stencil" panose="040409050D0802020404" pitchFamily="82" charset="0"/>
              </a:rPr>
              <a:t>04</a:t>
            </a:r>
            <a:endParaRPr lang="zh-CN" altLang="en-US" sz="2200" dirty="0">
              <a:solidFill>
                <a:schemeClr val="bg1"/>
              </a:solidFill>
              <a:latin typeface="Stencil" panose="040409050D0802020404" pitchFamily="82" charset="0"/>
            </a:endParaRPr>
          </a:p>
        </p:txBody>
      </p:sp>
      <p:sp>
        <p:nvSpPr>
          <p:cNvPr id="10" name="椭圆 9"/>
          <p:cNvSpPr/>
          <p:nvPr>
            <p:custDataLst>
              <p:tags r:id="rId15"/>
            </p:custDataLst>
          </p:nvPr>
        </p:nvSpPr>
        <p:spPr>
          <a:xfrm>
            <a:off x="1353446" y="4762851"/>
            <a:ext cx="544071" cy="544071"/>
          </a:xfrm>
          <a:prstGeom prst="ellipse">
            <a:avLst/>
          </a:prstGeom>
          <a:solidFill>
            <a:srgbClr val="005D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Black" panose="020B0A04020102020204" pitchFamily="34" charset="0"/>
            </a:endParaRPr>
          </a:p>
        </p:txBody>
      </p:sp>
      <p:sp>
        <p:nvSpPr>
          <p:cNvPr id="11" name="矩形 10"/>
          <p:cNvSpPr/>
          <p:nvPr>
            <p:custDataLst>
              <p:tags r:id="rId16"/>
            </p:custDataLst>
          </p:nvPr>
        </p:nvSpPr>
        <p:spPr>
          <a:xfrm>
            <a:off x="1369328" y="4811512"/>
            <a:ext cx="512306" cy="429895"/>
          </a:xfrm>
          <a:prstGeom prst="rect">
            <a:avLst/>
          </a:prstGeom>
        </p:spPr>
        <p:txBody>
          <a:bodyPr wrap="square">
            <a:spAutoFit/>
          </a:bodyPr>
          <a:lstStyle/>
          <a:p>
            <a:pPr algn="ctr"/>
            <a:r>
              <a:rPr lang="en-US" altLang="zh-CN" sz="2200" dirty="0">
                <a:solidFill>
                  <a:schemeClr val="bg1"/>
                </a:solidFill>
                <a:latin typeface="Stencil" panose="040409050D0802020404" pitchFamily="82" charset="0"/>
              </a:rPr>
              <a:t>05</a:t>
            </a:r>
            <a:endParaRPr lang="zh-CN" altLang="en-US" sz="2200" dirty="0">
              <a:solidFill>
                <a:schemeClr val="bg1"/>
              </a:solidFill>
              <a:latin typeface="Stencil" panose="040409050D0802020404" pitchFamily="82" charset="0"/>
            </a:endParaRPr>
          </a:p>
        </p:txBody>
      </p:sp>
      <p:sp>
        <p:nvSpPr>
          <p:cNvPr id="12" name="文本框 11"/>
          <p:cNvSpPr txBox="1"/>
          <p:nvPr/>
        </p:nvSpPr>
        <p:spPr>
          <a:xfrm>
            <a:off x="2146041" y="2484057"/>
            <a:ext cx="6096000" cy="523220"/>
          </a:xfrm>
          <a:prstGeom prst="rect">
            <a:avLst/>
          </a:prstGeom>
          <a:noFill/>
        </p:spPr>
        <p:txBody>
          <a:bodyPr wrap="square" rtlCol="0" anchor="t">
            <a:spAutoFit/>
          </a:bodyPr>
          <a:lstStyle/>
          <a:p>
            <a:pPr algn="l">
              <a:buClrTx/>
              <a:buSzTx/>
              <a:buFontTx/>
            </a:pPr>
            <a:r>
              <a:rPr lang="zh-CN" altLang="en-US" sz="2800" dirty="0">
                <a:solidFill>
                  <a:schemeClr val="tx2">
                    <a:lumMod val="95000"/>
                    <a:lumOff val="5000"/>
                  </a:schemeClr>
                </a:solidFill>
                <a:latin typeface="微软雅黑" panose="020B0503020204020204" pitchFamily="34" charset="-122"/>
                <a:ea typeface="微软雅黑" panose="020B0503020204020204" pitchFamily="34" charset="-122"/>
                <a:sym typeface="+mn-ea"/>
              </a:rPr>
              <a:t>损失函数与模型评价标准</a:t>
            </a:r>
            <a:endParaRPr lang="en-US" altLang="zh-CN" sz="2800" dirty="0">
              <a:solidFill>
                <a:schemeClr val="tx2">
                  <a:lumMod val="95000"/>
                  <a:lumOff val="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416538" y="215130"/>
            <a:ext cx="3110437" cy="417513"/>
          </a:xfrm>
        </p:spPr>
        <p:txBody>
          <a:bodyPr/>
          <a:lstStyle/>
          <a:p>
            <a:r>
              <a:rPr lang="zh-CN" altLang="en-US" sz="2400" b="1" dirty="0">
                <a:solidFill>
                  <a:srgbClr val="FF0000"/>
                </a:solidFill>
              </a:rPr>
              <a:t>回归介绍</a:t>
            </a:r>
          </a:p>
        </p:txBody>
      </p:sp>
      <p:sp>
        <p:nvSpPr>
          <p:cNvPr id="6" name="Rectangle 3"/>
          <p:cNvSpPr txBox="1">
            <a:spLocks noChangeArrowheads="1"/>
          </p:cNvSpPr>
          <p:nvPr/>
        </p:nvSpPr>
        <p:spPr>
          <a:xfrm>
            <a:off x="1297690" y="1161120"/>
            <a:ext cx="10208119" cy="65297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solidFill>
                  <a:srgbClr val="FF0000"/>
                </a:solidFill>
                <a:latin typeface="+mj-ea"/>
                <a:ea typeface="+mj-ea"/>
              </a:rPr>
              <a:t>上节回顾</a:t>
            </a:r>
          </a:p>
        </p:txBody>
      </p:sp>
      <p:sp>
        <p:nvSpPr>
          <p:cNvPr id="7" name="Rectangle 3"/>
          <p:cNvSpPr txBox="1">
            <a:spLocks noChangeArrowheads="1"/>
          </p:cNvSpPr>
          <p:nvPr/>
        </p:nvSpPr>
        <p:spPr>
          <a:xfrm>
            <a:off x="714216" y="1978571"/>
            <a:ext cx="5381784" cy="364006"/>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b="1" dirty="0"/>
              <a:t>分类</a:t>
            </a:r>
            <a:r>
              <a:rPr lang="zh-CN" altLang="en-US" sz="1800" dirty="0"/>
              <a:t>：</a:t>
            </a:r>
            <a:r>
              <a:rPr lang="en-US" altLang="zh-CN" sz="1800" dirty="0"/>
              <a:t>KNN → </a:t>
            </a:r>
            <a:r>
              <a:rPr lang="zh-CN" altLang="en-US" sz="1800" dirty="0"/>
              <a:t>给数据“贴标签”（如鸢尾花种类）</a:t>
            </a:r>
          </a:p>
        </p:txBody>
      </p:sp>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p:pic>
        <p:nvPicPr>
          <p:cNvPr id="3" name="图片 2" descr="IMG_256">
            <a:extLst>
              <a:ext uri="{FF2B5EF4-FFF2-40B4-BE49-F238E27FC236}">
                <a16:creationId xmlns:a16="http://schemas.microsoft.com/office/drawing/2014/main" id="{AFB4140E-B944-0195-0BED-E4D0C7F1CEF6}"/>
              </a:ext>
            </a:extLst>
          </p:cNvPr>
          <p:cNvPicPr>
            <a:picLocks noChangeAspect="1"/>
          </p:cNvPicPr>
          <p:nvPr/>
        </p:nvPicPr>
        <p:blipFill>
          <a:blip r:embed="rId4"/>
          <a:stretch>
            <a:fillRect/>
          </a:stretch>
        </p:blipFill>
        <p:spPr>
          <a:xfrm>
            <a:off x="1330370" y="2507049"/>
            <a:ext cx="3942826" cy="2944993"/>
          </a:xfrm>
          <a:prstGeom prst="rect">
            <a:avLst/>
          </a:prstGeom>
          <a:noFill/>
          <a:ln w="9525">
            <a:noFill/>
          </a:ln>
        </p:spPr>
      </p:pic>
      <p:sp>
        <p:nvSpPr>
          <p:cNvPr id="4" name="文本框 3">
            <a:extLst>
              <a:ext uri="{FF2B5EF4-FFF2-40B4-BE49-F238E27FC236}">
                <a16:creationId xmlns:a16="http://schemas.microsoft.com/office/drawing/2014/main" id="{1656B322-9738-3C45-EE6E-CC35782DD61E}"/>
              </a:ext>
            </a:extLst>
          </p:cNvPr>
          <p:cNvSpPr txBox="1"/>
          <p:nvPr/>
        </p:nvSpPr>
        <p:spPr>
          <a:xfrm>
            <a:off x="6118010" y="1923375"/>
            <a:ext cx="5856090" cy="646331"/>
          </a:xfrm>
          <a:prstGeom prst="rect">
            <a:avLst/>
          </a:prstGeom>
          <a:noFill/>
        </p:spPr>
        <p:txBody>
          <a:bodyPr wrap="none" rtlCol="0">
            <a:spAutoFit/>
          </a:bodyPr>
          <a:lstStyle/>
          <a:p>
            <a:r>
              <a:rPr lang="zh-CN" altLang="en-US" b="1" dirty="0"/>
              <a:t>聚类</a:t>
            </a:r>
            <a:r>
              <a:rPr lang="zh-CN" altLang="en-US" dirty="0"/>
              <a:t>：</a:t>
            </a:r>
            <a:r>
              <a:rPr lang="en-US" altLang="zh-CN" dirty="0"/>
              <a:t>K-Means → </a:t>
            </a:r>
            <a:r>
              <a:rPr lang="zh-CN" altLang="en-US" dirty="0"/>
              <a:t>给数据“分堆”（如</a:t>
            </a:r>
            <a:r>
              <a:rPr lang="zh-CN" altLang="zh-CN" dirty="0"/>
              <a:t>给葡萄酒归堆</a:t>
            </a:r>
            <a:r>
              <a:rPr lang="zh-CN" altLang="en-US" dirty="0"/>
              <a:t>）</a:t>
            </a:r>
          </a:p>
          <a:p>
            <a:endParaRPr lang="zh-CN" altLang="en-US" dirty="0"/>
          </a:p>
        </p:txBody>
      </p:sp>
      <p:pic>
        <p:nvPicPr>
          <p:cNvPr id="9" name="图片 8">
            <a:extLst>
              <a:ext uri="{FF2B5EF4-FFF2-40B4-BE49-F238E27FC236}">
                <a16:creationId xmlns:a16="http://schemas.microsoft.com/office/drawing/2014/main" id="{EEA82690-032C-4524-76EF-555A60231973}"/>
              </a:ext>
            </a:extLst>
          </p:cNvPr>
          <p:cNvPicPr>
            <a:picLocks noChangeAspect="1"/>
          </p:cNvPicPr>
          <p:nvPr/>
        </p:nvPicPr>
        <p:blipFill>
          <a:blip r:embed="rId5"/>
          <a:stretch>
            <a:fillRect/>
          </a:stretch>
        </p:blipFill>
        <p:spPr>
          <a:xfrm>
            <a:off x="6401749" y="2559272"/>
            <a:ext cx="5288612" cy="33689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EB71E-1730-52D2-883D-4C33DAB77E1B}"/>
            </a:ext>
          </a:extLst>
        </p:cNvPr>
        <p:cNvGrpSpPr/>
        <p:nvPr/>
      </p:nvGrpSpPr>
      <p:grpSpPr>
        <a:xfrm>
          <a:off x="0" y="0"/>
          <a:ext cx="0" cy="0"/>
          <a:chOff x="0" y="0"/>
          <a:chExt cx="0" cy="0"/>
        </a:xfrm>
      </p:grpSpPr>
      <p:sp>
        <p:nvSpPr>
          <p:cNvPr id="5" name="文本占位符 1">
            <a:extLst>
              <a:ext uri="{FF2B5EF4-FFF2-40B4-BE49-F238E27FC236}">
                <a16:creationId xmlns:a16="http://schemas.microsoft.com/office/drawing/2014/main" id="{2C3509AD-A231-F4F2-00A4-6593248613B3}"/>
              </a:ext>
            </a:extLst>
          </p:cNvPr>
          <p:cNvSpPr>
            <a:spLocks noGrp="1"/>
          </p:cNvSpPr>
          <p:nvPr>
            <p:ph type="body" sz="quarter" idx="13"/>
          </p:nvPr>
        </p:nvSpPr>
        <p:spPr>
          <a:xfrm>
            <a:off x="416538" y="215130"/>
            <a:ext cx="3110437" cy="417513"/>
          </a:xfrm>
        </p:spPr>
        <p:txBody>
          <a:bodyPr/>
          <a:lstStyle/>
          <a:p>
            <a:r>
              <a:rPr lang="zh-CN" altLang="en-US" sz="2400" b="1" dirty="0">
                <a:solidFill>
                  <a:srgbClr val="FF0000"/>
                </a:solidFill>
              </a:rPr>
              <a:t>回归介绍</a:t>
            </a:r>
          </a:p>
        </p:txBody>
      </p:sp>
      <p:sp>
        <p:nvSpPr>
          <p:cNvPr id="6" name="Rectangle 3">
            <a:extLst>
              <a:ext uri="{FF2B5EF4-FFF2-40B4-BE49-F238E27FC236}">
                <a16:creationId xmlns:a16="http://schemas.microsoft.com/office/drawing/2014/main" id="{B8363A5B-561D-ECFC-9D11-137636BDAAC3}"/>
              </a:ext>
            </a:extLst>
          </p:cNvPr>
          <p:cNvSpPr txBox="1">
            <a:spLocks noChangeArrowheads="1"/>
          </p:cNvSpPr>
          <p:nvPr/>
        </p:nvSpPr>
        <p:spPr>
          <a:xfrm>
            <a:off x="1297690" y="1169829"/>
            <a:ext cx="10208119" cy="65297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solidFill>
                  <a:srgbClr val="FF0000"/>
                </a:solidFill>
                <a:latin typeface="+mj-ea"/>
                <a:ea typeface="+mj-ea"/>
              </a:rPr>
              <a:t>提出问题</a:t>
            </a:r>
          </a:p>
        </p:txBody>
      </p:sp>
      <p:sp>
        <p:nvSpPr>
          <p:cNvPr id="7" name="Rectangle 3">
            <a:extLst>
              <a:ext uri="{FF2B5EF4-FFF2-40B4-BE49-F238E27FC236}">
                <a16:creationId xmlns:a16="http://schemas.microsoft.com/office/drawing/2014/main" id="{9CF6EA31-D016-E58C-93F6-02CE9433FDAA}"/>
              </a:ext>
            </a:extLst>
          </p:cNvPr>
          <p:cNvSpPr txBox="1">
            <a:spLocks noChangeArrowheads="1"/>
          </p:cNvSpPr>
          <p:nvPr/>
        </p:nvSpPr>
        <p:spPr>
          <a:xfrm>
            <a:off x="1297690" y="1921063"/>
            <a:ext cx="9554361" cy="1774824"/>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eaLnBrk="1" hangingPunct="1">
              <a:lnSpc>
                <a:spcPct val="150000"/>
              </a:lnSpc>
              <a:buFontTx/>
              <a:buNone/>
            </a:pPr>
            <a:r>
              <a:rPr lang="zh-CN" altLang="en-US" sz="1800" dirty="0">
                <a:latin typeface="+mn-ea"/>
              </a:rPr>
              <a:t>    如果想通过已知数据条件在预测未来的发展，比如根据一片土地的日照时长和施肥量，能预测出这片地产出的玉米具体是多少公斤，或者根据一个人的工资和年龄，能预测出银行大概会贷给他具体是多少钱。这类问题无法通过“贴标签”或“归类”得到结论，那么该怎么办？</a:t>
            </a:r>
            <a:endParaRPr lang="en-US" altLang="zh-CN" sz="1800" dirty="0">
              <a:latin typeface="+mn-ea"/>
            </a:endParaRPr>
          </a:p>
        </p:txBody>
      </p:sp>
      <p:pic>
        <p:nvPicPr>
          <p:cNvPr id="2" name="图片 1">
            <a:extLst>
              <a:ext uri="{FF2B5EF4-FFF2-40B4-BE49-F238E27FC236}">
                <a16:creationId xmlns:a16="http://schemas.microsoft.com/office/drawing/2014/main" id="{9C567F20-E200-752A-299A-85D09C64506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p:grpSp>
        <p:nvGrpSpPr>
          <p:cNvPr id="21" name="组合 20">
            <a:extLst>
              <a:ext uri="{FF2B5EF4-FFF2-40B4-BE49-F238E27FC236}">
                <a16:creationId xmlns:a16="http://schemas.microsoft.com/office/drawing/2014/main" id="{39017955-E63E-D977-C78D-405D56A30FFF}"/>
              </a:ext>
            </a:extLst>
          </p:cNvPr>
          <p:cNvGrpSpPr/>
          <p:nvPr/>
        </p:nvGrpSpPr>
        <p:grpSpPr>
          <a:xfrm>
            <a:off x="1119360" y="3794142"/>
            <a:ext cx="3949032" cy="1477327"/>
            <a:chOff x="1119360" y="3794142"/>
            <a:chExt cx="3949032" cy="1477327"/>
          </a:xfrm>
        </p:grpSpPr>
        <p:sp>
          <p:nvSpPr>
            <p:cNvPr id="4" name="文本框 3">
              <a:extLst>
                <a:ext uri="{FF2B5EF4-FFF2-40B4-BE49-F238E27FC236}">
                  <a16:creationId xmlns:a16="http://schemas.microsoft.com/office/drawing/2014/main" id="{301936EA-EDE1-FA7C-3E6B-B2502B4DE5B6}"/>
                </a:ext>
              </a:extLst>
            </p:cNvPr>
            <p:cNvSpPr txBox="1"/>
            <p:nvPr/>
          </p:nvSpPr>
          <p:spPr>
            <a:xfrm>
              <a:off x="1330370" y="3794142"/>
              <a:ext cx="870857" cy="769441"/>
            </a:xfrm>
            <a:prstGeom prst="rect">
              <a:avLst/>
            </a:prstGeom>
            <a:noFill/>
          </p:spPr>
          <p:txBody>
            <a:bodyPr wrap="square">
              <a:spAutoFit/>
            </a:bodyPr>
            <a:lstStyle/>
            <a:p>
              <a:r>
                <a:rPr lang="zh-CN" altLang="en-US" sz="4400" b="0" i="0" dirty="0">
                  <a:solidFill>
                    <a:srgbClr val="111133"/>
                  </a:solidFill>
                  <a:effectLst/>
                  <a:latin typeface="-apple-system"/>
                </a:rPr>
                <a:t>☀️</a:t>
              </a:r>
              <a:endParaRPr lang="zh-CN" altLang="en-US" sz="4400" dirty="0"/>
            </a:p>
          </p:txBody>
        </p:sp>
        <p:sp>
          <p:nvSpPr>
            <p:cNvPr id="9" name="文本框 8">
              <a:extLst>
                <a:ext uri="{FF2B5EF4-FFF2-40B4-BE49-F238E27FC236}">
                  <a16:creationId xmlns:a16="http://schemas.microsoft.com/office/drawing/2014/main" id="{EA8F5A2A-B81B-C285-E14C-909D7B10DD9D}"/>
                </a:ext>
              </a:extLst>
            </p:cNvPr>
            <p:cNvSpPr txBox="1"/>
            <p:nvPr/>
          </p:nvSpPr>
          <p:spPr>
            <a:xfrm>
              <a:off x="1297690" y="4563583"/>
              <a:ext cx="870857" cy="707886"/>
            </a:xfrm>
            <a:prstGeom prst="rect">
              <a:avLst/>
            </a:prstGeom>
            <a:noFill/>
          </p:spPr>
          <p:txBody>
            <a:bodyPr wrap="square">
              <a:spAutoFit/>
            </a:bodyPr>
            <a:lstStyle/>
            <a:p>
              <a:r>
                <a:rPr lang="zh-CN" altLang="en-US" sz="4000" b="0" i="0" dirty="0">
                  <a:solidFill>
                    <a:srgbClr val="111133"/>
                  </a:solidFill>
                  <a:effectLst/>
                  <a:latin typeface="-apple-system"/>
                </a:rPr>
                <a:t>🧪</a:t>
              </a:r>
              <a:endParaRPr lang="zh-CN" altLang="en-US" sz="4000" dirty="0"/>
            </a:p>
          </p:txBody>
        </p:sp>
        <p:sp>
          <p:nvSpPr>
            <p:cNvPr id="10" name="文本框 9">
              <a:extLst>
                <a:ext uri="{FF2B5EF4-FFF2-40B4-BE49-F238E27FC236}">
                  <a16:creationId xmlns:a16="http://schemas.microsoft.com/office/drawing/2014/main" id="{5E0B8D0D-E434-29B5-CC0C-A05173D1A783}"/>
                </a:ext>
              </a:extLst>
            </p:cNvPr>
            <p:cNvSpPr txBox="1"/>
            <p:nvPr/>
          </p:nvSpPr>
          <p:spPr>
            <a:xfrm>
              <a:off x="1119360" y="4378917"/>
              <a:ext cx="325730" cy="369332"/>
            </a:xfrm>
            <a:prstGeom prst="rect">
              <a:avLst/>
            </a:prstGeom>
            <a:noFill/>
          </p:spPr>
          <p:txBody>
            <a:bodyPr wrap="none" rtlCol="0">
              <a:spAutoFit/>
            </a:bodyPr>
            <a:lstStyle/>
            <a:p>
              <a:r>
                <a:rPr lang="en-US" altLang="zh-CN" dirty="0"/>
                <a:t>f(</a:t>
              </a:r>
              <a:endParaRPr lang="zh-CN" altLang="en-US" dirty="0"/>
            </a:p>
          </p:txBody>
        </p:sp>
        <p:sp>
          <p:nvSpPr>
            <p:cNvPr id="11" name="文本框 10">
              <a:extLst>
                <a:ext uri="{FF2B5EF4-FFF2-40B4-BE49-F238E27FC236}">
                  <a16:creationId xmlns:a16="http://schemas.microsoft.com/office/drawing/2014/main" id="{5F46F74F-C553-24CC-AD2E-8D7D5C0786DC}"/>
                </a:ext>
              </a:extLst>
            </p:cNvPr>
            <p:cNvSpPr txBox="1"/>
            <p:nvPr/>
          </p:nvSpPr>
          <p:spPr>
            <a:xfrm>
              <a:off x="2145687" y="4378917"/>
              <a:ext cx="45719" cy="369332"/>
            </a:xfrm>
            <a:prstGeom prst="rect">
              <a:avLst/>
            </a:prstGeom>
            <a:noFill/>
          </p:spPr>
          <p:txBody>
            <a:bodyPr wrap="square" rtlCol="0">
              <a:spAutoFit/>
            </a:bodyPr>
            <a:lstStyle/>
            <a:p>
              <a:r>
                <a:rPr lang="en-US" altLang="zh-CN" dirty="0"/>
                <a:t>)</a:t>
              </a:r>
              <a:endParaRPr lang="zh-CN" altLang="en-US" dirty="0"/>
            </a:p>
          </p:txBody>
        </p:sp>
        <p:sp>
          <p:nvSpPr>
            <p:cNvPr id="12" name="箭头: 右 11">
              <a:extLst>
                <a:ext uri="{FF2B5EF4-FFF2-40B4-BE49-F238E27FC236}">
                  <a16:creationId xmlns:a16="http://schemas.microsoft.com/office/drawing/2014/main" id="{FE193CC1-61E9-E74C-A1FE-CB4142B34AED}"/>
                </a:ext>
              </a:extLst>
            </p:cNvPr>
            <p:cNvSpPr/>
            <p:nvPr/>
          </p:nvSpPr>
          <p:spPr>
            <a:xfrm>
              <a:off x="2540727" y="4332058"/>
              <a:ext cx="825138" cy="463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9AF6ABB8-A6A7-9391-9F11-67F2070346C2}"/>
                </a:ext>
              </a:extLst>
            </p:cNvPr>
            <p:cNvSpPr txBox="1"/>
            <p:nvPr/>
          </p:nvSpPr>
          <p:spPr>
            <a:xfrm>
              <a:off x="3526975" y="4087221"/>
              <a:ext cx="1541417" cy="707886"/>
            </a:xfrm>
            <a:prstGeom prst="rect">
              <a:avLst/>
            </a:prstGeom>
            <a:noFill/>
          </p:spPr>
          <p:txBody>
            <a:bodyPr wrap="square">
              <a:spAutoFit/>
            </a:bodyPr>
            <a:lstStyle/>
            <a:p>
              <a:r>
                <a:rPr lang="zh-CN" altLang="en-US" sz="4000" b="0" i="0" dirty="0">
                  <a:solidFill>
                    <a:srgbClr val="111133"/>
                  </a:solidFill>
                  <a:effectLst/>
                  <a:latin typeface="-apple-system"/>
                </a:rPr>
                <a:t>🌽</a:t>
              </a:r>
              <a:r>
                <a:rPr lang="zh-CN" altLang="en-US" sz="2400" dirty="0">
                  <a:solidFill>
                    <a:srgbClr val="111133"/>
                  </a:solidFill>
                  <a:latin typeface="-apple-system"/>
                </a:rPr>
                <a:t>产量</a:t>
              </a:r>
              <a:endParaRPr lang="zh-CN" altLang="en-US" sz="2400" dirty="0"/>
            </a:p>
          </p:txBody>
        </p:sp>
      </p:grpSp>
      <p:sp>
        <p:nvSpPr>
          <p:cNvPr id="15" name="文本框 14">
            <a:extLst>
              <a:ext uri="{FF2B5EF4-FFF2-40B4-BE49-F238E27FC236}">
                <a16:creationId xmlns:a16="http://schemas.microsoft.com/office/drawing/2014/main" id="{8F796D2B-6101-EFD7-7492-9F35FFBD5CF3}"/>
              </a:ext>
            </a:extLst>
          </p:cNvPr>
          <p:cNvSpPr txBox="1"/>
          <p:nvPr/>
        </p:nvSpPr>
        <p:spPr>
          <a:xfrm>
            <a:off x="6307010" y="3794142"/>
            <a:ext cx="870857" cy="769441"/>
          </a:xfrm>
          <a:prstGeom prst="rect">
            <a:avLst/>
          </a:prstGeom>
          <a:noFill/>
        </p:spPr>
        <p:txBody>
          <a:bodyPr wrap="square">
            <a:spAutoFit/>
          </a:bodyPr>
          <a:lstStyle/>
          <a:p>
            <a:r>
              <a:rPr lang="zh-CN" altLang="en-US" sz="4400" dirty="0"/>
              <a:t>💼</a:t>
            </a:r>
          </a:p>
        </p:txBody>
      </p:sp>
      <p:grpSp>
        <p:nvGrpSpPr>
          <p:cNvPr id="22" name="组合 21">
            <a:extLst>
              <a:ext uri="{FF2B5EF4-FFF2-40B4-BE49-F238E27FC236}">
                <a16:creationId xmlns:a16="http://schemas.microsoft.com/office/drawing/2014/main" id="{23111BB6-D89A-D368-5612-5E630587E9DE}"/>
              </a:ext>
            </a:extLst>
          </p:cNvPr>
          <p:cNvGrpSpPr/>
          <p:nvPr/>
        </p:nvGrpSpPr>
        <p:grpSpPr>
          <a:xfrm>
            <a:off x="6096000" y="3971458"/>
            <a:ext cx="4615543" cy="1184248"/>
            <a:chOff x="6096000" y="4087221"/>
            <a:chExt cx="4615543" cy="1184248"/>
          </a:xfrm>
        </p:grpSpPr>
        <p:sp>
          <p:nvSpPr>
            <p:cNvPr id="16" name="文本框 15">
              <a:extLst>
                <a:ext uri="{FF2B5EF4-FFF2-40B4-BE49-F238E27FC236}">
                  <a16:creationId xmlns:a16="http://schemas.microsoft.com/office/drawing/2014/main" id="{85D2C74D-42C7-33EC-5058-7D1EF2C0735F}"/>
                </a:ext>
              </a:extLst>
            </p:cNvPr>
            <p:cNvSpPr txBox="1"/>
            <p:nvPr/>
          </p:nvSpPr>
          <p:spPr>
            <a:xfrm>
              <a:off x="6274330" y="4563583"/>
              <a:ext cx="870857" cy="707886"/>
            </a:xfrm>
            <a:prstGeom prst="rect">
              <a:avLst/>
            </a:prstGeom>
            <a:noFill/>
          </p:spPr>
          <p:txBody>
            <a:bodyPr wrap="square">
              <a:spAutoFit/>
            </a:bodyPr>
            <a:lstStyle/>
            <a:p>
              <a:r>
                <a:rPr lang="zh-CN" altLang="en-US" sz="4000" dirty="0"/>
                <a:t>🎂</a:t>
              </a:r>
            </a:p>
          </p:txBody>
        </p:sp>
        <p:sp>
          <p:nvSpPr>
            <p:cNvPr id="17" name="文本框 16">
              <a:extLst>
                <a:ext uri="{FF2B5EF4-FFF2-40B4-BE49-F238E27FC236}">
                  <a16:creationId xmlns:a16="http://schemas.microsoft.com/office/drawing/2014/main" id="{517B7A24-0A26-4234-9752-2EB17D49AA84}"/>
                </a:ext>
              </a:extLst>
            </p:cNvPr>
            <p:cNvSpPr txBox="1"/>
            <p:nvPr/>
          </p:nvSpPr>
          <p:spPr>
            <a:xfrm>
              <a:off x="6096000" y="4378917"/>
              <a:ext cx="325730" cy="369332"/>
            </a:xfrm>
            <a:prstGeom prst="rect">
              <a:avLst/>
            </a:prstGeom>
            <a:noFill/>
          </p:spPr>
          <p:txBody>
            <a:bodyPr wrap="none" rtlCol="0">
              <a:spAutoFit/>
            </a:bodyPr>
            <a:lstStyle/>
            <a:p>
              <a:r>
                <a:rPr lang="en-US" altLang="zh-CN" dirty="0"/>
                <a:t>f(</a:t>
              </a:r>
              <a:endParaRPr lang="zh-CN" altLang="en-US" dirty="0"/>
            </a:p>
          </p:txBody>
        </p:sp>
        <p:sp>
          <p:nvSpPr>
            <p:cNvPr id="18" name="文本框 17">
              <a:extLst>
                <a:ext uri="{FF2B5EF4-FFF2-40B4-BE49-F238E27FC236}">
                  <a16:creationId xmlns:a16="http://schemas.microsoft.com/office/drawing/2014/main" id="{F3A200BA-292F-E81A-8FE3-BC9F69A4EFC7}"/>
                </a:ext>
              </a:extLst>
            </p:cNvPr>
            <p:cNvSpPr txBox="1"/>
            <p:nvPr/>
          </p:nvSpPr>
          <p:spPr>
            <a:xfrm>
              <a:off x="7122327" y="4378917"/>
              <a:ext cx="45719" cy="369332"/>
            </a:xfrm>
            <a:prstGeom prst="rect">
              <a:avLst/>
            </a:prstGeom>
            <a:noFill/>
          </p:spPr>
          <p:txBody>
            <a:bodyPr wrap="square" rtlCol="0">
              <a:spAutoFit/>
            </a:bodyPr>
            <a:lstStyle/>
            <a:p>
              <a:r>
                <a:rPr lang="en-US" altLang="zh-CN" dirty="0"/>
                <a:t>)</a:t>
              </a:r>
              <a:endParaRPr lang="zh-CN" altLang="en-US" dirty="0"/>
            </a:p>
          </p:txBody>
        </p:sp>
        <p:sp>
          <p:nvSpPr>
            <p:cNvPr id="19" name="箭头: 右 18">
              <a:extLst>
                <a:ext uri="{FF2B5EF4-FFF2-40B4-BE49-F238E27FC236}">
                  <a16:creationId xmlns:a16="http://schemas.microsoft.com/office/drawing/2014/main" id="{F7129DAD-46B7-DA3B-5B7A-310E388A916D}"/>
                </a:ext>
              </a:extLst>
            </p:cNvPr>
            <p:cNvSpPr/>
            <p:nvPr/>
          </p:nvSpPr>
          <p:spPr>
            <a:xfrm>
              <a:off x="7517367" y="4332058"/>
              <a:ext cx="825138" cy="463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FD4AE253-AAFD-8E37-F14F-7F9006B7EF85}"/>
                </a:ext>
              </a:extLst>
            </p:cNvPr>
            <p:cNvSpPr txBox="1"/>
            <p:nvPr/>
          </p:nvSpPr>
          <p:spPr>
            <a:xfrm>
              <a:off x="8503615" y="4087221"/>
              <a:ext cx="2207928" cy="707886"/>
            </a:xfrm>
            <a:prstGeom prst="rect">
              <a:avLst/>
            </a:prstGeom>
            <a:noFill/>
          </p:spPr>
          <p:txBody>
            <a:bodyPr wrap="square">
              <a:spAutoFit/>
            </a:bodyPr>
            <a:lstStyle/>
            <a:p>
              <a:r>
                <a:rPr lang="zh-CN" altLang="en-US" sz="4000" dirty="0"/>
                <a:t>💰</a:t>
              </a:r>
              <a:r>
                <a:rPr lang="zh-CN" altLang="en-US" sz="2400" dirty="0">
                  <a:solidFill>
                    <a:srgbClr val="111133"/>
                  </a:solidFill>
                  <a:latin typeface="-apple-system"/>
                </a:rPr>
                <a:t>贷款额度</a:t>
              </a:r>
              <a:endParaRPr lang="zh-CN" altLang="en-US" sz="2400" dirty="0"/>
            </a:p>
          </p:txBody>
        </p:sp>
      </p:grpSp>
    </p:spTree>
    <p:extLst>
      <p:ext uri="{BB962C8B-B14F-4D97-AF65-F5344CB8AC3E}">
        <p14:creationId xmlns:p14="http://schemas.microsoft.com/office/powerpoint/2010/main" val="15023149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3CA15-5FE6-F529-42F0-9FE722F5E9C3}"/>
            </a:ext>
          </a:extLst>
        </p:cNvPr>
        <p:cNvGrpSpPr/>
        <p:nvPr/>
      </p:nvGrpSpPr>
      <p:grpSpPr>
        <a:xfrm>
          <a:off x="0" y="0"/>
          <a:ext cx="0" cy="0"/>
          <a:chOff x="0" y="0"/>
          <a:chExt cx="0" cy="0"/>
        </a:xfrm>
      </p:grpSpPr>
      <p:sp>
        <p:nvSpPr>
          <p:cNvPr id="5" name="文本占位符 1">
            <a:extLst>
              <a:ext uri="{FF2B5EF4-FFF2-40B4-BE49-F238E27FC236}">
                <a16:creationId xmlns:a16="http://schemas.microsoft.com/office/drawing/2014/main" id="{5689CFBE-E89B-3621-657D-9B9E82E7A40E}"/>
              </a:ext>
            </a:extLst>
          </p:cNvPr>
          <p:cNvSpPr>
            <a:spLocks noGrp="1"/>
          </p:cNvSpPr>
          <p:nvPr>
            <p:ph type="body" sz="quarter" idx="13"/>
          </p:nvPr>
        </p:nvSpPr>
        <p:spPr>
          <a:xfrm>
            <a:off x="416538" y="215130"/>
            <a:ext cx="3110437" cy="417513"/>
          </a:xfrm>
        </p:spPr>
        <p:txBody>
          <a:bodyPr/>
          <a:lstStyle/>
          <a:p>
            <a:r>
              <a:rPr lang="zh-CN" altLang="en-US" sz="2400" b="1" dirty="0">
                <a:solidFill>
                  <a:srgbClr val="FF0000"/>
                </a:solidFill>
              </a:rPr>
              <a:t>回归介绍</a:t>
            </a:r>
          </a:p>
        </p:txBody>
      </p:sp>
      <p:sp>
        <p:nvSpPr>
          <p:cNvPr id="6" name="Rectangle 3">
            <a:extLst>
              <a:ext uri="{FF2B5EF4-FFF2-40B4-BE49-F238E27FC236}">
                <a16:creationId xmlns:a16="http://schemas.microsoft.com/office/drawing/2014/main" id="{91CED5DA-CC30-376D-5A60-581C1502C140}"/>
              </a:ext>
            </a:extLst>
          </p:cNvPr>
          <p:cNvSpPr txBox="1">
            <a:spLocks noChangeArrowheads="1"/>
          </p:cNvSpPr>
          <p:nvPr/>
        </p:nvSpPr>
        <p:spPr>
          <a:xfrm>
            <a:off x="1297690" y="1169829"/>
            <a:ext cx="10208119" cy="65297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solidFill>
                  <a:srgbClr val="FF0000"/>
                </a:solidFill>
                <a:latin typeface="+mj-ea"/>
                <a:ea typeface="+mj-ea"/>
              </a:rPr>
              <a:t>回归介绍</a:t>
            </a:r>
          </a:p>
        </p:txBody>
      </p:sp>
      <p:sp>
        <p:nvSpPr>
          <p:cNvPr id="7" name="Rectangle 3">
            <a:extLst>
              <a:ext uri="{FF2B5EF4-FFF2-40B4-BE49-F238E27FC236}">
                <a16:creationId xmlns:a16="http://schemas.microsoft.com/office/drawing/2014/main" id="{16CF515E-45EB-20F8-D770-1CCC2DEAC86C}"/>
              </a:ext>
            </a:extLst>
          </p:cNvPr>
          <p:cNvSpPr txBox="1">
            <a:spLocks noChangeArrowheads="1"/>
          </p:cNvSpPr>
          <p:nvPr/>
        </p:nvSpPr>
        <p:spPr>
          <a:xfrm>
            <a:off x="1297690" y="1978570"/>
            <a:ext cx="9554361" cy="235829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eaLnBrk="1" hangingPunct="1">
              <a:lnSpc>
                <a:spcPct val="150000"/>
              </a:lnSpc>
              <a:buFontTx/>
              <a:buNone/>
            </a:pPr>
            <a:r>
              <a:rPr lang="en-US" altLang="zh-CN" sz="2400">
                <a:solidFill>
                  <a:srgbClr val="003399"/>
                </a:solidFill>
                <a:latin typeface="微软雅黑" panose="020B0503020204020204" pitchFamily="34" charset="-122"/>
                <a:ea typeface="微软雅黑" panose="020B0503020204020204" pitchFamily="34" charset="-122"/>
              </a:rPr>
              <a:t>    </a:t>
            </a:r>
            <a:r>
              <a:rPr lang="zh-CN" altLang="en-US" sz="1800">
                <a:solidFill>
                  <a:srgbClr val="FF0000"/>
                </a:solidFill>
                <a:latin typeface="+mn-ea"/>
              </a:rPr>
              <a:t>线性回归</a:t>
            </a:r>
            <a:r>
              <a:rPr lang="zh-CN" altLang="en-US" sz="1800" dirty="0">
                <a:latin typeface="+mn-ea"/>
              </a:rPr>
              <a:t>（</a:t>
            </a:r>
            <a:r>
              <a:rPr lang="en-US" altLang="zh-CN" sz="1800" dirty="0">
                <a:latin typeface="+mn-ea"/>
              </a:rPr>
              <a:t>Linear Regression</a:t>
            </a:r>
            <a:r>
              <a:rPr lang="zh-CN" altLang="en-US" sz="1800" dirty="0">
                <a:latin typeface="+mn-ea"/>
              </a:rPr>
              <a:t>）是一种利用回归方程对一个或多个自变量和因变量之间关系进行建模的分析方法（用于建模和分析变量之间线性关系的统计方法）。简而言之，就是通过拟合一条直线（或超平面）来描述自变量（</a:t>
            </a:r>
            <a:r>
              <a:rPr lang="en-US" altLang="zh-CN" sz="1800" dirty="0">
                <a:latin typeface="+mn-ea"/>
              </a:rPr>
              <a:t>X</a:t>
            </a:r>
            <a:r>
              <a:rPr lang="zh-CN" altLang="en-US" sz="1800" dirty="0">
                <a:latin typeface="+mn-ea"/>
              </a:rPr>
              <a:t>）与因变量（</a:t>
            </a:r>
            <a:r>
              <a:rPr lang="en-US" altLang="zh-CN" sz="1800" dirty="0">
                <a:latin typeface="+mn-ea"/>
              </a:rPr>
              <a:t>Y</a:t>
            </a:r>
            <a:r>
              <a:rPr lang="zh-CN" altLang="en-US" sz="1800" dirty="0">
                <a:latin typeface="+mn-ea"/>
              </a:rPr>
              <a:t>）之间的线性关系，从而</a:t>
            </a:r>
            <a:r>
              <a:rPr lang="zh-CN" altLang="en-US" sz="1800" dirty="0">
                <a:solidFill>
                  <a:srgbClr val="FF0000"/>
                </a:solidFill>
                <a:latin typeface="+mn-ea"/>
              </a:rPr>
              <a:t>预测或解释数据</a:t>
            </a:r>
            <a:r>
              <a:rPr lang="zh-CN" altLang="en-US" sz="1800" dirty="0">
                <a:latin typeface="+mn-ea"/>
              </a:rPr>
              <a:t>。</a:t>
            </a:r>
            <a:endParaRPr lang="en-US" altLang="zh-CN" sz="1800" dirty="0">
              <a:latin typeface="+mn-ea"/>
            </a:endParaRPr>
          </a:p>
        </p:txBody>
      </p:sp>
      <p:pic>
        <p:nvPicPr>
          <p:cNvPr id="2" name="图片 1">
            <a:extLst>
              <a:ext uri="{FF2B5EF4-FFF2-40B4-BE49-F238E27FC236}">
                <a16:creationId xmlns:a16="http://schemas.microsoft.com/office/drawing/2014/main" id="{6DE848C5-8334-69C2-55EA-8846FA58F60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p:spTree>
    <p:extLst>
      <p:ext uri="{BB962C8B-B14F-4D97-AF65-F5344CB8AC3E}">
        <p14:creationId xmlns:p14="http://schemas.microsoft.com/office/powerpoint/2010/main" val="40347334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BAE08-F817-9E23-62D4-450794E617BC}"/>
            </a:ext>
          </a:extLst>
        </p:cNvPr>
        <p:cNvGrpSpPr/>
        <p:nvPr/>
      </p:nvGrpSpPr>
      <p:grpSpPr>
        <a:xfrm>
          <a:off x="0" y="0"/>
          <a:ext cx="0" cy="0"/>
          <a:chOff x="0" y="0"/>
          <a:chExt cx="0" cy="0"/>
        </a:xfrm>
      </p:grpSpPr>
      <p:sp>
        <p:nvSpPr>
          <p:cNvPr id="5" name="文本占位符 1">
            <a:extLst>
              <a:ext uri="{FF2B5EF4-FFF2-40B4-BE49-F238E27FC236}">
                <a16:creationId xmlns:a16="http://schemas.microsoft.com/office/drawing/2014/main" id="{E51F1C6C-837D-5C6F-3C37-36494F5DEDBF}"/>
              </a:ext>
            </a:extLst>
          </p:cNvPr>
          <p:cNvSpPr>
            <a:spLocks noGrp="1"/>
          </p:cNvSpPr>
          <p:nvPr>
            <p:ph type="body" sz="quarter" idx="13"/>
          </p:nvPr>
        </p:nvSpPr>
        <p:spPr>
          <a:xfrm>
            <a:off x="416538" y="223838"/>
            <a:ext cx="3110437" cy="417513"/>
          </a:xfrm>
        </p:spPr>
        <p:txBody>
          <a:bodyPr/>
          <a:lstStyle/>
          <a:p>
            <a:r>
              <a:rPr lang="zh-CN" altLang="en-US" sz="2400" b="1" dirty="0">
                <a:solidFill>
                  <a:srgbClr val="FF0000"/>
                </a:solidFill>
              </a:rPr>
              <a:t>回归介绍</a:t>
            </a:r>
          </a:p>
        </p:txBody>
      </p:sp>
      <p:sp>
        <p:nvSpPr>
          <p:cNvPr id="6" name="Rectangle 3">
            <a:extLst>
              <a:ext uri="{FF2B5EF4-FFF2-40B4-BE49-F238E27FC236}">
                <a16:creationId xmlns:a16="http://schemas.microsoft.com/office/drawing/2014/main" id="{60B4B9DB-FE36-90C0-9946-5288F3C75BF0}"/>
              </a:ext>
            </a:extLst>
          </p:cNvPr>
          <p:cNvSpPr txBox="1">
            <a:spLocks noChangeArrowheads="1"/>
          </p:cNvSpPr>
          <p:nvPr/>
        </p:nvSpPr>
        <p:spPr>
          <a:xfrm>
            <a:off x="1297690" y="1187247"/>
            <a:ext cx="10208119" cy="65297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solidFill>
                  <a:srgbClr val="FF0000"/>
                </a:solidFill>
                <a:latin typeface="+mj-ea"/>
                <a:ea typeface="+mj-ea"/>
              </a:rPr>
              <a:t>回归介绍</a:t>
            </a:r>
          </a:p>
        </p:txBody>
      </p:sp>
      <p:pic>
        <p:nvPicPr>
          <p:cNvPr id="2" name="图片 1">
            <a:extLst>
              <a:ext uri="{FF2B5EF4-FFF2-40B4-BE49-F238E27FC236}">
                <a16:creationId xmlns:a16="http://schemas.microsoft.com/office/drawing/2014/main" id="{EFC02E60-478E-6DE9-C407-F1BBA002D1F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p:pic>
        <p:nvPicPr>
          <p:cNvPr id="8" name="图片 7" descr="图形用户界面, 应用程序&#10;&#10;AI 生成的内容可能不正确。">
            <a:extLst>
              <a:ext uri="{FF2B5EF4-FFF2-40B4-BE49-F238E27FC236}">
                <a16:creationId xmlns:a16="http://schemas.microsoft.com/office/drawing/2014/main" id="{E4052CC0-6DCA-83BE-34D1-C2A879AD8F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7690" y="1920354"/>
            <a:ext cx="6513467" cy="3918326"/>
          </a:xfrm>
          <a:prstGeom prst="rect">
            <a:avLst/>
          </a:prstGeom>
        </p:spPr>
      </p:pic>
      <p:sp>
        <p:nvSpPr>
          <p:cNvPr id="4" name="Rectangle 3">
            <a:extLst>
              <a:ext uri="{FF2B5EF4-FFF2-40B4-BE49-F238E27FC236}">
                <a16:creationId xmlns:a16="http://schemas.microsoft.com/office/drawing/2014/main" id="{6C274688-4BC6-0D67-2021-465FFE0908BC}"/>
              </a:ext>
            </a:extLst>
          </p:cNvPr>
          <p:cNvSpPr txBox="1">
            <a:spLocks noChangeArrowheads="1"/>
          </p:cNvSpPr>
          <p:nvPr/>
        </p:nvSpPr>
        <p:spPr>
          <a:xfrm>
            <a:off x="7811157" y="1699317"/>
            <a:ext cx="3867663" cy="4360400"/>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eaLnBrk="1" hangingPunct="1">
              <a:lnSpc>
                <a:spcPct val="150000"/>
              </a:lnSpc>
              <a:buFontTx/>
              <a:buNone/>
            </a:pPr>
            <a:r>
              <a:rPr lang="zh-CN" altLang="en-US" sz="1800" dirty="0">
                <a:solidFill>
                  <a:srgbClr val="003399"/>
                </a:solidFill>
                <a:latin typeface="+mn-ea"/>
              </a:rPr>
              <a:t>第一个例子为股票指数预测，函数输入为今天的股票数据信息，输出为明天可能的股票指数信息；</a:t>
            </a:r>
            <a:endParaRPr lang="en-US" altLang="zh-CN" sz="1800" dirty="0">
              <a:solidFill>
                <a:srgbClr val="003399"/>
              </a:solidFill>
              <a:latin typeface="+mn-ea"/>
            </a:endParaRPr>
          </a:p>
          <a:p>
            <a:pPr indent="0" eaLnBrk="1" hangingPunct="1">
              <a:lnSpc>
                <a:spcPct val="150000"/>
              </a:lnSpc>
              <a:buFontTx/>
              <a:buNone/>
            </a:pPr>
            <a:r>
              <a:rPr lang="zh-CN" altLang="en-US" sz="1800" dirty="0">
                <a:solidFill>
                  <a:srgbClr val="003399"/>
                </a:solidFill>
                <a:latin typeface="+mn-ea"/>
              </a:rPr>
              <a:t>第二个例子为自动驾驶，输入为传感器获得的各种信号，输出为方向盘旋转的角度；</a:t>
            </a:r>
            <a:endParaRPr lang="en-US" altLang="zh-CN" sz="1800" dirty="0">
              <a:solidFill>
                <a:srgbClr val="003399"/>
              </a:solidFill>
              <a:latin typeface="+mn-ea"/>
            </a:endParaRPr>
          </a:p>
          <a:p>
            <a:pPr indent="0" eaLnBrk="1" hangingPunct="1">
              <a:lnSpc>
                <a:spcPct val="150000"/>
              </a:lnSpc>
              <a:buFontTx/>
              <a:buNone/>
            </a:pPr>
            <a:r>
              <a:rPr lang="zh-CN" altLang="en-US" sz="1800" dirty="0">
                <a:solidFill>
                  <a:srgbClr val="003399"/>
                </a:solidFill>
                <a:latin typeface="+mn-ea"/>
              </a:rPr>
              <a:t>第三个例子为自动推荐系统，输入为使用者以及正在浏览的商品类型，输出为该用户购买此商品的可能性。</a:t>
            </a:r>
          </a:p>
        </p:txBody>
      </p:sp>
    </p:spTree>
    <p:extLst>
      <p:ext uri="{BB962C8B-B14F-4D97-AF65-F5344CB8AC3E}">
        <p14:creationId xmlns:p14="http://schemas.microsoft.com/office/powerpoint/2010/main" val="9857263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1393371" y="997917"/>
            <a:ext cx="10052067" cy="65297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latin typeface="+mj-ea"/>
                <a:ea typeface="+mj-ea"/>
              </a:rPr>
              <a:t>单变量线性回归</a:t>
            </a:r>
          </a:p>
        </p:txBody>
      </p:sp>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t="21438" b="20796"/>
          <a:stretch>
            <a:fillRect/>
          </a:stretch>
        </p:blipFill>
        <p:spPr>
          <a:xfrm>
            <a:off x="416538" y="1085206"/>
            <a:ext cx="913832" cy="527888"/>
          </a:xfrm>
          <a:prstGeom prst="rect">
            <a:avLst/>
          </a:prstGeom>
        </p:spPr>
      </p:pic>
      <p:sp>
        <p:nvSpPr>
          <p:cNvPr id="7" name="Rectangle 3"/>
          <p:cNvSpPr txBox="1">
            <a:spLocks noChangeArrowheads="1"/>
          </p:cNvSpPr>
          <p:nvPr/>
        </p:nvSpPr>
        <p:spPr>
          <a:xfrm>
            <a:off x="1330369" y="2107392"/>
            <a:ext cx="9668959" cy="3611022"/>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eaLnBrk="1" hangingPunct="1">
              <a:lnSpc>
                <a:spcPct val="120000"/>
              </a:lnSpc>
              <a:buFontTx/>
              <a:buNone/>
            </a:pP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a:t>
            </a:r>
            <a:endParaRPr lang="en-US" altLang="zh-CN" sz="24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F276AA4-2734-40AB-8FBD-AA716328D328}"/>
              </a:ext>
            </a:extLst>
          </p:cNvPr>
          <p:cNvSpPr txBox="1"/>
          <p:nvPr/>
        </p:nvSpPr>
        <p:spPr>
          <a:xfrm>
            <a:off x="1330369" y="1641303"/>
            <a:ext cx="10284981" cy="3561296"/>
          </a:xfrm>
          <a:prstGeom prst="rect">
            <a:avLst/>
          </a:prstGeom>
          <a:noFill/>
        </p:spPr>
        <p:txBody>
          <a:bodyPr wrap="square">
            <a:spAutoFit/>
          </a:bodyPr>
          <a:lstStyle/>
          <a:p>
            <a:pPr marL="228600">
              <a:lnSpc>
                <a:spcPct val="120000"/>
              </a:lnSpc>
              <a:spcBef>
                <a:spcPts val="1000"/>
              </a:spcBef>
            </a:pP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 = wx + b</a:t>
            </a:r>
            <a:endParaRPr lang="en-US" altLang="zh-CN" sz="240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mn-ea"/>
                <a:cs typeface="Times New Roman" panose="02020603050405020304" pitchFamily="18" charset="0"/>
              </a:rPr>
              <a:t>其中，</a:t>
            </a:r>
            <a:r>
              <a:rPr lang="en-US" altLang="zh-CN" dirty="0">
                <a:latin typeface="Times New Roman" panose="02020603050405020304" pitchFamily="18" charset="0"/>
                <a:ea typeface="+mn-ea"/>
                <a:cs typeface="Times New Roman" panose="02020603050405020304" pitchFamily="18" charset="0"/>
              </a:rPr>
              <a:t>x </a:t>
            </a:r>
            <a:r>
              <a:rPr lang="zh-CN" altLang="zh-CN" dirty="0">
                <a:latin typeface="Times New Roman" panose="02020603050405020304" pitchFamily="18" charset="0"/>
                <a:ea typeface="+mn-ea"/>
                <a:cs typeface="Times New Roman" panose="02020603050405020304" pitchFamily="18" charset="0"/>
              </a:rPr>
              <a:t>是输入（在机器学习中称为特征</a:t>
            </a:r>
            <a:r>
              <a:rPr lang="en-US" altLang="zh-CN" dirty="0">
                <a:latin typeface="Times New Roman" panose="02020603050405020304" pitchFamily="18" charset="0"/>
                <a:ea typeface="+mn-ea"/>
                <a:cs typeface="Times New Roman" panose="02020603050405020304" pitchFamily="18" charset="0"/>
              </a:rPr>
              <a:t> Feature</a:t>
            </a:r>
            <a:r>
              <a:rPr lang="zh-CN" altLang="en-US" dirty="0">
                <a:latin typeface="Times New Roman" panose="02020603050405020304" pitchFamily="18" charset="0"/>
                <a:ea typeface="+mn-ea"/>
                <a:cs typeface="Times New Roman" panose="02020603050405020304" pitchFamily="18" charset="0"/>
              </a:rPr>
              <a:t>）</a:t>
            </a:r>
            <a:r>
              <a:rPr lang="zh-CN" altLang="zh-CN" dirty="0">
                <a:latin typeface="Times New Roman" panose="02020603050405020304" pitchFamily="18" charset="0"/>
                <a:ea typeface="+mn-ea"/>
                <a:cs typeface="Times New Roman" panose="02020603050405020304" pitchFamily="18" charset="0"/>
              </a:rPr>
              <a:t>；</a:t>
            </a:r>
            <a:endParaRPr lang="en-US" altLang="zh-CN" dirty="0">
              <a:latin typeface="Times New Roman" panose="02020603050405020304" pitchFamily="18" charset="0"/>
              <a:ea typeface="+mn-ea"/>
              <a:cs typeface="Times New Roman" panose="02020603050405020304" pitchFamily="18" charset="0"/>
            </a:endParaRPr>
          </a:p>
          <a:p>
            <a:pPr>
              <a:lnSpc>
                <a:spcPct val="150000"/>
              </a:lnSpc>
            </a:pPr>
            <a:r>
              <a:rPr lang="en-US" altLang="zh-CN" dirty="0">
                <a:latin typeface="Times New Roman" panose="02020603050405020304" pitchFamily="18" charset="0"/>
                <a:ea typeface="+mn-ea"/>
                <a:cs typeface="Times New Roman" panose="02020603050405020304" pitchFamily="18" charset="0"/>
              </a:rPr>
              <a:t>	y </a:t>
            </a:r>
            <a:r>
              <a:rPr lang="zh-CN" altLang="zh-CN" dirty="0">
                <a:latin typeface="Times New Roman" panose="02020603050405020304" pitchFamily="18" charset="0"/>
                <a:ea typeface="+mn-ea"/>
                <a:cs typeface="Times New Roman" panose="02020603050405020304" pitchFamily="18" charset="0"/>
              </a:rPr>
              <a:t>是想预测的输出（称为目标</a:t>
            </a:r>
            <a:r>
              <a:rPr lang="en-US" altLang="zh-CN" dirty="0">
                <a:latin typeface="Times New Roman" panose="02020603050405020304" pitchFamily="18" charset="0"/>
                <a:ea typeface="+mn-ea"/>
                <a:cs typeface="Times New Roman" panose="02020603050405020304" pitchFamily="18" charset="0"/>
              </a:rPr>
              <a:t> Target</a:t>
            </a:r>
            <a:r>
              <a:rPr lang="zh-CN" altLang="zh-CN" dirty="0">
                <a:latin typeface="Times New Roman" panose="02020603050405020304" pitchFamily="18" charset="0"/>
                <a:ea typeface="+mn-ea"/>
                <a:cs typeface="Times New Roman" panose="02020603050405020304" pitchFamily="18" charset="0"/>
              </a:rPr>
              <a:t>）。</a:t>
            </a:r>
            <a:endParaRPr lang="en-US" altLang="zh-CN" dirty="0">
              <a:latin typeface="Times New Roman" panose="02020603050405020304" pitchFamily="18" charset="0"/>
              <a:ea typeface="+mn-ea"/>
              <a:cs typeface="Times New Roman" panose="02020603050405020304" pitchFamily="18" charset="0"/>
            </a:endParaRPr>
          </a:p>
          <a:p>
            <a:pPr>
              <a:lnSpc>
                <a:spcPct val="150000"/>
              </a:lnSpc>
            </a:pPr>
            <a:endParaRPr lang="zh-CN" altLang="zh-CN" dirty="0">
              <a:latin typeface="Times New Roman" panose="02020603050405020304" pitchFamily="18" charset="0"/>
              <a:ea typeface="+mn-ea"/>
              <a:cs typeface="Times New Roman" panose="02020603050405020304" pitchFamily="18" charset="0"/>
            </a:endParaRPr>
          </a:p>
          <a:p>
            <a:pPr>
              <a:lnSpc>
                <a:spcPct val="150000"/>
              </a:lnSpc>
            </a:pPr>
            <a:r>
              <a:rPr lang="zh-CN" altLang="zh-CN" dirty="0">
                <a:latin typeface="Times New Roman" panose="02020603050405020304" pitchFamily="18" charset="0"/>
                <a:ea typeface="+mn-ea"/>
                <a:cs typeface="Times New Roman" panose="02020603050405020304" pitchFamily="18" charset="0"/>
              </a:rPr>
              <a:t>而线性回归算法要“学习”的，就是两个关键参数：</a:t>
            </a:r>
            <a:r>
              <a:rPr lang="en-US" altLang="zh-CN" dirty="0">
                <a:latin typeface="Times New Roman" panose="02020603050405020304" pitchFamily="18" charset="0"/>
                <a:ea typeface="+mn-ea"/>
                <a:cs typeface="Times New Roman" panose="02020603050405020304" pitchFamily="18" charset="0"/>
              </a:rPr>
              <a:t>w</a:t>
            </a:r>
            <a:r>
              <a:rPr lang="zh-CN" altLang="zh-CN" dirty="0">
                <a:latin typeface="Times New Roman" panose="02020603050405020304" pitchFamily="18" charset="0"/>
                <a:ea typeface="+mn-ea"/>
                <a:cs typeface="Times New Roman" panose="02020603050405020304" pitchFamily="18" charset="0"/>
              </a:rPr>
              <a:t>（权重</a:t>
            </a:r>
            <a:r>
              <a:rPr lang="en-US" altLang="zh-CN" dirty="0">
                <a:latin typeface="Times New Roman" panose="02020603050405020304" pitchFamily="18" charset="0"/>
                <a:ea typeface="+mn-ea"/>
                <a:cs typeface="Times New Roman" panose="02020603050405020304" pitchFamily="18" charset="0"/>
              </a:rPr>
              <a:t> Weight</a:t>
            </a:r>
            <a:r>
              <a:rPr lang="zh-CN" altLang="zh-CN" dirty="0">
                <a:latin typeface="Times New Roman" panose="02020603050405020304" pitchFamily="18" charset="0"/>
                <a:ea typeface="+mn-ea"/>
                <a:cs typeface="Times New Roman" panose="02020603050405020304" pitchFamily="18" charset="0"/>
              </a:rPr>
              <a:t>）和</a:t>
            </a:r>
            <a:r>
              <a:rPr lang="en-US" altLang="zh-CN" dirty="0">
                <a:latin typeface="Times New Roman" panose="02020603050405020304" pitchFamily="18" charset="0"/>
                <a:ea typeface="+mn-ea"/>
                <a:cs typeface="Times New Roman" panose="02020603050405020304" pitchFamily="18" charset="0"/>
              </a:rPr>
              <a:t> b</a:t>
            </a:r>
            <a:r>
              <a:rPr lang="zh-CN" altLang="zh-CN" dirty="0">
                <a:latin typeface="Times New Roman" panose="02020603050405020304" pitchFamily="18" charset="0"/>
                <a:ea typeface="+mn-ea"/>
                <a:cs typeface="Times New Roman" panose="02020603050405020304" pitchFamily="18" charset="0"/>
              </a:rPr>
              <a:t>（偏置</a:t>
            </a:r>
            <a:r>
              <a:rPr lang="en-US" altLang="zh-CN" dirty="0">
                <a:latin typeface="Times New Roman" panose="02020603050405020304" pitchFamily="18" charset="0"/>
                <a:ea typeface="+mn-ea"/>
                <a:cs typeface="Times New Roman" panose="02020603050405020304" pitchFamily="18" charset="0"/>
              </a:rPr>
              <a:t> Bias</a:t>
            </a:r>
            <a:r>
              <a:rPr lang="zh-CN" altLang="zh-CN" dirty="0">
                <a:latin typeface="Times New Roman" panose="02020603050405020304" pitchFamily="18" charset="0"/>
                <a:ea typeface="+mn-ea"/>
                <a:cs typeface="Times New Roman" panose="02020603050405020304" pitchFamily="18" charset="0"/>
              </a:rPr>
              <a:t>）。</a:t>
            </a:r>
            <a:r>
              <a:rPr lang="en-US" altLang="zh-CN" dirty="0">
                <a:latin typeface="Times New Roman" panose="02020603050405020304" pitchFamily="18" charset="0"/>
                <a:ea typeface="+mn-ea"/>
                <a:cs typeface="Times New Roman" panose="02020603050405020304" pitchFamily="18" charset="0"/>
              </a:rPr>
              <a:t>w </a:t>
            </a:r>
            <a:r>
              <a:rPr lang="zh-CN" altLang="zh-CN" dirty="0">
                <a:latin typeface="Times New Roman" panose="02020603050405020304" pitchFamily="18" charset="0"/>
                <a:ea typeface="+mn-ea"/>
                <a:cs typeface="Times New Roman" panose="02020603050405020304" pitchFamily="18" charset="0"/>
              </a:rPr>
              <a:t>决定了这条线的倾斜程度，它反映了特征</a:t>
            </a:r>
            <a:r>
              <a:rPr lang="en-US" altLang="zh-CN" dirty="0">
                <a:latin typeface="Times New Roman" panose="02020603050405020304" pitchFamily="18" charset="0"/>
                <a:ea typeface="+mn-ea"/>
                <a:cs typeface="Times New Roman" panose="02020603050405020304" pitchFamily="18" charset="0"/>
              </a:rPr>
              <a:t>x</a:t>
            </a:r>
            <a:r>
              <a:rPr lang="zh-CN" altLang="zh-CN" dirty="0">
                <a:latin typeface="Times New Roman" panose="02020603050405020304" pitchFamily="18" charset="0"/>
                <a:ea typeface="+mn-ea"/>
                <a:cs typeface="Times New Roman" panose="02020603050405020304" pitchFamily="18" charset="0"/>
              </a:rPr>
              <a:t>对目标</a:t>
            </a:r>
            <a:r>
              <a:rPr lang="en-US" altLang="zh-CN" dirty="0">
                <a:latin typeface="Times New Roman" panose="02020603050405020304" pitchFamily="18" charset="0"/>
                <a:ea typeface="+mn-ea"/>
                <a:cs typeface="Times New Roman" panose="02020603050405020304" pitchFamily="18" charset="0"/>
              </a:rPr>
              <a:t>y</a:t>
            </a:r>
            <a:r>
              <a:rPr lang="zh-CN" altLang="zh-CN" dirty="0">
                <a:latin typeface="Times New Roman" panose="02020603050405020304" pitchFamily="18" charset="0"/>
                <a:ea typeface="+mn-ea"/>
                <a:cs typeface="Times New Roman" panose="02020603050405020304" pitchFamily="18" charset="0"/>
              </a:rPr>
              <a:t>的影响力大小。</a:t>
            </a:r>
            <a:r>
              <a:rPr lang="en-US" altLang="zh-CN" dirty="0">
                <a:latin typeface="Times New Roman" panose="02020603050405020304" pitchFamily="18" charset="0"/>
                <a:ea typeface="+mn-ea"/>
                <a:cs typeface="Times New Roman" panose="02020603050405020304" pitchFamily="18" charset="0"/>
              </a:rPr>
              <a:t>b </a:t>
            </a:r>
            <a:r>
              <a:rPr lang="zh-CN" altLang="zh-CN" dirty="0">
                <a:latin typeface="Times New Roman" panose="02020603050405020304" pitchFamily="18" charset="0"/>
                <a:ea typeface="+mn-ea"/>
                <a:cs typeface="Times New Roman" panose="02020603050405020304" pitchFamily="18" charset="0"/>
              </a:rPr>
              <a:t>决定了这条线在</a:t>
            </a:r>
            <a:r>
              <a:rPr lang="en-US" altLang="zh-CN" dirty="0">
                <a:latin typeface="Times New Roman" panose="02020603050405020304" pitchFamily="18" charset="0"/>
                <a:ea typeface="+mn-ea"/>
                <a:cs typeface="Times New Roman" panose="02020603050405020304" pitchFamily="18" charset="0"/>
              </a:rPr>
              <a:t>y</a:t>
            </a:r>
            <a:r>
              <a:rPr lang="zh-CN" altLang="zh-CN" dirty="0">
                <a:latin typeface="Times New Roman" panose="02020603050405020304" pitchFamily="18" charset="0"/>
                <a:ea typeface="+mn-ea"/>
                <a:cs typeface="Times New Roman" panose="02020603050405020304" pitchFamily="18" charset="0"/>
              </a:rPr>
              <a:t>轴上的截距，是模型的基准线。</a:t>
            </a:r>
          </a:p>
          <a:p>
            <a:pPr marL="228600">
              <a:lnSpc>
                <a:spcPct val="120000"/>
              </a:lnSpc>
              <a:spcBef>
                <a:spcPts val="1000"/>
              </a:spcBef>
            </a:pPr>
            <a:endParaRPr lang="zh-CN" altLang="zh-CN" sz="240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占位符 3">
            <a:extLst>
              <a:ext uri="{FF2B5EF4-FFF2-40B4-BE49-F238E27FC236}">
                <a16:creationId xmlns:a16="http://schemas.microsoft.com/office/drawing/2014/main" id="{F30CD71F-5775-4FE3-82B3-9F8A602F0F7E}"/>
              </a:ext>
            </a:extLst>
          </p:cNvPr>
          <p:cNvSpPr>
            <a:spLocks noGrp="1"/>
          </p:cNvSpPr>
          <p:nvPr>
            <p:ph type="body" sz="quarter" idx="13"/>
          </p:nvPr>
        </p:nvSpPr>
        <p:spPr>
          <a:xfrm>
            <a:off x="445068" y="215129"/>
            <a:ext cx="3081907" cy="417513"/>
          </a:xfrm>
        </p:spPr>
        <p:txBody>
          <a:bodyPr/>
          <a:lstStyle/>
          <a:p>
            <a:r>
              <a:rPr lang="zh-CN" altLang="en-US" sz="2400" b="1" dirty="0">
                <a:solidFill>
                  <a:srgbClr val="FF0000"/>
                </a:solidFill>
              </a:rPr>
              <a:t>单变量线性回归</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a:spLocks noGrp="1"/>
          </p:cNvSpPr>
          <p:nvPr>
            <p:ph type="body" sz="quarter" idx="13"/>
          </p:nvPr>
        </p:nvSpPr>
        <p:spPr>
          <a:xfrm>
            <a:off x="445068" y="215129"/>
            <a:ext cx="3081907" cy="417513"/>
          </a:xfrm>
        </p:spPr>
        <p:txBody>
          <a:bodyPr/>
          <a:lstStyle/>
          <a:p>
            <a:r>
              <a:rPr lang="zh-CN" altLang="en-US" sz="2400" b="1" dirty="0">
                <a:solidFill>
                  <a:srgbClr val="FF0000"/>
                </a:solidFill>
              </a:rPr>
              <a:t>单变量线性回归</a:t>
            </a:r>
          </a:p>
        </p:txBody>
      </p:sp>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p:pic>
        <p:nvPicPr>
          <p:cNvPr id="4" name="图片 3" descr="图表, 散点图&#10;&#10;AI 生成的内容可能不正确。">
            <a:extLst>
              <a:ext uri="{FF2B5EF4-FFF2-40B4-BE49-F238E27FC236}">
                <a16:creationId xmlns:a16="http://schemas.microsoft.com/office/drawing/2014/main" id="{58D80E9C-EB06-43E8-DA9F-2E4A15318E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454" y="1789664"/>
            <a:ext cx="4824553" cy="3618415"/>
          </a:xfrm>
          <a:prstGeom prst="rect">
            <a:avLst/>
          </a:prstGeom>
        </p:spPr>
      </p:pic>
      <p:pic>
        <p:nvPicPr>
          <p:cNvPr id="6" name="图片 5" descr="图表, 散点图&#10;&#10;AI 生成的内容可能不正确。">
            <a:extLst>
              <a:ext uri="{FF2B5EF4-FFF2-40B4-BE49-F238E27FC236}">
                <a16:creationId xmlns:a16="http://schemas.microsoft.com/office/drawing/2014/main" id="{7D9DBBE9-096E-28BE-3488-7F340D68B9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0469" y="1789664"/>
            <a:ext cx="4824553" cy="3618414"/>
          </a:xfrm>
          <a:prstGeom prst="rect">
            <a:avLst/>
          </a:prstGeom>
        </p:spPr>
      </p:pic>
      <p:sp>
        <p:nvSpPr>
          <p:cNvPr id="7" name="箭头: 上弧形 6">
            <a:extLst>
              <a:ext uri="{FF2B5EF4-FFF2-40B4-BE49-F238E27FC236}">
                <a16:creationId xmlns:a16="http://schemas.microsoft.com/office/drawing/2014/main" id="{3BC905B2-262D-90E4-090C-B2DB8EACE9A1}"/>
              </a:ext>
            </a:extLst>
          </p:cNvPr>
          <p:cNvSpPr/>
          <p:nvPr/>
        </p:nvSpPr>
        <p:spPr>
          <a:xfrm>
            <a:off x="5391907" y="2516776"/>
            <a:ext cx="1534662" cy="481283"/>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文本框 8">
            <a:extLst>
              <a:ext uri="{FF2B5EF4-FFF2-40B4-BE49-F238E27FC236}">
                <a16:creationId xmlns:a16="http://schemas.microsoft.com/office/drawing/2014/main" id="{4BAEB2F3-134B-3EEB-A664-42129FDBB237}"/>
              </a:ext>
            </a:extLst>
          </p:cNvPr>
          <p:cNvSpPr txBox="1"/>
          <p:nvPr/>
        </p:nvSpPr>
        <p:spPr>
          <a:xfrm>
            <a:off x="1419497" y="1285502"/>
            <a:ext cx="2194560" cy="738664"/>
          </a:xfrm>
          <a:prstGeom prst="rect">
            <a:avLst/>
          </a:prstGeom>
          <a:noFill/>
        </p:spPr>
        <p:txBody>
          <a:bodyPr wrap="square" rtlCol="0">
            <a:spAutoFit/>
          </a:bodyPr>
          <a:lstStyle/>
          <a:p>
            <a:r>
              <a:rPr lang="en-US" altLang="zh-CN" sz="2400" dirty="0">
                <a:solidFill>
                  <a:srgbClr val="003399"/>
                </a:solidFill>
                <a:latin typeface="微软雅黑" panose="020B0503020204020204" pitchFamily="34" charset="-122"/>
                <a:ea typeface="微软雅黑" panose="020B0503020204020204" pitchFamily="34" charset="-122"/>
              </a:rPr>
              <a:t>y=wx + b</a:t>
            </a:r>
          </a:p>
          <a:p>
            <a:endParaRPr lang="zh-CN" altLang="en-US" dirty="0"/>
          </a:p>
        </p:txBody>
      </p:sp>
      <p:sp>
        <p:nvSpPr>
          <p:cNvPr id="10" name="文本框 9">
            <a:extLst>
              <a:ext uri="{FF2B5EF4-FFF2-40B4-BE49-F238E27FC236}">
                <a16:creationId xmlns:a16="http://schemas.microsoft.com/office/drawing/2014/main" id="{36BBED18-9CD3-52D9-8194-E20D8A880BD7}"/>
              </a:ext>
            </a:extLst>
          </p:cNvPr>
          <p:cNvSpPr txBox="1"/>
          <p:nvPr/>
        </p:nvSpPr>
        <p:spPr>
          <a:xfrm>
            <a:off x="1330370" y="5514160"/>
            <a:ext cx="9823265" cy="830997"/>
          </a:xfrm>
          <a:prstGeom prst="rect">
            <a:avLst/>
          </a:prstGeom>
          <a:noFill/>
        </p:spPr>
        <p:txBody>
          <a:bodyPr wrap="square" rtlCol="0">
            <a:spAutoFit/>
          </a:bodyPr>
          <a:lstStyle/>
          <a:p>
            <a:r>
              <a:rPr lang="zh-CN" altLang="en-US" sz="2400" dirty="0">
                <a:solidFill>
                  <a:srgbClr val="003399"/>
                </a:solidFill>
                <a:latin typeface="微软雅黑" panose="020B0503020204020204" pitchFamily="34" charset="-122"/>
                <a:ea typeface="微软雅黑" panose="020B0503020204020204" pitchFamily="34" charset="-122"/>
              </a:rPr>
              <a:t>目标就是通过线性回归找到左侧的散点数据的线性方程，也就是找到最佳</a:t>
            </a:r>
            <a:r>
              <a:rPr lang="en-US" altLang="zh-CN" sz="2400" dirty="0">
                <a:solidFill>
                  <a:srgbClr val="003399"/>
                </a:solidFill>
                <a:latin typeface="微软雅黑" panose="020B0503020204020204" pitchFamily="34" charset="-122"/>
                <a:ea typeface="微软雅黑" panose="020B0503020204020204" pitchFamily="34" charset="-122"/>
              </a:rPr>
              <a:t>w</a:t>
            </a:r>
            <a:r>
              <a:rPr lang="zh-CN" altLang="en-US" sz="2400" dirty="0">
                <a:solidFill>
                  <a:srgbClr val="003399"/>
                </a:solidFill>
                <a:latin typeface="微软雅黑" panose="020B0503020204020204" pitchFamily="34" charset="-122"/>
                <a:ea typeface="微软雅黑" panose="020B0503020204020204" pitchFamily="34" charset="-122"/>
              </a:rPr>
              <a:t>和</a:t>
            </a:r>
            <a:r>
              <a:rPr lang="en-US" altLang="zh-CN" sz="2400" dirty="0">
                <a:solidFill>
                  <a:srgbClr val="003399"/>
                </a:solidFill>
                <a:latin typeface="微软雅黑" panose="020B0503020204020204" pitchFamily="34" charset="-122"/>
                <a:ea typeface="微软雅黑" panose="020B0503020204020204" pitchFamily="34" charset="-122"/>
              </a:rPr>
              <a:t>b</a:t>
            </a:r>
            <a:r>
              <a:rPr lang="zh-CN" altLang="en-US" sz="2400" dirty="0">
                <a:solidFill>
                  <a:srgbClr val="003399"/>
                </a:solidFill>
                <a:latin typeface="微软雅黑" panose="020B0503020204020204" pitchFamily="34" charset="-122"/>
                <a:ea typeface="微软雅黑" panose="020B0503020204020204" pitchFamily="34" charset="-122"/>
              </a:rPr>
              <a:t>，是误差最小。</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1200951" y="1230083"/>
            <a:ext cx="3511636" cy="65297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eaLnBrk="1" hangingPunct="1">
              <a:lnSpc>
                <a:spcPct val="120000"/>
              </a:lnSpc>
              <a:buFontTx/>
              <a:buNone/>
            </a:pPr>
            <a:r>
              <a:rPr lang="zh-CN" altLang="en-US" sz="2400" dirty="0">
                <a:latin typeface="微软雅黑" panose="020B0503020204020204" pitchFamily="34" charset="-122"/>
                <a:ea typeface="微软雅黑" panose="020B0503020204020204" pitchFamily="34" charset="-122"/>
              </a:rPr>
              <a:t>损失函数</a:t>
            </a:r>
            <a:endParaRPr lang="en-US" altLang="zh-CN" sz="2400" dirty="0">
              <a:latin typeface="微软雅黑" panose="020B0503020204020204" pitchFamily="34" charset="-122"/>
              <a:ea typeface="微软雅黑" panose="020B0503020204020204" pitchFamily="34" charset="-122"/>
            </a:endParaRPr>
          </a:p>
        </p:txBody>
      </p:sp>
      <p:sp>
        <p:nvSpPr>
          <p:cNvPr id="8" name="文本占位符 1"/>
          <p:cNvSpPr>
            <a:spLocks noGrp="1"/>
          </p:cNvSpPr>
          <p:nvPr>
            <p:ph type="body" sz="quarter" idx="13"/>
          </p:nvPr>
        </p:nvSpPr>
        <p:spPr>
          <a:xfrm>
            <a:off x="445068" y="215129"/>
            <a:ext cx="3081907" cy="417513"/>
          </a:xfrm>
        </p:spPr>
        <p:txBody>
          <a:bodyPr/>
          <a:lstStyle/>
          <a:p>
            <a:r>
              <a:rPr lang="zh-CN" altLang="en-US" sz="2400" b="1" dirty="0">
                <a:solidFill>
                  <a:srgbClr val="FF0000"/>
                </a:solidFill>
              </a:rPr>
              <a:t>单变量线性回归实践</a:t>
            </a:r>
          </a:p>
        </p:txBody>
      </p:sp>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p:sp>
        <p:nvSpPr>
          <p:cNvPr id="6" name="文本框 5">
            <a:extLst>
              <a:ext uri="{FF2B5EF4-FFF2-40B4-BE49-F238E27FC236}">
                <a16:creationId xmlns:a16="http://schemas.microsoft.com/office/drawing/2014/main" id="{814D8DEE-1E21-A0AE-4D4D-2BCD90A894AE}"/>
              </a:ext>
            </a:extLst>
          </p:cNvPr>
          <p:cNvSpPr txBox="1"/>
          <p:nvPr/>
        </p:nvSpPr>
        <p:spPr>
          <a:xfrm>
            <a:off x="1200951" y="1983157"/>
            <a:ext cx="9669212" cy="2254528"/>
          </a:xfrm>
          <a:prstGeom prst="rect">
            <a:avLst/>
          </a:prstGeom>
          <a:noFill/>
        </p:spPr>
        <p:txBody>
          <a:bodyPr wrap="square" rtlCol="0">
            <a:spAutoFit/>
          </a:bodyPr>
          <a:lstStyle/>
          <a:p>
            <a:r>
              <a:rPr lang="zh-CN" altLang="zh-CN" dirty="0"/>
              <a:t>机器怎么精确地找到这条“最好”的线呢？它需要一个数学标准</a:t>
            </a:r>
            <a:r>
              <a:rPr lang="zh-CN" altLang="en-US" dirty="0"/>
              <a:t>，就是通过</a:t>
            </a:r>
            <a:r>
              <a:rPr lang="zh-CN" altLang="zh-CN" dirty="0"/>
              <a:t>最小二乘法。</a:t>
            </a:r>
            <a:endParaRPr lang="en-US" altLang="zh-CN" dirty="0"/>
          </a:p>
          <a:p>
            <a:endParaRPr lang="en-US" altLang="zh-CN" dirty="0"/>
          </a:p>
          <a:p>
            <a:pPr>
              <a:lnSpc>
                <a:spcPct val="150000"/>
              </a:lnSpc>
            </a:pPr>
            <a:r>
              <a:rPr lang="zh-CN" altLang="zh-CN" b="1" dirty="0">
                <a:solidFill>
                  <a:srgbClr val="FF0000"/>
                </a:solidFill>
              </a:rPr>
              <a:t>最小二乘法</a:t>
            </a:r>
            <a:r>
              <a:rPr lang="zh-CN" altLang="zh-CN" dirty="0"/>
              <a:t>的核心思想就是让所有真实数据点到拟合直线的残差平方和（</a:t>
            </a:r>
            <a:r>
              <a:rPr lang="en-US" altLang="zh-CN" dirty="0"/>
              <a:t>Sum of Squared Residuals</a:t>
            </a:r>
            <a:r>
              <a:rPr lang="zh-CN" altLang="zh-CN" dirty="0"/>
              <a:t>）达到最小。在机器学习领域，给这个过程新的名字。高中数学里的“残差平方和”，在机器学习里称之为“损失函数</a:t>
            </a:r>
            <a:r>
              <a:rPr lang="en-US" altLang="zh-CN" dirty="0"/>
              <a:t> (Loss Function)</a:t>
            </a:r>
            <a:r>
              <a:rPr lang="zh-CN" altLang="zh-CN" dirty="0"/>
              <a:t>”。</a:t>
            </a:r>
            <a:endParaRPr lang="en-US" altLang="zh-CN" dirty="0"/>
          </a:p>
          <a:p>
            <a:pPr>
              <a:lnSpc>
                <a:spcPct val="150000"/>
              </a:lnSpc>
            </a:pPr>
            <a:r>
              <a:rPr lang="zh-CN" altLang="en-US" b="1" dirty="0">
                <a:solidFill>
                  <a:srgbClr val="FF0000"/>
                </a:solidFill>
              </a:rPr>
              <a:t>损失函数</a:t>
            </a:r>
            <a:r>
              <a:rPr lang="zh-CN" altLang="en-US" b="1" dirty="0"/>
              <a:t>是衡量模型预测值与真实值之间差异的函数，也叫代价函数，目标函数，成本函数</a:t>
            </a:r>
            <a:endParaRPr lang="en-US" altLang="zh-CN" b="1"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6087F76-69BD-9DFF-CF36-339E06041414}"/>
                  </a:ext>
                </a:extLst>
              </p:cNvPr>
              <p:cNvSpPr txBox="1"/>
              <p:nvPr/>
            </p:nvSpPr>
            <p:spPr>
              <a:xfrm>
                <a:off x="1103947" y="4296248"/>
                <a:ext cx="9379963" cy="212603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zh-CN" b="1" dirty="0">
                    <a:solidFill>
                      <a:srgbClr val="FF0000"/>
                    </a:solidFill>
                  </a:rPr>
                  <a:t>最小二乘法</a:t>
                </a:r>
                <a:endParaRPr lang="en-US" altLang="zh-CN" b="1" dirty="0">
                  <a:solidFill>
                    <a:srgbClr val="FF0000"/>
                  </a:solidFill>
                </a:endParaRPr>
              </a:p>
              <a:p>
                <a:pPr>
                  <a:lnSpc>
                    <a:spcPct val="150000"/>
                  </a:lnSpc>
                </a:pPr>
                <a:r>
                  <a:rPr lang="en-US" altLang="zh-CN" dirty="0"/>
                  <a:t>       	</a:t>
                </a:r>
                <a14:m>
                  <m:oMath xmlns:m="http://schemas.openxmlformats.org/officeDocument/2006/math">
                    <m:r>
                      <m:rPr>
                        <m:sty m:val="p"/>
                      </m:rPr>
                      <a:rPr lang="en-US" altLang="zh-CN" i="1" dirty="0">
                        <a:latin typeface="Cambria Math" panose="02040503050406030204" pitchFamily="18" charset="0"/>
                      </a:rPr>
                      <m:t>Loss</m:t>
                    </m:r>
                  </m:oMath>
                </a14:m>
                <a:r>
                  <a:rPr lang="zh-CN" altLang="en-US" dirty="0"/>
                  <a:t> </a:t>
                </a:r>
                <a:r>
                  <a:rPr lang="en-US" altLang="zh-CN" dirty="0"/>
                  <a:t>= </a:t>
                </a:r>
                <a14:m>
                  <m:oMath xmlns:m="http://schemas.openxmlformats.org/officeDocument/2006/math">
                    <m:nary>
                      <m:naryPr>
                        <m:chr m:val="∑"/>
                        <m:limLoc m:val="subSup"/>
                        <m:ctrlPr>
                          <a:rPr lang="en-US" altLang="zh-CN" i="1" smtClean="0">
                            <a:latin typeface="Cambria Math" panose="02040503050406030204" pitchFamily="18" charset="0"/>
                          </a:rPr>
                        </m:ctrlPr>
                      </m:naryPr>
                      <m:sub>
                        <m:r>
                          <m:rPr>
                            <m:sty m:val="p"/>
                            <m:brk m:alnAt="25"/>
                          </m:rPr>
                          <a:rPr lang="en-US" altLang="zh-CN" i="1">
                            <a:latin typeface="Cambria Math" panose="02040503050406030204" pitchFamily="18" charset="0"/>
                          </a:rPr>
                          <m:t>i</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𝑚</m:t>
                        </m:r>
                      </m:sup>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e>
                        </m:acc>
                      </m:e>
                    </m:nary>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oMath>
                </a14:m>
                <a:endParaRPr lang="en-US" altLang="zh-CN" dirty="0"/>
              </a:p>
              <a:p>
                <a:pPr>
                  <a:lnSpc>
                    <a:spcPct val="150000"/>
                  </a:lnSpc>
                </a:pPr>
                <a:r>
                  <a:rPr lang="zh-CN" altLang="en-US" dirty="0"/>
                  <a:t>其中，</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y</m:t>
                        </m:r>
                      </m:e>
                      <m:sub>
                        <m:r>
                          <a:rPr lang="en-US" altLang="zh-CN" b="0" i="1" smtClean="0">
                            <a:latin typeface="Cambria Math" panose="02040503050406030204" pitchFamily="18" charset="0"/>
                          </a:rPr>
                          <m:t>𝑖</m:t>
                        </m:r>
                      </m:sub>
                    </m:sSub>
                  </m:oMath>
                </a14:m>
                <a:r>
                  <a:rPr lang="zh-CN" altLang="en-US" dirty="0"/>
                  <a:t>是第</a:t>
                </a:r>
                <a:r>
                  <a:rPr lang="en-US" altLang="zh-CN" dirty="0"/>
                  <a:t>i</a:t>
                </a:r>
                <a:r>
                  <a:rPr lang="zh-CN" altLang="en-US" dirty="0"/>
                  <a:t>个样本的真实值，</a:t>
                </a:r>
                <a14:m>
                  <m:oMath xmlns:m="http://schemas.openxmlformats.org/officeDocument/2006/math">
                    <m:acc>
                      <m:accPr>
                        <m:chr m:val="̂"/>
                        <m:ctrlPr>
                          <a:rPr lang="zh-CN" altLang="en-US"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e>
                    </m:acc>
                  </m:oMath>
                </a14:m>
                <a:r>
                  <a:rPr lang="zh-CN" altLang="en-US" dirty="0"/>
                  <a:t>是第</a:t>
                </a:r>
                <a:r>
                  <a:rPr lang="en-US" altLang="zh-CN" dirty="0"/>
                  <a:t>i</a:t>
                </a:r>
                <a:r>
                  <a:rPr lang="zh-CN" altLang="en-US" dirty="0"/>
                  <a:t>个样本的预测值，</a:t>
                </a:r>
                <a:r>
                  <a:rPr lang="en-US" altLang="zh-CN" dirty="0"/>
                  <a:t>m</a:t>
                </a:r>
                <a:r>
                  <a:rPr lang="zh-CN" altLang="en-US" dirty="0"/>
                  <a:t>是样本总数，最小二乘法的目标是使所有样本的预测误差平方和最小。</a:t>
                </a:r>
                <a:endParaRPr lang="en-US" altLang="zh-CN" dirty="0"/>
              </a:p>
              <a:p>
                <a:pPr>
                  <a:lnSpc>
                    <a:spcPct val="150000"/>
                  </a:lnSpc>
                </a:pPr>
                <a:endParaRPr lang="en-US" altLang="zh-CN" dirty="0"/>
              </a:p>
            </p:txBody>
          </p:sp>
        </mc:Choice>
        <mc:Fallback xmlns="">
          <p:sp>
            <p:nvSpPr>
              <p:cNvPr id="2" name="文本框 1">
                <a:extLst>
                  <a:ext uri="{FF2B5EF4-FFF2-40B4-BE49-F238E27FC236}">
                    <a16:creationId xmlns:a16="http://schemas.microsoft.com/office/drawing/2014/main" id="{66087F76-69BD-9DFF-CF36-339E06041414}"/>
                  </a:ext>
                </a:extLst>
              </p:cNvPr>
              <p:cNvSpPr txBox="1">
                <a:spLocks noRot="1" noChangeAspect="1" noMove="1" noResize="1" noEditPoints="1" noAdjustHandles="1" noChangeArrowheads="1" noChangeShapeType="1" noTextEdit="1"/>
              </p:cNvSpPr>
              <p:nvPr/>
            </p:nvSpPr>
            <p:spPr>
              <a:xfrm>
                <a:off x="1103947" y="4296248"/>
                <a:ext cx="9379963" cy="2126031"/>
              </a:xfrm>
              <a:prstGeom prst="rect">
                <a:avLst/>
              </a:prstGeom>
              <a:blipFill>
                <a:blip r:embed="rId4"/>
                <a:stretch>
                  <a:fillRect l="-520" r="-6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19E53-7E83-B82E-7BCD-4B815783A15A}"/>
            </a:ext>
          </a:extLst>
        </p:cNvPr>
        <p:cNvGrpSpPr/>
        <p:nvPr/>
      </p:nvGrpSpPr>
      <p:grpSpPr>
        <a:xfrm>
          <a:off x="0" y="0"/>
          <a:ext cx="0" cy="0"/>
          <a:chOff x="0" y="0"/>
          <a:chExt cx="0" cy="0"/>
        </a:xfrm>
      </p:grpSpPr>
      <p:sp>
        <p:nvSpPr>
          <p:cNvPr id="7" name="Rectangle 3">
            <a:extLst>
              <a:ext uri="{FF2B5EF4-FFF2-40B4-BE49-F238E27FC236}">
                <a16:creationId xmlns:a16="http://schemas.microsoft.com/office/drawing/2014/main" id="{B46843F8-EE13-A627-60FD-90912FDC2C3B}"/>
              </a:ext>
            </a:extLst>
          </p:cNvPr>
          <p:cNvSpPr txBox="1">
            <a:spLocks noChangeArrowheads="1"/>
          </p:cNvSpPr>
          <p:nvPr/>
        </p:nvSpPr>
        <p:spPr>
          <a:xfrm>
            <a:off x="1200951" y="1221374"/>
            <a:ext cx="3511636" cy="65297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eaLnBrk="1" hangingPunct="1">
              <a:lnSpc>
                <a:spcPct val="120000"/>
              </a:lnSpc>
              <a:buFontTx/>
              <a:buNone/>
            </a:pPr>
            <a:r>
              <a:rPr lang="zh-CN" altLang="en-US" sz="2400" dirty="0">
                <a:latin typeface="微软雅黑" panose="020B0503020204020204" pitchFamily="34" charset="-122"/>
                <a:ea typeface="微软雅黑" panose="020B0503020204020204" pitchFamily="34" charset="-122"/>
              </a:rPr>
              <a:t>衡量标准</a:t>
            </a:r>
            <a:endParaRPr lang="en-US" altLang="zh-CN" sz="2400" dirty="0">
              <a:latin typeface="微软雅黑" panose="020B0503020204020204" pitchFamily="34" charset="-122"/>
              <a:ea typeface="微软雅黑" panose="020B0503020204020204" pitchFamily="34" charset="-122"/>
            </a:endParaRPr>
          </a:p>
        </p:txBody>
      </p:sp>
      <p:sp>
        <p:nvSpPr>
          <p:cNvPr id="8" name="文本占位符 1">
            <a:extLst>
              <a:ext uri="{FF2B5EF4-FFF2-40B4-BE49-F238E27FC236}">
                <a16:creationId xmlns:a16="http://schemas.microsoft.com/office/drawing/2014/main" id="{9E689C3C-AAFF-5B24-C763-897911BB17A5}"/>
              </a:ext>
            </a:extLst>
          </p:cNvPr>
          <p:cNvSpPr>
            <a:spLocks noGrp="1"/>
          </p:cNvSpPr>
          <p:nvPr>
            <p:ph type="body" sz="quarter" idx="13"/>
          </p:nvPr>
        </p:nvSpPr>
        <p:spPr>
          <a:xfrm>
            <a:off x="445068" y="215129"/>
            <a:ext cx="3081907" cy="417513"/>
          </a:xfrm>
        </p:spPr>
        <p:txBody>
          <a:bodyPr/>
          <a:lstStyle/>
          <a:p>
            <a:r>
              <a:rPr lang="zh-CN" altLang="en-US" sz="2400" b="1" dirty="0">
                <a:solidFill>
                  <a:srgbClr val="FF0000"/>
                </a:solidFill>
              </a:rPr>
              <a:t>单变量线性回归实践</a:t>
            </a:r>
          </a:p>
        </p:txBody>
      </p:sp>
      <p:pic>
        <p:nvPicPr>
          <p:cNvPr id="9" name="图片 8">
            <a:extLst>
              <a:ext uri="{FF2B5EF4-FFF2-40B4-BE49-F238E27FC236}">
                <a16:creationId xmlns:a16="http://schemas.microsoft.com/office/drawing/2014/main" id="{EAF7624B-538C-2C16-461B-D8C0878686E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2BF81A0-1663-ADF9-4525-141B97CBAF72}"/>
                  </a:ext>
                </a:extLst>
              </p:cNvPr>
              <p:cNvSpPr txBox="1"/>
              <p:nvPr/>
            </p:nvSpPr>
            <p:spPr>
              <a:xfrm>
                <a:off x="1330370" y="1921063"/>
                <a:ext cx="9379963" cy="390921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solidFill>
                      <a:srgbClr val="FF0000"/>
                    </a:solidFill>
                  </a:rPr>
                  <a:t>均方误差</a:t>
                </a:r>
                <a:r>
                  <a:rPr lang="en-US" altLang="zh-CN" dirty="0">
                    <a:solidFill>
                      <a:srgbClr val="FF0000"/>
                    </a:solidFill>
                  </a:rPr>
                  <a:t>(</a:t>
                </a:r>
                <a:r>
                  <a:rPr lang="zh-CN" altLang="en-US" dirty="0">
                    <a:solidFill>
                      <a:srgbClr val="FF0000"/>
                    </a:solidFill>
                  </a:rPr>
                  <a:t>平均损失函数</a:t>
                </a:r>
                <a:r>
                  <a:rPr lang="en-US" altLang="zh-CN" dirty="0">
                    <a:solidFill>
                      <a:srgbClr val="FF0000"/>
                    </a:solidFill>
                  </a:rPr>
                  <a:t>)</a:t>
                </a:r>
              </a:p>
              <a:p>
                <a:pPr>
                  <a:lnSpc>
                    <a:spcPct val="150000"/>
                  </a:lnSpc>
                </a:pPr>
                <a:r>
                  <a:rPr lang="en-US" altLang="zh-CN" dirty="0"/>
                  <a:t>	</a:t>
                </a:r>
                <a14:m>
                  <m:oMath xmlns:m="http://schemas.openxmlformats.org/officeDocument/2006/math">
                    <m:r>
                      <m:rPr>
                        <m:sty m:val="p"/>
                      </m:rPr>
                      <a:rPr lang="en-US" altLang="zh-CN" i="1" dirty="0">
                        <a:latin typeface="Cambria Math" panose="02040503050406030204" pitchFamily="18" charset="0"/>
                      </a:rPr>
                      <m:t>MSE</m:t>
                    </m:r>
                  </m:oMath>
                </a14:m>
                <a:r>
                  <a:rPr lang="zh-CN" altLang="en-US" dirty="0"/>
                  <a:t> </a:t>
                </a:r>
                <a:r>
                  <a:rPr lang="en-US" altLang="zh-CN" dirty="0"/>
                  <a:t>= </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m:rPr>
                            <m:sty m:val="p"/>
                          </m:rPr>
                          <a:rPr lang="en-US" altLang="zh-CN" i="1">
                            <a:latin typeface="Cambria Math" panose="02040503050406030204" pitchFamily="18" charset="0"/>
                          </a:rPr>
                          <m:t>m</m:t>
                        </m:r>
                      </m:den>
                    </m:f>
                    <m:nary>
                      <m:naryPr>
                        <m:chr m:val="∑"/>
                        <m:limLoc m:val="subSup"/>
                        <m:ctrlPr>
                          <a:rPr lang="en-US" altLang="zh-CN" i="1">
                            <a:latin typeface="Cambria Math" panose="02040503050406030204" pitchFamily="18" charset="0"/>
                          </a:rPr>
                        </m:ctrlPr>
                      </m:naryPr>
                      <m:sub>
                        <m:r>
                          <m:rPr>
                            <m:sty m:val="p"/>
                            <m:brk m:alnAt="25"/>
                          </m:rPr>
                          <a:rPr lang="en-US" altLang="zh-CN" i="1">
                            <a:latin typeface="Cambria Math" panose="02040503050406030204" pitchFamily="18" charset="0"/>
                          </a:rPr>
                          <m:t>i</m:t>
                        </m:r>
                        <m:r>
                          <a:rPr lang="en-US" altLang="zh-CN" i="1">
                            <a:latin typeface="Cambria Math" panose="02040503050406030204" pitchFamily="18" charset="0"/>
                          </a:rPr>
                          <m:t>=1</m:t>
                        </m:r>
                      </m:sub>
                      <m:sup>
                        <m:r>
                          <a:rPr lang="en-US" altLang="zh-CN" i="1">
                            <a:latin typeface="Cambria Math" panose="02040503050406030204" pitchFamily="18" charset="0"/>
                          </a:rPr>
                          <m:t>𝑚</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e>
                        </m:acc>
                      </m:e>
                    </m:nary>
                    <m:sSup>
                      <m:sSupPr>
                        <m:ctrlPr>
                          <a:rPr lang="en-US" altLang="zh-CN" i="1">
                            <a:latin typeface="Cambria Math" panose="02040503050406030204" pitchFamily="18" charset="0"/>
                          </a:rPr>
                        </m:ctrlPr>
                      </m:sSupPr>
                      <m:e>
                        <m:r>
                          <a:rPr lang="en-US" altLang="zh-CN" i="1">
                            <a:latin typeface="Cambria Math" panose="02040503050406030204" pitchFamily="18" charset="0"/>
                          </a:rPr>
                          <m:t>)</m:t>
                        </m:r>
                      </m:e>
                      <m:sup>
                        <m:r>
                          <a:rPr lang="en-US" altLang="zh-CN" i="1">
                            <a:latin typeface="Cambria Math" panose="02040503050406030204" pitchFamily="18" charset="0"/>
                          </a:rPr>
                          <m:t>2</m:t>
                        </m:r>
                      </m:sup>
                    </m:sSup>
                  </m:oMath>
                </a14:m>
                <a:endParaRPr lang="en-US" altLang="zh-CN" dirty="0">
                  <a:solidFill>
                    <a:srgbClr val="FF0000"/>
                  </a:solidFill>
                </a:endParaRPr>
              </a:p>
              <a:p>
                <a:pPr>
                  <a:lnSpc>
                    <a:spcPct val="150000"/>
                  </a:lnSpc>
                </a:pPr>
                <a:r>
                  <a:rPr lang="en-US" altLang="zh-CN" dirty="0"/>
                  <a:t>MSE</a:t>
                </a:r>
                <a:r>
                  <a:rPr lang="zh-CN" altLang="en-US" dirty="0"/>
                  <a:t>预测误差平方和的平均值，它对误差的惩罚力度较大，尤其是对较大的误差更为敏感。</a:t>
                </a:r>
                <a:endParaRPr lang="en-US" altLang="zh-CN" dirty="0"/>
              </a:p>
              <a:p>
                <a:pPr>
                  <a:lnSpc>
                    <a:spcPct val="150000"/>
                  </a:lnSpc>
                </a:pPr>
                <a:endParaRPr lang="zh-CN" altLang="en-US" dirty="0">
                  <a:solidFill>
                    <a:srgbClr val="FF0000"/>
                  </a:solidFill>
                </a:endParaRPr>
              </a:p>
              <a:p>
                <a:pPr marL="285750" indent="-285750">
                  <a:lnSpc>
                    <a:spcPct val="150000"/>
                  </a:lnSpc>
                  <a:buFont typeface="Wingdings" panose="05000000000000000000" pitchFamily="2" charset="2"/>
                  <a:buChar char="Ø"/>
                </a:pPr>
                <a:r>
                  <a:rPr lang="zh-CN" altLang="en-US" dirty="0">
                    <a:solidFill>
                      <a:srgbClr val="FF0000"/>
                    </a:solidFill>
                  </a:rPr>
                  <a:t>决定系数</a:t>
                </a:r>
                <a14:m>
                  <m:oMath xmlns:m="http://schemas.openxmlformats.org/officeDocument/2006/math">
                    <m:sSup>
                      <m:sSupPr>
                        <m:ctrlPr>
                          <a:rPr lang="en-US" altLang="zh-CN" i="1" smtClean="0">
                            <a:solidFill>
                              <a:srgbClr val="FF0000"/>
                            </a:solidFill>
                            <a:latin typeface="Cambria Math" panose="02040503050406030204" pitchFamily="18" charset="0"/>
                          </a:rPr>
                        </m:ctrlPr>
                      </m:sSupPr>
                      <m:e>
                        <m:r>
                          <m:rPr>
                            <m:sty m:val="p"/>
                          </m:rPr>
                          <a:rPr lang="en-US" altLang="zh-CN" i="1">
                            <a:solidFill>
                              <a:srgbClr val="FF0000"/>
                            </a:solidFill>
                            <a:latin typeface="Cambria Math" panose="02040503050406030204" pitchFamily="18" charset="0"/>
                          </a:rPr>
                          <m:t>R</m:t>
                        </m:r>
                      </m:e>
                      <m:sup>
                        <m:r>
                          <a:rPr lang="en-US" altLang="zh-CN" b="0" i="1" smtClean="0">
                            <a:solidFill>
                              <a:srgbClr val="FF0000"/>
                            </a:solidFill>
                            <a:latin typeface="Cambria Math" panose="02040503050406030204" pitchFamily="18" charset="0"/>
                          </a:rPr>
                          <m:t>2</m:t>
                        </m:r>
                      </m:sup>
                    </m:sSup>
                  </m:oMath>
                </a14:m>
                <a:endParaRPr lang="en-US" altLang="zh-CN" dirty="0">
                  <a:solidFill>
                    <a:srgbClr val="FF0000"/>
                  </a:solidFill>
                </a:endParaRPr>
              </a:p>
              <a:p>
                <a:pPr>
                  <a:lnSpc>
                    <a:spcPct val="150000"/>
                  </a:lnSpc>
                </a:pPr>
                <a:r>
                  <a:rPr lang="en-US" altLang="zh-CN" dirty="0"/>
                  <a:t>       	</a:t>
                </a:r>
                <a14:m>
                  <m:oMath xmlns:m="http://schemas.openxmlformats.org/officeDocument/2006/math">
                    <m:sSup>
                      <m:sSupPr>
                        <m:ctrlPr>
                          <a:rPr lang="en-US" altLang="zh-CN" i="1">
                            <a:solidFill>
                              <a:srgbClr val="FF0000"/>
                            </a:solidFill>
                            <a:latin typeface="Cambria Math" panose="02040503050406030204" pitchFamily="18" charset="0"/>
                          </a:rPr>
                        </m:ctrlPr>
                      </m:sSupPr>
                      <m:e>
                        <m:r>
                          <m:rPr>
                            <m:sty m:val="p"/>
                          </m:rPr>
                          <a:rPr lang="en-US" altLang="zh-CN" i="1">
                            <a:solidFill>
                              <a:srgbClr val="FF0000"/>
                            </a:solidFill>
                            <a:latin typeface="Cambria Math" panose="02040503050406030204" pitchFamily="18" charset="0"/>
                          </a:rPr>
                          <m:t>R</m:t>
                        </m:r>
                      </m:e>
                      <m:sup>
                        <m:r>
                          <a:rPr lang="en-US" altLang="zh-CN" i="1">
                            <a:solidFill>
                              <a:srgbClr val="FF0000"/>
                            </a:solidFill>
                            <a:latin typeface="Cambria Math" panose="02040503050406030204" pitchFamily="18" charset="0"/>
                          </a:rPr>
                          <m:t>2</m:t>
                        </m:r>
                      </m:sup>
                    </m:sSup>
                  </m:oMath>
                </a14:m>
                <a:r>
                  <a:rPr lang="zh-CN" altLang="en-US" dirty="0"/>
                  <a:t> </a:t>
                </a:r>
                <a:r>
                  <a:rPr lang="en-US" altLang="zh-CN" dirty="0"/>
                  <a:t>= 1 - </a:t>
                </a:r>
                <a14:m>
                  <m:oMath xmlns:m="http://schemas.openxmlformats.org/officeDocument/2006/math">
                    <m:f>
                      <m:fPr>
                        <m:ctrlPr>
                          <a:rPr lang="en-US" altLang="zh-CN" sz="2800" i="1" smtClean="0">
                            <a:latin typeface="Cambria Math" panose="02040503050406030204" pitchFamily="18" charset="0"/>
                          </a:rPr>
                        </m:ctrlPr>
                      </m:fPr>
                      <m:num>
                        <m:nary>
                          <m:naryPr>
                            <m:chr m:val="∑"/>
                            <m:limLoc m:val="subSup"/>
                            <m:ctrlPr>
                              <a:rPr lang="en-US" altLang="zh-CN" sz="2800" i="1">
                                <a:latin typeface="Cambria Math" panose="02040503050406030204" pitchFamily="18" charset="0"/>
                              </a:rPr>
                            </m:ctrlPr>
                          </m:naryPr>
                          <m:sub>
                            <m:r>
                              <m:rPr>
                                <m:sty m:val="p"/>
                                <m:brk m:alnAt="25"/>
                              </m:rPr>
                              <a:rPr lang="en-US" altLang="zh-CN" sz="2800" i="1">
                                <a:latin typeface="Cambria Math" panose="02040503050406030204" pitchFamily="18" charset="0"/>
                              </a:rPr>
                              <m:t>i</m:t>
                            </m:r>
                            <m:r>
                              <a:rPr lang="en-US" altLang="zh-CN" sz="2800" i="1">
                                <a:latin typeface="Cambria Math" panose="02040503050406030204" pitchFamily="18" charset="0"/>
                              </a:rPr>
                              <m:t>=1</m:t>
                            </m:r>
                          </m:sub>
                          <m:sup>
                            <m:r>
                              <a:rPr lang="en-US" altLang="zh-CN" sz="2800" i="1">
                                <a:latin typeface="Cambria Math" panose="02040503050406030204" pitchFamily="18" charset="0"/>
                              </a:rPr>
                              <m:t>𝑚</m:t>
                            </m:r>
                          </m:sup>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m:t>
                                </m:r>
                                <m:acc>
                                  <m:accPr>
                                    <m:chr m:val="̂"/>
                                    <m:ctrlPr>
                                      <a:rPr lang="en-US" altLang="zh-CN" sz="2800" i="1">
                                        <a:latin typeface="Cambria Math" panose="02040503050406030204" pitchFamily="18" charset="0"/>
                                      </a:rPr>
                                    </m:ctrlPr>
                                  </m:acc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𝑖</m:t>
                                        </m:r>
                                      </m:sub>
                                    </m:sSub>
                                  </m:e>
                                </m:acc>
                                <m:r>
                                  <a:rPr lang="en-US" altLang="zh-CN" sz="2800" i="1">
                                    <a:latin typeface="Cambria Math" panose="02040503050406030204" pitchFamily="18" charset="0"/>
                                  </a:rPr>
                                  <m:t>−</m:t>
                                </m:r>
                                <m:r>
                                  <a:rPr lang="en-US" altLang="zh-CN" sz="2800" i="1">
                                    <a:latin typeface="Cambria Math" panose="02040503050406030204" pitchFamily="18" charset="0"/>
                                  </a:rPr>
                                  <m:t>𝑦</m:t>
                                </m:r>
                              </m:e>
                              <m:sub>
                                <m:r>
                                  <a:rPr lang="en-US" altLang="zh-CN" sz="2800" i="1">
                                    <a:latin typeface="Cambria Math" panose="02040503050406030204" pitchFamily="18" charset="0"/>
                                  </a:rPr>
                                  <m:t>𝑖</m:t>
                                </m:r>
                              </m:sub>
                            </m:sSub>
                          </m:e>
                        </m:nary>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2</m:t>
                            </m:r>
                          </m:sup>
                        </m:sSup>
                      </m:num>
                      <m:den>
                        <m:nary>
                          <m:naryPr>
                            <m:chr m:val="∑"/>
                            <m:limLoc m:val="subSup"/>
                            <m:ctrlPr>
                              <a:rPr lang="en-US" altLang="zh-CN" sz="2800" i="1" smtClean="0">
                                <a:latin typeface="Cambria Math" panose="02040503050406030204" pitchFamily="18" charset="0"/>
                              </a:rPr>
                            </m:ctrlPr>
                          </m:naryPr>
                          <m:sub>
                            <m:r>
                              <m:rPr>
                                <m:sty m:val="p"/>
                                <m:brk m:alnAt="25"/>
                              </m:rPr>
                              <a:rPr lang="en-US" altLang="zh-CN" sz="2800" i="1">
                                <a:latin typeface="Cambria Math" panose="02040503050406030204" pitchFamily="18" charset="0"/>
                              </a:rPr>
                              <m:t>i</m:t>
                            </m:r>
                            <m:r>
                              <a:rPr lang="en-US" altLang="zh-CN" sz="2800" i="1">
                                <a:latin typeface="Cambria Math" panose="02040503050406030204" pitchFamily="18" charset="0"/>
                              </a:rPr>
                              <m:t>=1</m:t>
                            </m:r>
                          </m:sub>
                          <m:sup>
                            <m:r>
                              <a:rPr lang="en-US" altLang="zh-CN" sz="2800" i="1">
                                <a:latin typeface="Cambria Math" panose="02040503050406030204" pitchFamily="18" charset="0"/>
                              </a:rPr>
                              <m:t>𝑚</m:t>
                            </m:r>
                          </m:sup>
                          <m:e>
                            <m:sSub>
                              <m:sSubPr>
                                <m:ctrlPr>
                                  <a:rPr lang="en-US" altLang="zh-CN" sz="2800" i="1" smtClean="0">
                                    <a:latin typeface="Cambria Math" panose="02040503050406030204" pitchFamily="18" charset="0"/>
                                  </a:rPr>
                                </m:ctrlPr>
                              </m:sSubPr>
                              <m:e>
                                <m:r>
                                  <a:rPr lang="en-US" altLang="zh-CN" sz="2800" i="1">
                                    <a:latin typeface="Cambria Math" panose="02040503050406030204" pitchFamily="18" charset="0"/>
                                  </a:rPr>
                                  <m:t>(</m:t>
                                </m:r>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b="0" i="1" smtClean="0">
                                        <a:latin typeface="Cambria Math" panose="02040503050406030204" pitchFamily="18" charset="0"/>
                                      </a:rPr>
                                      <m:t>𝑖</m:t>
                                    </m:r>
                                  </m:sub>
                                </m:sSub>
                                <m:r>
                                  <a:rPr lang="en-US" altLang="zh-CN" sz="2800" i="1">
                                    <a:latin typeface="Cambria Math" panose="02040503050406030204" pitchFamily="18" charset="0"/>
                                  </a:rPr>
                                  <m:t>−</m:t>
                                </m:r>
                              </m:e>
                              <m:sub>
                                <m:acc>
                                  <m:accPr>
                                    <m:chr m:val="̅"/>
                                    <m:ctrlPr>
                                      <a:rPr lang="en-US" altLang="zh-CN" sz="2800" i="1" smtClean="0">
                                        <a:latin typeface="Cambria Math" panose="02040503050406030204" pitchFamily="18" charset="0"/>
                                      </a:rPr>
                                    </m:ctrlPr>
                                  </m:accPr>
                                  <m:e>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b="0" i="1" smtClean="0">
                                            <a:latin typeface="Cambria Math" panose="02040503050406030204" pitchFamily="18" charset="0"/>
                                          </a:rPr>
                                          <m:t>𝑖</m:t>
                                        </m:r>
                                      </m:sub>
                                    </m:sSub>
                                  </m:e>
                                </m:acc>
                              </m:sub>
                            </m:sSub>
                          </m:e>
                        </m:nary>
                        <m:sSup>
                          <m:sSupPr>
                            <m:ctrlPr>
                              <a:rPr lang="en-US" altLang="zh-CN" sz="2800" i="1" smtClean="0">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2</m:t>
                            </m:r>
                          </m:sup>
                        </m:sSup>
                      </m:den>
                    </m:f>
                  </m:oMath>
                </a14:m>
                <a:endParaRPr lang="en-US" altLang="zh-CN" sz="2800" dirty="0"/>
              </a:p>
              <a:p>
                <a:pPr>
                  <a:lnSpc>
                    <a:spcPct val="150000"/>
                  </a:lnSpc>
                </a:pPr>
                <a:r>
                  <a:rPr lang="en-US" altLang="zh-CN" dirty="0"/>
                  <a:t>R²</a:t>
                </a:r>
                <a:r>
                  <a:rPr lang="zh-CN" altLang="zh-CN" dirty="0"/>
                  <a:t>越接近</a:t>
                </a:r>
                <a:r>
                  <a:rPr lang="en-US" altLang="zh-CN" dirty="0"/>
                  <a:t>1</a:t>
                </a:r>
                <a:r>
                  <a:rPr lang="zh-CN" altLang="zh-CN" dirty="0"/>
                  <a:t>，说明模型</a:t>
                </a:r>
                <a:r>
                  <a:rPr lang="zh-CN" altLang="en-US" dirty="0"/>
                  <a:t>越</a:t>
                </a:r>
                <a:r>
                  <a:rPr lang="zh-CN" altLang="zh-CN" dirty="0"/>
                  <a:t>好，拟合效果越好。</a:t>
                </a:r>
                <a:endParaRPr lang="en-US" altLang="zh-CN" dirty="0"/>
              </a:p>
            </p:txBody>
          </p:sp>
        </mc:Choice>
        <mc:Fallback xmlns="">
          <p:sp>
            <p:nvSpPr>
              <p:cNvPr id="16" name="文本框 15">
                <a:extLst>
                  <a:ext uri="{FF2B5EF4-FFF2-40B4-BE49-F238E27FC236}">
                    <a16:creationId xmlns:a16="http://schemas.microsoft.com/office/drawing/2014/main" id="{02BF81A0-1663-ADF9-4525-141B97CBAF72}"/>
                  </a:ext>
                </a:extLst>
              </p:cNvPr>
              <p:cNvSpPr txBox="1">
                <a:spLocks noRot="1" noChangeAspect="1" noMove="1" noResize="1" noEditPoints="1" noAdjustHandles="1" noChangeArrowheads="1" noChangeShapeType="1" noTextEdit="1"/>
              </p:cNvSpPr>
              <p:nvPr/>
            </p:nvSpPr>
            <p:spPr>
              <a:xfrm>
                <a:off x="1330370" y="1921063"/>
                <a:ext cx="9379963" cy="3909212"/>
              </a:xfrm>
              <a:prstGeom prst="rect">
                <a:avLst/>
              </a:prstGeom>
              <a:blipFill>
                <a:blip r:embed="rId4"/>
                <a:stretch>
                  <a:fillRect l="-520" r="-585" b="-17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86121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1"/>
          <p:cNvSpPr>
            <a:spLocks noGrp="1"/>
          </p:cNvSpPr>
          <p:nvPr>
            <p:ph type="body" sz="quarter" idx="13"/>
          </p:nvPr>
        </p:nvSpPr>
        <p:spPr>
          <a:xfrm>
            <a:off x="0" y="237006"/>
            <a:ext cx="3683831" cy="417513"/>
          </a:xfrm>
        </p:spPr>
        <p:txBody>
          <a:bodyPr/>
          <a:lstStyle/>
          <a:p>
            <a:r>
              <a:rPr lang="en-US" altLang="zh-CN" sz="2400" b="1" dirty="0">
                <a:solidFill>
                  <a:srgbClr val="FF0000"/>
                </a:solidFill>
              </a:rPr>
              <a:t>    </a:t>
            </a:r>
            <a:r>
              <a:rPr lang="zh-CN" altLang="en-US" sz="2400" b="1" dirty="0">
                <a:solidFill>
                  <a:srgbClr val="FF0000"/>
                </a:solidFill>
              </a:rPr>
              <a:t>单变量线性回归实践</a:t>
            </a:r>
          </a:p>
        </p:txBody>
      </p:sp>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p:pic>
        <p:nvPicPr>
          <p:cNvPr id="13" name="图片 12">
            <a:extLst>
              <a:ext uri="{FF2B5EF4-FFF2-40B4-BE49-F238E27FC236}">
                <a16:creationId xmlns:a16="http://schemas.microsoft.com/office/drawing/2014/main" id="{BED5CA1A-CF64-8E0C-C130-BF418CED80DE}"/>
              </a:ext>
            </a:extLst>
          </p:cNvPr>
          <p:cNvPicPr>
            <a:picLocks noChangeAspect="1"/>
          </p:cNvPicPr>
          <p:nvPr/>
        </p:nvPicPr>
        <p:blipFill>
          <a:blip r:embed="rId4"/>
          <a:stretch>
            <a:fillRect/>
          </a:stretch>
        </p:blipFill>
        <p:spPr>
          <a:xfrm>
            <a:off x="1330370" y="3249680"/>
            <a:ext cx="4528042" cy="2340236"/>
          </a:xfrm>
          <a:prstGeom prst="rect">
            <a:avLst/>
          </a:prstGeom>
        </p:spPr>
      </p:pic>
      <p:pic>
        <p:nvPicPr>
          <p:cNvPr id="15" name="图片 14">
            <a:extLst>
              <a:ext uri="{FF2B5EF4-FFF2-40B4-BE49-F238E27FC236}">
                <a16:creationId xmlns:a16="http://schemas.microsoft.com/office/drawing/2014/main" id="{74730DBE-C698-AAE4-5828-4FFAEA003A24}"/>
              </a:ext>
            </a:extLst>
          </p:cNvPr>
          <p:cNvPicPr>
            <a:picLocks noChangeAspect="1"/>
          </p:cNvPicPr>
          <p:nvPr/>
        </p:nvPicPr>
        <p:blipFill>
          <a:blip r:embed="rId5"/>
          <a:stretch>
            <a:fillRect/>
          </a:stretch>
        </p:blipFill>
        <p:spPr>
          <a:xfrm>
            <a:off x="6035557" y="2352489"/>
            <a:ext cx="5860672" cy="3827664"/>
          </a:xfrm>
          <a:prstGeom prst="rect">
            <a:avLst/>
          </a:prstGeom>
        </p:spPr>
      </p:pic>
      <p:sp>
        <p:nvSpPr>
          <p:cNvPr id="2" name="Rectangle 3">
            <a:extLst>
              <a:ext uri="{FF2B5EF4-FFF2-40B4-BE49-F238E27FC236}">
                <a16:creationId xmlns:a16="http://schemas.microsoft.com/office/drawing/2014/main" id="{998CA7C6-6E3B-D486-1423-F4F268EF33CF}"/>
              </a:ext>
            </a:extLst>
          </p:cNvPr>
          <p:cNvSpPr txBox="1">
            <a:spLocks noChangeArrowheads="1"/>
          </p:cNvSpPr>
          <p:nvPr/>
        </p:nvSpPr>
        <p:spPr>
          <a:xfrm>
            <a:off x="1200951" y="1221374"/>
            <a:ext cx="3511636" cy="65297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eaLnBrk="1" hangingPunct="1">
              <a:lnSpc>
                <a:spcPct val="120000"/>
              </a:lnSpc>
              <a:buFontTx/>
              <a:buNone/>
            </a:pPr>
            <a:r>
              <a:rPr lang="zh-CN" altLang="en-US" sz="2400" dirty="0">
                <a:latin typeface="微软雅黑" panose="020B0503020204020204" pitchFamily="34" charset="-122"/>
                <a:ea typeface="微软雅黑" panose="020B0503020204020204" pitchFamily="34" charset="-122"/>
              </a:rPr>
              <a:t>实践</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广告投放</a:t>
            </a:r>
            <a:endParaRPr lang="en-US" altLang="zh-CN" sz="240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00BB09B2-8A24-D9C3-C29F-37F8838BD7CA}"/>
              </a:ext>
            </a:extLst>
          </p:cNvPr>
          <p:cNvSpPr txBox="1"/>
          <p:nvPr/>
        </p:nvSpPr>
        <p:spPr>
          <a:xfrm>
            <a:off x="1331237" y="2423777"/>
            <a:ext cx="4705187" cy="646331"/>
          </a:xfrm>
          <a:prstGeom prst="rect">
            <a:avLst/>
          </a:prstGeom>
          <a:noFill/>
        </p:spPr>
        <p:txBody>
          <a:bodyPr wrap="square" rtlCol="0">
            <a:spAutoFit/>
          </a:bodyPr>
          <a:lstStyle/>
          <a:p>
            <a:r>
              <a:rPr lang="zh-CN" altLang="zh-CN" dirty="0"/>
              <a:t>最小二乘法数学推导已经被封装成了一个非常简单的动作：</a:t>
            </a:r>
            <a:r>
              <a:rPr lang="en-US" altLang="zh-CN" dirty="0">
                <a:latin typeface="Times New Roman" panose="02020603050405020304" pitchFamily="18" charset="0"/>
                <a:cs typeface="Times New Roman" panose="02020603050405020304" pitchFamily="18" charset="0"/>
              </a:rPr>
              <a:t>.fit()</a:t>
            </a:r>
            <a:r>
              <a:rPr lang="zh-CN" altLang="zh-CN" dirty="0"/>
              <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4722-745C-E903-E18C-9A693A52656A}"/>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D6101E7C-EFBB-1D06-2FCF-FEAF9C695B84}"/>
              </a:ext>
            </a:extLst>
          </p:cNvPr>
          <p:cNvSpPr>
            <a:spLocks noGrp="1"/>
          </p:cNvSpPr>
          <p:nvPr>
            <p:ph type="body" sz="quarter" idx="13"/>
          </p:nvPr>
        </p:nvSpPr>
        <p:spPr>
          <a:xfrm>
            <a:off x="222250" y="239342"/>
            <a:ext cx="3304540" cy="417830"/>
          </a:xfrm>
        </p:spPr>
        <p:txBody>
          <a:bodyPr/>
          <a:lstStyle/>
          <a:p>
            <a:r>
              <a:rPr lang="zh-CN" altLang="en-US" sz="2400" b="1" dirty="0">
                <a:solidFill>
                  <a:srgbClr val="FF0000"/>
                </a:solidFill>
              </a:rPr>
              <a:t>单变量线性回归实践</a:t>
            </a:r>
          </a:p>
        </p:txBody>
      </p:sp>
      <p:sp>
        <p:nvSpPr>
          <p:cNvPr id="3" name="文本框 2">
            <a:extLst>
              <a:ext uri="{FF2B5EF4-FFF2-40B4-BE49-F238E27FC236}">
                <a16:creationId xmlns:a16="http://schemas.microsoft.com/office/drawing/2014/main" id="{F5D58E68-92BA-57A6-1D4C-709FF326DC7E}"/>
              </a:ext>
            </a:extLst>
          </p:cNvPr>
          <p:cNvSpPr txBox="1"/>
          <p:nvPr/>
        </p:nvSpPr>
        <p:spPr>
          <a:xfrm>
            <a:off x="1520890" y="1268981"/>
            <a:ext cx="6559421" cy="497957"/>
          </a:xfrm>
          <a:prstGeom prst="rect">
            <a:avLst/>
          </a:prstGeom>
          <a:noFill/>
        </p:spPr>
        <p:txBody>
          <a:bodyPr wrap="square" rtlCol="0">
            <a:spAutoFit/>
          </a:bodyPr>
          <a:lstStyle/>
          <a:p>
            <a:pPr indent="0" eaLnBrk="1" hangingPunct="1">
              <a:lnSpc>
                <a:spcPct val="120000"/>
              </a:lnSpc>
              <a:buFontTx/>
              <a:buNone/>
            </a:pPr>
            <a:r>
              <a:rPr lang="zh-CN" altLang="en-US" sz="2400" dirty="0">
                <a:latin typeface="微软雅黑" panose="020B0503020204020204" pitchFamily="34" charset="-122"/>
                <a:ea typeface="微软雅黑" panose="020B0503020204020204" pitchFamily="34" charset="-122"/>
              </a:rPr>
              <a:t>实践</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广告投放</a:t>
            </a:r>
            <a:endParaRPr lang="en-US" altLang="zh-CN" sz="240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0B063053-E159-ACE1-A336-B801E0B2CF8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p:pic>
        <p:nvPicPr>
          <p:cNvPr id="6" name="图片 5">
            <a:extLst>
              <a:ext uri="{FF2B5EF4-FFF2-40B4-BE49-F238E27FC236}">
                <a16:creationId xmlns:a16="http://schemas.microsoft.com/office/drawing/2014/main" id="{DAFE6761-B1A7-118C-2045-EBFA7F37BD85}"/>
              </a:ext>
            </a:extLst>
          </p:cNvPr>
          <p:cNvPicPr>
            <a:picLocks noChangeAspect="1"/>
          </p:cNvPicPr>
          <p:nvPr/>
        </p:nvPicPr>
        <p:blipFill>
          <a:blip r:embed="rId3"/>
          <a:stretch>
            <a:fillRect/>
          </a:stretch>
        </p:blipFill>
        <p:spPr>
          <a:xfrm>
            <a:off x="1520890" y="2346236"/>
            <a:ext cx="5178246" cy="2477692"/>
          </a:xfrm>
          <a:prstGeom prst="rect">
            <a:avLst/>
          </a:prstGeom>
        </p:spPr>
      </p:pic>
      <p:sp>
        <p:nvSpPr>
          <p:cNvPr id="7" name="文本框 6">
            <a:extLst>
              <a:ext uri="{FF2B5EF4-FFF2-40B4-BE49-F238E27FC236}">
                <a16:creationId xmlns:a16="http://schemas.microsoft.com/office/drawing/2014/main" id="{DE460725-CCBB-2B37-304B-4655E4357E6E}"/>
              </a:ext>
            </a:extLst>
          </p:cNvPr>
          <p:cNvSpPr txBox="1"/>
          <p:nvPr/>
        </p:nvSpPr>
        <p:spPr>
          <a:xfrm>
            <a:off x="7333861" y="2346236"/>
            <a:ext cx="4170783" cy="2947025"/>
          </a:xfrm>
          <a:prstGeom prst="rect">
            <a:avLst/>
          </a:prstGeom>
          <a:noFill/>
        </p:spPr>
        <p:txBody>
          <a:bodyPr wrap="square" rtlCol="0">
            <a:spAutoFit/>
          </a:bodyPr>
          <a:lstStyle/>
          <a:p>
            <a:pPr>
              <a:lnSpc>
                <a:spcPct val="150000"/>
              </a:lnSpc>
            </a:pPr>
            <a:r>
              <a:rPr lang="en-US" altLang="zh-CN" dirty="0"/>
              <a:t>R</a:t>
            </a:r>
            <a:r>
              <a:rPr lang="zh-CN" altLang="zh-CN" dirty="0"/>
              <a:t>²为</a:t>
            </a:r>
            <a:r>
              <a:rPr lang="en-US" altLang="zh-CN" dirty="0"/>
              <a:t>0.82</a:t>
            </a:r>
            <a:r>
              <a:rPr lang="zh-CN" altLang="zh-CN" dirty="0"/>
              <a:t>说明电视广告投入能解释销售额变化的</a:t>
            </a:r>
            <a:r>
              <a:rPr lang="en-US" altLang="zh-CN" dirty="0"/>
              <a:t>82%</a:t>
            </a:r>
            <a:r>
              <a:rPr lang="zh-CN" altLang="zh-CN" dirty="0"/>
              <a:t>。这是一个相当不错的解释力了！剩下的</a:t>
            </a:r>
            <a:r>
              <a:rPr lang="en-US" altLang="zh-CN" dirty="0"/>
              <a:t>18%</a:t>
            </a:r>
            <a:r>
              <a:rPr lang="zh-CN" altLang="zh-CN" dirty="0"/>
              <a:t>可能是由其他因素（比如广播广告、报纸广告、市场活动、产品价格等）决定的。启发我们，要做出更精准的预测，可能需要引入更多的特征。</a:t>
            </a:r>
            <a:endParaRPr lang="zh-CN" altLang="en-US" dirty="0"/>
          </a:p>
        </p:txBody>
      </p:sp>
    </p:spTree>
    <p:extLst>
      <p:ext uri="{BB962C8B-B14F-4D97-AF65-F5344CB8AC3E}">
        <p14:creationId xmlns:p14="http://schemas.microsoft.com/office/powerpoint/2010/main" val="2970667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2F81B-61AD-30FC-4D6A-9326BF76CA02}"/>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6E085BC-8E36-11CB-25A6-6FC1E17014DE}"/>
              </a:ext>
            </a:extLst>
          </p:cNvPr>
          <p:cNvSpPr>
            <a:spLocks noGrp="1"/>
          </p:cNvSpPr>
          <p:nvPr>
            <p:ph type="body" sz="quarter" idx="13"/>
          </p:nvPr>
        </p:nvSpPr>
        <p:spPr>
          <a:xfrm>
            <a:off x="-57675" y="239342"/>
            <a:ext cx="3537987" cy="417830"/>
          </a:xfrm>
        </p:spPr>
        <p:txBody>
          <a:bodyPr/>
          <a:lstStyle/>
          <a:p>
            <a:r>
              <a:rPr lang="zh-CN" altLang="en-US" sz="2000" b="1" dirty="0">
                <a:solidFill>
                  <a:srgbClr val="FF0000"/>
                </a:solidFill>
              </a:rPr>
              <a:t>    多特征模型与数据预处理</a:t>
            </a:r>
          </a:p>
          <a:p>
            <a:endParaRPr lang="zh-CN" altLang="en-US" sz="2400" b="1" dirty="0">
              <a:solidFill>
                <a:srgbClr val="FF0000"/>
              </a:solidFill>
            </a:endParaRPr>
          </a:p>
        </p:txBody>
      </p:sp>
      <p:sp>
        <p:nvSpPr>
          <p:cNvPr id="3" name="文本框 2">
            <a:extLst>
              <a:ext uri="{FF2B5EF4-FFF2-40B4-BE49-F238E27FC236}">
                <a16:creationId xmlns:a16="http://schemas.microsoft.com/office/drawing/2014/main" id="{DC1DB91B-4E7F-49AC-D895-D30B602EFC60}"/>
              </a:ext>
            </a:extLst>
          </p:cNvPr>
          <p:cNvSpPr txBox="1"/>
          <p:nvPr/>
        </p:nvSpPr>
        <p:spPr>
          <a:xfrm>
            <a:off x="1181248" y="1303817"/>
            <a:ext cx="6559421" cy="461665"/>
          </a:xfrm>
          <a:prstGeom prst="rect">
            <a:avLst/>
          </a:prstGeom>
          <a:noFill/>
        </p:spPr>
        <p:txBody>
          <a:bodyPr wrap="square" rtlCol="0">
            <a:spAutoFit/>
          </a:bodyPr>
          <a:lstStyle/>
          <a:p>
            <a:r>
              <a:rPr lang="zh-CN" altLang="en-US" sz="2400" b="1" dirty="0"/>
              <a:t>多特征模型与数据预处理</a:t>
            </a:r>
          </a:p>
        </p:txBody>
      </p:sp>
      <p:pic>
        <p:nvPicPr>
          <p:cNvPr id="4" name="图片 3">
            <a:extLst>
              <a:ext uri="{FF2B5EF4-FFF2-40B4-BE49-F238E27FC236}">
                <a16:creationId xmlns:a16="http://schemas.microsoft.com/office/drawing/2014/main" id="{DA650422-2E44-C98D-373E-B98D2459880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B362C513-BA57-9C78-9AB2-21740080E236}"/>
                  </a:ext>
                </a:extLst>
              </p:cNvPr>
              <p:cNvSpPr txBox="1"/>
              <p:nvPr/>
            </p:nvSpPr>
            <p:spPr>
              <a:xfrm>
                <a:off x="1614195" y="2295331"/>
                <a:ext cx="9507895" cy="1477328"/>
              </a:xfrm>
              <a:prstGeom prst="rect">
                <a:avLst/>
              </a:prstGeom>
              <a:noFill/>
            </p:spPr>
            <p:txBody>
              <a:bodyPr wrap="square" rtlCol="0">
                <a:spAutoFit/>
              </a:bodyPr>
              <a:lstStyle/>
              <a:p>
                <a:r>
                  <a:rPr lang="zh-CN" altLang="en-US" dirty="0"/>
                  <a:t>要做更加精细的预测，需要加入新的特征信息共同预测目标，模型图形就从之前的二维直线转为三维平面。</a:t>
                </a:r>
                <a:endParaRPr lang="en-US" altLang="zh-CN" dirty="0"/>
              </a:p>
              <a:p>
                <a:endParaRPr lang="en-US" altLang="zh-CN" dirty="0"/>
              </a:p>
              <a:p>
                <a:r>
                  <a:rPr lang="zh-CN" altLang="en-US" dirty="0"/>
                  <a:t>多特征模型可以表示为：</a:t>
                </a:r>
                <a:endParaRPr lang="en-US" altLang="zh-CN" dirty="0"/>
              </a:p>
              <a:p>
                <a:r>
                  <a:rPr lang="en-US" altLang="zh-CN" dirty="0"/>
                  <a:t>y =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0</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0</m:t>
                        </m:r>
                      </m:sub>
                    </m:sSub>
                  </m:oMath>
                </a14:m>
                <a:r>
                  <a:rPr lang="zh-CN" altLang="en-US" dirty="0"/>
                  <a:t> </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oMath>
                </a14:m>
                <a:r>
                  <a:rPr lang="zh-CN" altLang="en-US" dirty="0"/>
                  <a:t> </a:t>
                </a:r>
                <a:r>
                  <a:rPr lang="en-US" altLang="zh-CN" dirty="0"/>
                  <a:t>+ …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𝑛</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𝑏</m:t>
                    </m:r>
                  </m:oMath>
                </a14:m>
                <a:endParaRPr lang="zh-CN" altLang="en-US" dirty="0"/>
              </a:p>
            </p:txBody>
          </p:sp>
        </mc:Choice>
        <mc:Fallback>
          <p:sp>
            <p:nvSpPr>
              <p:cNvPr id="5" name="文本框 4">
                <a:extLst>
                  <a:ext uri="{FF2B5EF4-FFF2-40B4-BE49-F238E27FC236}">
                    <a16:creationId xmlns:a16="http://schemas.microsoft.com/office/drawing/2014/main" id="{B362C513-BA57-9C78-9AB2-21740080E236}"/>
                  </a:ext>
                </a:extLst>
              </p:cNvPr>
              <p:cNvSpPr txBox="1">
                <a:spLocks noRot="1" noChangeAspect="1" noMove="1" noResize="1" noEditPoints="1" noAdjustHandles="1" noChangeArrowheads="1" noChangeShapeType="1" noTextEdit="1"/>
              </p:cNvSpPr>
              <p:nvPr/>
            </p:nvSpPr>
            <p:spPr>
              <a:xfrm>
                <a:off x="1614195" y="2295331"/>
                <a:ext cx="9507895" cy="1477328"/>
              </a:xfrm>
              <a:prstGeom prst="rect">
                <a:avLst/>
              </a:prstGeom>
              <a:blipFill>
                <a:blip r:embed="rId3"/>
                <a:stretch>
                  <a:fillRect l="-577" t="-2479"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21942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8DCDCD0-61B3-734D-6DB9-DCC4FAF3994B}"/>
              </a:ext>
            </a:extLst>
          </p:cNvPr>
          <p:cNvSpPr>
            <a:spLocks noGrp="1"/>
          </p:cNvSpPr>
          <p:nvPr>
            <p:ph type="body" sz="quarter" idx="13"/>
          </p:nvPr>
        </p:nvSpPr>
        <p:spPr/>
        <p:txBody>
          <a:bodyPr/>
          <a:lstStyle/>
          <a:p>
            <a:r>
              <a:rPr lang="zh-CN" altLang="en-US" b="1" dirty="0">
                <a:solidFill>
                  <a:srgbClr val="FF0000"/>
                </a:solidFill>
              </a:rPr>
              <a:t>多特征模型与数据预处理</a:t>
            </a:r>
          </a:p>
          <a:p>
            <a:endParaRPr lang="zh-CN" altLang="en-US" dirty="0"/>
          </a:p>
        </p:txBody>
      </p:sp>
      <p:pic>
        <p:nvPicPr>
          <p:cNvPr id="6" name="图片 5">
            <a:extLst>
              <a:ext uri="{FF2B5EF4-FFF2-40B4-BE49-F238E27FC236}">
                <a16:creationId xmlns:a16="http://schemas.microsoft.com/office/drawing/2014/main" id="{DA5E38F5-40CB-A933-07BB-11F78724788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p:sp>
        <p:nvSpPr>
          <p:cNvPr id="7" name="文本框 6">
            <a:extLst>
              <a:ext uri="{FF2B5EF4-FFF2-40B4-BE49-F238E27FC236}">
                <a16:creationId xmlns:a16="http://schemas.microsoft.com/office/drawing/2014/main" id="{D930C068-3C57-1782-736A-5DCD8BB9DC68}"/>
              </a:ext>
            </a:extLst>
          </p:cNvPr>
          <p:cNvSpPr txBox="1"/>
          <p:nvPr/>
        </p:nvSpPr>
        <p:spPr>
          <a:xfrm>
            <a:off x="1520890" y="1295108"/>
            <a:ext cx="6559421" cy="461665"/>
          </a:xfrm>
          <a:prstGeom prst="rect">
            <a:avLst/>
          </a:prstGeom>
          <a:noFill/>
        </p:spPr>
        <p:txBody>
          <a:bodyPr wrap="square" rtlCol="0">
            <a:spAutoFit/>
          </a:bodyPr>
          <a:lstStyle/>
          <a:p>
            <a:r>
              <a:rPr lang="zh-CN" altLang="en-US" sz="2400" b="1" dirty="0"/>
              <a:t>特征缩放</a:t>
            </a:r>
            <a:endParaRPr lang="en-US" altLang="zh-CN" sz="2400" b="1" dirty="0"/>
          </a:p>
        </p:txBody>
      </p:sp>
      <p:sp>
        <p:nvSpPr>
          <p:cNvPr id="8" name="文本框 7">
            <a:extLst>
              <a:ext uri="{FF2B5EF4-FFF2-40B4-BE49-F238E27FC236}">
                <a16:creationId xmlns:a16="http://schemas.microsoft.com/office/drawing/2014/main" id="{9B07F7B1-913E-BD74-F9AE-1F13B418CCF3}"/>
              </a:ext>
            </a:extLst>
          </p:cNvPr>
          <p:cNvSpPr txBox="1"/>
          <p:nvPr/>
        </p:nvSpPr>
        <p:spPr>
          <a:xfrm>
            <a:off x="954212" y="1900335"/>
            <a:ext cx="5141788" cy="4431983"/>
          </a:xfrm>
          <a:prstGeom prst="rect">
            <a:avLst/>
          </a:prstGeom>
          <a:noFill/>
        </p:spPr>
        <p:txBody>
          <a:bodyPr wrap="square" rtlCol="0">
            <a:spAutoFit/>
          </a:bodyPr>
          <a:lstStyle/>
          <a:p>
            <a:pPr>
              <a:lnSpc>
                <a:spcPct val="150000"/>
              </a:lnSpc>
            </a:pPr>
            <a:r>
              <a:rPr lang="zh-CN" altLang="zh-CN" sz="1600" dirty="0"/>
              <a:t>在练习数据中，工资的数值可能是几千上万（</a:t>
            </a:r>
            <a:r>
              <a:rPr lang="en-US" altLang="zh-CN" sz="1600" dirty="0"/>
              <a:t>5000, 50000</a:t>
            </a:r>
            <a:r>
              <a:rPr lang="zh-CN" altLang="zh-CN" sz="1600" dirty="0"/>
              <a:t>），而年龄的数值只有几十（</a:t>
            </a:r>
            <a:r>
              <a:rPr lang="en-US" altLang="zh-CN" sz="1600" dirty="0"/>
              <a:t>25, 60</a:t>
            </a:r>
            <a:r>
              <a:rPr lang="zh-CN" altLang="zh-CN" sz="1600" dirty="0"/>
              <a:t>）。这两个特征的“尺度”差得太远了。如果不做处理，模型在计算时可能会过度地看重“工资”这个数值大的特征，而忽略“年龄”的作用。这就像一个</a:t>
            </a:r>
            <a:r>
              <a:rPr lang="zh-CN" altLang="zh-CN" sz="1600" b="1" dirty="0"/>
              <a:t>不公平的裁判</a:t>
            </a:r>
            <a:r>
              <a:rPr lang="zh-CN" altLang="zh-CN" sz="1600" dirty="0"/>
              <a:t>，因为一个运动员个子高就给他打了高分，这是不合理的。</a:t>
            </a:r>
          </a:p>
          <a:p>
            <a:pPr>
              <a:lnSpc>
                <a:spcPct val="150000"/>
              </a:lnSpc>
            </a:pPr>
            <a:r>
              <a:rPr lang="zh-CN" altLang="zh-CN" sz="1600" dirty="0"/>
              <a:t>为了让模型公平地看待每个特征，我们需要把它们“拉”到同一个尺度上。这个过程就叫做</a:t>
            </a:r>
            <a:r>
              <a:rPr lang="zh-CN" altLang="zh-CN" sz="1600" b="1" dirty="0"/>
              <a:t>特征缩放（</a:t>
            </a:r>
            <a:r>
              <a:rPr lang="en-US" altLang="zh-CN" sz="1600" b="1" dirty="0"/>
              <a:t>Feature Scaling</a:t>
            </a:r>
            <a:r>
              <a:rPr lang="zh-CN" altLang="zh-CN" sz="1600" b="1" dirty="0"/>
              <a:t>）</a:t>
            </a:r>
            <a:r>
              <a:rPr lang="zh-CN" altLang="zh-CN" sz="1600" dirty="0"/>
              <a:t>。最常用的方法是</a:t>
            </a:r>
            <a:r>
              <a:rPr lang="zh-CN" altLang="zh-CN" sz="1600" b="1" dirty="0"/>
              <a:t>标准化（</a:t>
            </a:r>
            <a:r>
              <a:rPr lang="en-US" altLang="zh-CN" sz="1600" b="1" dirty="0"/>
              <a:t>Standardization</a:t>
            </a:r>
            <a:r>
              <a:rPr lang="zh-CN" altLang="zh-CN" sz="1600" b="1" dirty="0"/>
              <a:t>）</a:t>
            </a:r>
            <a:r>
              <a:rPr lang="zh-CN" altLang="zh-CN" sz="1600" dirty="0"/>
              <a:t>，它会把每列特征都转换为均值为</a:t>
            </a:r>
            <a:r>
              <a:rPr lang="en-US" altLang="zh-CN" sz="1600" dirty="0"/>
              <a:t>0</a:t>
            </a:r>
            <a:r>
              <a:rPr lang="zh-CN" altLang="zh-CN" sz="1600" dirty="0"/>
              <a:t>，标准差为</a:t>
            </a:r>
            <a:r>
              <a:rPr lang="en-US" altLang="zh-CN" sz="1600" dirty="0"/>
              <a:t>1</a:t>
            </a:r>
            <a:r>
              <a:rPr lang="zh-CN" altLang="zh-CN" sz="1600" dirty="0"/>
              <a:t>的分布，让所有特征站在同一起跑线上。</a:t>
            </a:r>
          </a:p>
          <a:p>
            <a:endParaRPr lang="zh-CN" altLang="en-US" dirty="0"/>
          </a:p>
        </p:txBody>
      </p:sp>
      <p:pic>
        <p:nvPicPr>
          <p:cNvPr id="9" name="图片 8" descr="IMG_256">
            <a:extLst>
              <a:ext uri="{FF2B5EF4-FFF2-40B4-BE49-F238E27FC236}">
                <a16:creationId xmlns:a16="http://schemas.microsoft.com/office/drawing/2014/main" id="{9F8F6D11-21FD-BA28-C961-9A53694A05F1}"/>
              </a:ext>
            </a:extLst>
          </p:cNvPr>
          <p:cNvPicPr>
            <a:picLocks noChangeAspect="1"/>
          </p:cNvPicPr>
          <p:nvPr/>
        </p:nvPicPr>
        <p:blipFill>
          <a:blip r:embed="rId3"/>
          <a:stretch>
            <a:fillRect/>
          </a:stretch>
        </p:blipFill>
        <p:spPr>
          <a:xfrm>
            <a:off x="6274053" y="2379160"/>
            <a:ext cx="4494225" cy="2528742"/>
          </a:xfrm>
          <a:prstGeom prst="rect">
            <a:avLst/>
          </a:prstGeom>
          <a:noFill/>
          <a:ln w="9525">
            <a:noFill/>
          </a:ln>
        </p:spPr>
      </p:pic>
    </p:spTree>
    <p:extLst>
      <p:ext uri="{BB962C8B-B14F-4D97-AF65-F5344CB8AC3E}">
        <p14:creationId xmlns:p14="http://schemas.microsoft.com/office/powerpoint/2010/main" val="2864492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6BC2E10-8370-78A4-AE2A-03B02802DBC4}"/>
              </a:ext>
            </a:extLst>
          </p:cNvPr>
          <p:cNvSpPr>
            <a:spLocks noGrp="1"/>
          </p:cNvSpPr>
          <p:nvPr>
            <p:ph type="body" sz="quarter" idx="13"/>
          </p:nvPr>
        </p:nvSpPr>
        <p:spPr/>
        <p:txBody>
          <a:bodyPr/>
          <a:lstStyle/>
          <a:p>
            <a:r>
              <a:rPr lang="zh-CN" altLang="en-US" b="1" dirty="0">
                <a:solidFill>
                  <a:srgbClr val="FF0000"/>
                </a:solidFill>
              </a:rPr>
              <a:t>多特征模型与数据预处理</a:t>
            </a:r>
          </a:p>
          <a:p>
            <a:endParaRPr lang="zh-CN" altLang="en-US" dirty="0"/>
          </a:p>
        </p:txBody>
      </p:sp>
      <p:sp>
        <p:nvSpPr>
          <p:cNvPr id="8" name="文本框 7">
            <a:extLst>
              <a:ext uri="{FF2B5EF4-FFF2-40B4-BE49-F238E27FC236}">
                <a16:creationId xmlns:a16="http://schemas.microsoft.com/office/drawing/2014/main" id="{0240F1D8-BA34-92EC-17BE-D9D8414B999F}"/>
              </a:ext>
            </a:extLst>
          </p:cNvPr>
          <p:cNvSpPr txBox="1"/>
          <p:nvPr/>
        </p:nvSpPr>
        <p:spPr>
          <a:xfrm>
            <a:off x="1520890" y="1347362"/>
            <a:ext cx="6559421" cy="461665"/>
          </a:xfrm>
          <a:prstGeom prst="rect">
            <a:avLst/>
          </a:prstGeom>
          <a:noFill/>
        </p:spPr>
        <p:txBody>
          <a:bodyPr wrap="square" rtlCol="0">
            <a:spAutoFit/>
          </a:bodyPr>
          <a:lstStyle/>
          <a:p>
            <a:r>
              <a:rPr lang="zh-CN" altLang="en-US" sz="2400" b="1" dirty="0"/>
              <a:t>特征缩放方法</a:t>
            </a:r>
            <a:endParaRPr lang="en-US" altLang="zh-CN" sz="2400" b="1" dirty="0"/>
          </a:p>
        </p:txBody>
      </p:sp>
      <p:pic>
        <p:nvPicPr>
          <p:cNvPr id="9" name="图片 8">
            <a:extLst>
              <a:ext uri="{FF2B5EF4-FFF2-40B4-BE49-F238E27FC236}">
                <a16:creationId xmlns:a16="http://schemas.microsoft.com/office/drawing/2014/main" id="{BF06ABEA-F65A-CDF2-33BC-0108174341C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1438" b="20796"/>
          <a:stretch>
            <a:fillRect/>
          </a:stretch>
        </p:blipFill>
        <p:spPr>
          <a:xfrm>
            <a:off x="416538" y="1268084"/>
            <a:ext cx="913832" cy="527888"/>
          </a:xfrm>
          <a:prstGeom prst="rect">
            <a:avLst/>
          </a:prstGeom>
        </p:spPr>
      </p:pic>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C7F3B2C9-86DE-DA05-C0EC-C98C3A0FA5A5}"/>
                  </a:ext>
                </a:extLst>
              </p:cNvPr>
              <p:cNvSpPr txBox="1"/>
              <p:nvPr/>
            </p:nvSpPr>
            <p:spPr>
              <a:xfrm>
                <a:off x="1330370" y="2090057"/>
                <a:ext cx="9755641" cy="2098651"/>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solidFill>
                      <a:srgbClr val="FF0000"/>
                    </a:solidFill>
                  </a:rPr>
                  <a:t>归一化</a:t>
                </a:r>
                <a:endParaRPr lang="en-US" altLang="zh-CN" dirty="0">
                  <a:solidFill>
                    <a:srgbClr val="FF0000"/>
                  </a:solidFill>
                </a:endParaRPr>
              </a:p>
              <a:p>
                <a:pPr lvl="1"/>
                <a:r>
                  <a:rPr lang="zh-CN" altLang="en-US" dirty="0">
                    <a:latin typeface="+mn-ea"/>
                    <a:ea typeface="+mn-ea"/>
                  </a:rPr>
                  <a:t>将特征缩放到</a:t>
                </a:r>
                <a:r>
                  <a:rPr lang="en-US" altLang="zh-CN" dirty="0">
                    <a:latin typeface="+mn-ea"/>
                    <a:ea typeface="+mn-ea"/>
                  </a:rPr>
                  <a:t>[0,1]</a:t>
                </a:r>
                <a:r>
                  <a:rPr lang="zh-CN" altLang="en-US" dirty="0">
                    <a:latin typeface="+mn-ea"/>
                    <a:ea typeface="+mn-ea"/>
                  </a:rPr>
                  <a:t>范围内，是最小最大缩放</a:t>
                </a:r>
                <a:r>
                  <a:rPr lang="en-US" altLang="zh-CN" dirty="0">
                    <a:latin typeface="+mn-ea"/>
                    <a:ea typeface="+mn-ea"/>
                  </a:rPr>
                  <a:t>(min-max scaling)</a:t>
                </a:r>
                <a:r>
                  <a:rPr lang="zh-CN" altLang="en-US" dirty="0">
                    <a:latin typeface="+mn-ea"/>
                    <a:ea typeface="+mn-ea"/>
                  </a:rPr>
                  <a:t>的一种特殊情况。</a:t>
                </a:r>
                <a:endParaRPr lang="en-US" altLang="zh-CN" dirty="0">
                  <a:latin typeface="+mn-ea"/>
                  <a:ea typeface="+mn-ea"/>
                </a:endParaRPr>
              </a:p>
              <a:p>
                <a:pPr lvl="1"/>
                <a:r>
                  <a:rPr lang="zh-CN" altLang="en-US" dirty="0"/>
                  <a:t>归一化一个样本的第</a:t>
                </a:r>
                <a:r>
                  <a:rPr lang="en-US" altLang="zh-CN" dirty="0" err="1">
                    <a:latin typeface="Times New Roman" panose="02020603050405020304" pitchFamily="18" charset="0"/>
                    <a:cs typeface="Times New Roman" panose="02020603050405020304" pitchFamily="18" charset="0"/>
                  </a:rPr>
                  <a:t>i</a:t>
                </a:r>
                <a:r>
                  <a:rPr lang="zh-CN" altLang="en-US" dirty="0"/>
                  <a:t>个特征：</a:t>
                </a:r>
                <a:endParaRPr lang="en-US" altLang="zh-CN" dirty="0">
                  <a:latin typeface="+mn-ea"/>
                  <a:ea typeface="+mn-ea"/>
                </a:endParaRPr>
              </a:p>
              <a:p>
                <a:pPr lvl="1"/>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ea typeface="+mn-ea"/>
                            </a:rPr>
                          </m:ctrlPr>
                        </m:sSubSupPr>
                        <m:e>
                          <m:r>
                            <m:rPr>
                              <m:sty m:val="p"/>
                            </m:rPr>
                            <a:rPr lang="en-US" altLang="zh-CN" i="1">
                              <a:latin typeface="Cambria Math" panose="02040503050406030204" pitchFamily="18" charset="0"/>
                              <a:ea typeface="+mn-ea"/>
                            </a:rPr>
                            <m:t>x</m:t>
                          </m:r>
                        </m:e>
                        <m:sub>
                          <m:r>
                            <a:rPr lang="en-US" altLang="zh-CN" b="0" i="1" smtClean="0">
                              <a:latin typeface="Cambria Math" panose="02040503050406030204" pitchFamily="18" charset="0"/>
                              <a:ea typeface="+mn-ea"/>
                            </a:rPr>
                            <m:t>𝑛𝑜𝑟𝑚</m:t>
                          </m:r>
                        </m:sub>
                        <m:sup>
                          <m:r>
                            <a:rPr lang="en-US" altLang="zh-CN" b="0" i="1" smtClean="0">
                              <a:latin typeface="Cambria Math" panose="02040503050406030204" pitchFamily="18" charset="0"/>
                              <a:ea typeface="+mn-ea"/>
                            </a:rPr>
                            <m:t>𝑖</m:t>
                          </m:r>
                        </m:sup>
                      </m:sSubSup>
                      <m:r>
                        <a:rPr lang="en-US" altLang="zh-CN" b="0" i="1" smtClean="0">
                          <a:latin typeface="Cambria Math" panose="02040503050406030204" pitchFamily="18" charset="0"/>
                          <a:ea typeface="+mn-ea"/>
                        </a:rPr>
                        <m:t>=</m:t>
                      </m:r>
                      <m:f>
                        <m:fPr>
                          <m:ctrlPr>
                            <a:rPr lang="en-US" altLang="zh-CN" b="0" i="1" smtClean="0">
                              <a:latin typeface="Cambria Math" panose="02040503050406030204" pitchFamily="18" charset="0"/>
                              <a:ea typeface="+mn-ea"/>
                            </a:rPr>
                          </m:ctrlPr>
                        </m:fPr>
                        <m:num>
                          <m:sSup>
                            <m:sSupPr>
                              <m:ctrlPr>
                                <a:rPr lang="en-US" altLang="zh-CN" b="0" i="1" smtClean="0">
                                  <a:latin typeface="Cambria Math" panose="02040503050406030204" pitchFamily="18" charset="0"/>
                                  <a:ea typeface="+mn-ea"/>
                                </a:rPr>
                              </m:ctrlPr>
                            </m:sSupPr>
                            <m:e>
                              <m:r>
                                <a:rPr lang="en-US" altLang="zh-CN" b="0" i="1" smtClean="0">
                                  <a:latin typeface="Cambria Math" panose="02040503050406030204" pitchFamily="18" charset="0"/>
                                  <a:ea typeface="+mn-ea"/>
                                </a:rPr>
                                <m:t>𝑥</m:t>
                              </m:r>
                            </m:e>
                            <m:sup>
                              <m:r>
                                <a:rPr lang="en-US" altLang="zh-CN" b="0" i="1" smtClean="0">
                                  <a:latin typeface="Cambria Math" panose="02040503050406030204" pitchFamily="18" charset="0"/>
                                  <a:ea typeface="+mn-ea"/>
                                </a:rPr>
                                <m:t>𝑖</m:t>
                              </m:r>
                            </m:sup>
                          </m:sSup>
                          <m:r>
                            <a:rPr lang="en-US" altLang="zh-CN" b="0" i="1" smtClean="0">
                              <a:latin typeface="Cambria Math" panose="02040503050406030204" pitchFamily="18" charset="0"/>
                              <a:ea typeface="+mn-ea"/>
                            </a:rPr>
                            <m:t>−</m:t>
                          </m:r>
                          <m:sSub>
                            <m:sSubPr>
                              <m:ctrlPr>
                                <a:rPr lang="en-US" altLang="zh-CN" b="0" i="1" smtClean="0">
                                  <a:latin typeface="Cambria Math" panose="02040503050406030204" pitchFamily="18" charset="0"/>
                                  <a:ea typeface="+mn-ea"/>
                                </a:rPr>
                              </m:ctrlPr>
                            </m:sSubPr>
                            <m:e>
                              <m:r>
                                <a:rPr lang="en-US" altLang="zh-CN" b="0" i="1" smtClean="0">
                                  <a:latin typeface="Cambria Math" panose="02040503050406030204" pitchFamily="18" charset="0"/>
                                  <a:ea typeface="+mn-ea"/>
                                </a:rPr>
                                <m:t>𝑥</m:t>
                              </m:r>
                            </m:e>
                            <m:sub>
                              <m:r>
                                <a:rPr lang="en-US" altLang="zh-CN" b="0" i="1" smtClean="0">
                                  <a:latin typeface="Cambria Math" panose="02040503050406030204" pitchFamily="18" charset="0"/>
                                  <a:ea typeface="+mn-ea"/>
                                </a:rPr>
                                <m:t>𝑚𝑖𝑛</m:t>
                              </m:r>
                            </m:sub>
                          </m:sSub>
                        </m:num>
                        <m:den>
                          <m:sSub>
                            <m:sSubPr>
                              <m:ctrlPr>
                                <a:rPr lang="en-US" altLang="zh-CN" b="0" i="1" smtClean="0">
                                  <a:latin typeface="Cambria Math" panose="02040503050406030204" pitchFamily="18" charset="0"/>
                                  <a:ea typeface="+mn-ea"/>
                                </a:rPr>
                              </m:ctrlPr>
                            </m:sSubPr>
                            <m:e>
                              <m:r>
                                <a:rPr lang="en-US" altLang="zh-CN" b="0" i="1" smtClean="0">
                                  <a:latin typeface="Cambria Math" panose="02040503050406030204" pitchFamily="18" charset="0"/>
                                  <a:ea typeface="+mn-ea"/>
                                </a:rPr>
                                <m:t>𝑥</m:t>
                              </m:r>
                            </m:e>
                            <m:sub>
                              <m:r>
                                <a:rPr lang="en-US" altLang="zh-CN" b="0" i="1" smtClean="0">
                                  <a:latin typeface="Cambria Math" panose="02040503050406030204" pitchFamily="18" charset="0"/>
                                  <a:ea typeface="+mn-ea"/>
                                </a:rPr>
                                <m:t>𝑚𝑎𝑥</m:t>
                              </m:r>
                            </m:sub>
                          </m:sSub>
                          <m:r>
                            <a:rPr lang="en-US" altLang="zh-CN" b="0" i="1" smtClean="0">
                              <a:latin typeface="Cambria Math" panose="02040503050406030204" pitchFamily="18" charset="0"/>
                              <a:ea typeface="+mn-ea"/>
                            </a:rPr>
                            <m:t>−</m:t>
                          </m:r>
                          <m:sSub>
                            <m:sSubPr>
                              <m:ctrlPr>
                                <a:rPr lang="en-US" altLang="zh-CN" b="0" i="1" smtClean="0">
                                  <a:latin typeface="Cambria Math" panose="02040503050406030204" pitchFamily="18" charset="0"/>
                                  <a:ea typeface="+mn-ea"/>
                                </a:rPr>
                              </m:ctrlPr>
                            </m:sSubPr>
                            <m:e>
                              <m:r>
                                <a:rPr lang="en-US" altLang="zh-CN" b="0" i="1" smtClean="0">
                                  <a:latin typeface="Cambria Math" panose="02040503050406030204" pitchFamily="18" charset="0"/>
                                  <a:ea typeface="+mn-ea"/>
                                </a:rPr>
                                <m:t>𝑥</m:t>
                              </m:r>
                            </m:e>
                            <m:sub>
                              <m:r>
                                <a:rPr lang="en-US" altLang="zh-CN" b="0" i="1" smtClean="0">
                                  <a:latin typeface="Cambria Math" panose="02040503050406030204" pitchFamily="18" charset="0"/>
                                  <a:ea typeface="+mn-ea"/>
                                </a:rPr>
                                <m:t>𝑚𝑖𝑛</m:t>
                              </m:r>
                            </m:sub>
                          </m:sSub>
                        </m:den>
                      </m:f>
                    </m:oMath>
                  </m:oMathPara>
                </a14:m>
                <a:endParaRPr lang="en-US" altLang="zh-CN" dirty="0">
                  <a:latin typeface="+mn-ea"/>
                  <a:ea typeface="+mn-ea"/>
                </a:endParaRPr>
              </a:p>
              <a:p>
                <a:pPr lvl="1"/>
                <a:r>
                  <a:rPr lang="zh-CN" altLang="en-US" dirty="0">
                    <a:latin typeface="+mn-ea"/>
                    <a:ea typeface="+mn-ea"/>
                  </a:rPr>
                  <a:t>其中，</a:t>
                </a:r>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𝑖</m:t>
                        </m:r>
                      </m:sup>
                    </m:sSup>
                    <m:r>
                      <a:rPr lang="zh-CN" altLang="en-US" i="1">
                        <a:latin typeface="Cambria Math" panose="02040503050406030204" pitchFamily="18" charset="0"/>
                      </a:rPr>
                      <m:t>是</m:t>
                    </m:r>
                  </m:oMath>
                </a14:m>
                <a:r>
                  <a:rPr lang="zh-CN" altLang="en-US" dirty="0">
                    <a:latin typeface="+mn-ea"/>
                    <a:ea typeface="+mn-ea"/>
                  </a:rPr>
                  <a:t>特定样本的第</a:t>
                </a:r>
                <a:r>
                  <a:rPr lang="en-US" altLang="zh-CN" dirty="0" err="1">
                    <a:latin typeface="+mn-ea"/>
                    <a:ea typeface="+mn-ea"/>
                  </a:rPr>
                  <a:t>i</a:t>
                </a:r>
                <a:r>
                  <a:rPr lang="zh-CN" altLang="en-US" dirty="0">
                    <a:latin typeface="+mn-ea"/>
                    <a:ea typeface="+mn-ea"/>
                  </a:rPr>
                  <a:t>个特征值，</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𝑚𝑖𝑛</m:t>
                        </m:r>
                      </m:sub>
                    </m:sSub>
                    <m:r>
                      <a:rPr lang="zh-CN" altLang="en-US" i="1">
                        <a:latin typeface="Cambria Math" panose="02040503050406030204" pitchFamily="18" charset="0"/>
                      </a:rPr>
                      <m:t>是</m:t>
                    </m:r>
                  </m:oMath>
                </a14:m>
                <a:r>
                  <a:rPr lang="zh-CN" altLang="en-US" dirty="0">
                    <a:latin typeface="+mn-ea"/>
                    <a:ea typeface="+mn-ea"/>
                  </a:rPr>
                  <a:t>所有数据第</a:t>
                </a:r>
                <a:r>
                  <a:rPr lang="en-US" altLang="zh-CN" dirty="0" err="1">
                    <a:latin typeface="+mn-ea"/>
                    <a:ea typeface="+mn-ea"/>
                  </a:rPr>
                  <a:t>i</a:t>
                </a:r>
                <a:r>
                  <a:rPr lang="zh-CN" altLang="en-US" dirty="0">
                    <a:latin typeface="+mn-ea"/>
                    <a:ea typeface="+mn-ea"/>
                  </a:rPr>
                  <a:t>个样本的最小值，</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𝑚</m:t>
                        </m:r>
                        <m:r>
                          <m:rPr>
                            <m:sty m:val="p"/>
                          </m:rPr>
                          <a:rPr lang="en-US" altLang="zh-CN" i="1">
                            <a:latin typeface="Cambria Math" panose="02040503050406030204" pitchFamily="18" charset="0"/>
                          </a:rPr>
                          <m:t>ax</m:t>
                        </m:r>
                      </m:sub>
                    </m:sSub>
                    <m:r>
                      <a:rPr lang="zh-CN" altLang="en-US" i="1">
                        <a:latin typeface="Cambria Math" panose="02040503050406030204" pitchFamily="18" charset="0"/>
                      </a:rPr>
                      <m:t>是</m:t>
                    </m:r>
                  </m:oMath>
                </a14:m>
                <a:r>
                  <a:rPr lang="zh-CN" altLang="en-US" dirty="0">
                    <a:latin typeface="+mn-ea"/>
                  </a:rPr>
                  <a:t>所有数据第</a:t>
                </a:r>
                <a:r>
                  <a:rPr lang="en-US" altLang="zh-CN" dirty="0" err="1">
                    <a:latin typeface="+mn-ea"/>
                  </a:rPr>
                  <a:t>i</a:t>
                </a:r>
                <a:r>
                  <a:rPr lang="zh-CN" altLang="en-US" dirty="0">
                    <a:latin typeface="+mn-ea"/>
                  </a:rPr>
                  <a:t>个样本的最大值。</a:t>
                </a:r>
                <a:endParaRPr lang="en-US" altLang="zh-CN" dirty="0">
                  <a:latin typeface="+mn-ea"/>
                </a:endParaRPr>
              </a:p>
            </p:txBody>
          </p:sp>
        </mc:Choice>
        <mc:Fallback>
          <p:sp>
            <p:nvSpPr>
              <p:cNvPr id="3" name="文本框 2">
                <a:extLst>
                  <a:ext uri="{FF2B5EF4-FFF2-40B4-BE49-F238E27FC236}">
                    <a16:creationId xmlns:a16="http://schemas.microsoft.com/office/drawing/2014/main" id="{C7F3B2C9-86DE-DA05-C0EC-C98C3A0FA5A5}"/>
                  </a:ext>
                </a:extLst>
              </p:cNvPr>
              <p:cNvSpPr txBox="1">
                <a:spLocks noRot="1" noChangeAspect="1" noMove="1" noResize="1" noEditPoints="1" noAdjustHandles="1" noChangeArrowheads="1" noChangeShapeType="1" noTextEdit="1"/>
              </p:cNvSpPr>
              <p:nvPr/>
            </p:nvSpPr>
            <p:spPr>
              <a:xfrm>
                <a:off x="1330370" y="2090057"/>
                <a:ext cx="9755641" cy="2098651"/>
              </a:xfrm>
              <a:prstGeom prst="rect">
                <a:avLst/>
              </a:prstGeom>
              <a:blipFill>
                <a:blip r:embed="rId3"/>
                <a:stretch>
                  <a:fillRect l="-375" t="-2326" r="-375" b="-3779"/>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3C73556-935B-9807-4A05-EA475AC3D2D1}"/>
              </a:ext>
            </a:extLst>
          </p:cNvPr>
          <p:cNvSpPr txBox="1"/>
          <p:nvPr/>
        </p:nvSpPr>
        <p:spPr>
          <a:xfrm>
            <a:off x="1425629" y="4571999"/>
            <a:ext cx="9565121" cy="1477328"/>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solidFill>
                  <a:srgbClr val="FF0000"/>
                </a:solidFill>
              </a:rPr>
              <a:t>标准化</a:t>
            </a:r>
            <a:endParaRPr lang="en-US" altLang="zh-CN" dirty="0">
              <a:solidFill>
                <a:srgbClr val="FF0000"/>
              </a:solidFill>
            </a:endParaRPr>
          </a:p>
          <a:p>
            <a:endParaRPr lang="en-US" altLang="zh-CN" dirty="0"/>
          </a:p>
          <a:p>
            <a:r>
              <a:rPr lang="en-US" altLang="zh-CN" dirty="0"/>
              <a:t>       </a:t>
            </a:r>
            <a:r>
              <a:rPr lang="zh-CN" altLang="en-US" dirty="0"/>
              <a:t>使每个特征中的数值平均变为</a:t>
            </a:r>
            <a:r>
              <a:rPr lang="en-US" altLang="zh-CN" dirty="0"/>
              <a:t>0(</a:t>
            </a:r>
            <a:r>
              <a:rPr lang="zh-CN" altLang="en-US" dirty="0"/>
              <a:t>将每个特征的值都减掉原始资料中该特  征的平均</a:t>
            </a:r>
            <a:r>
              <a:rPr lang="en-US" altLang="zh-CN" dirty="0"/>
              <a:t>)</a:t>
            </a:r>
            <a:r>
              <a:rPr lang="zh-CN" altLang="en-US" dirty="0"/>
              <a:t>、标准</a:t>
            </a:r>
            <a:endParaRPr lang="en-US" altLang="zh-CN" dirty="0"/>
          </a:p>
          <a:p>
            <a:r>
              <a:rPr lang="en-US" altLang="zh-CN" dirty="0"/>
              <a:t>      </a:t>
            </a:r>
            <a:r>
              <a:rPr lang="zh-CN" altLang="en-US" dirty="0"/>
              <a:t> 差变为</a:t>
            </a:r>
            <a:r>
              <a:rPr lang="en-US" altLang="zh-CN" dirty="0"/>
              <a:t>1</a:t>
            </a:r>
            <a:endParaRPr lang="zh-CN" altLang="en-US" dirty="0">
              <a:latin typeface="+mn-ea"/>
            </a:endParaRPr>
          </a:p>
          <a:p>
            <a:endParaRPr lang="zh-CN" altLang="en-US" dirty="0"/>
          </a:p>
        </p:txBody>
      </p:sp>
    </p:spTree>
    <p:extLst>
      <p:ext uri="{BB962C8B-B14F-4D97-AF65-F5344CB8AC3E}">
        <p14:creationId xmlns:p14="http://schemas.microsoft.com/office/powerpoint/2010/main" val="3053834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endParaRPr lang="zh-CN" altLang="en-US"/>
          </a:p>
        </p:txBody>
      </p:sp>
      <p:sp>
        <p:nvSpPr>
          <p:cNvPr id="3" name="内容占位符 2"/>
          <p:cNvSpPr>
            <a:spLocks noGrp="1"/>
          </p:cNvSpPr>
          <p:nvPr>
            <p:ph sz="quarter" idx="14"/>
          </p:nvPr>
        </p:nvSpPr>
        <p:spPr>
          <a:xfrm>
            <a:off x="648970" y="1242061"/>
            <a:ext cx="10975975" cy="623810"/>
          </a:xfrm>
        </p:spPr>
        <p:txBody>
          <a:bodyPr/>
          <a:lstStyle/>
          <a:p>
            <a:pPr algn="l">
              <a:buClrTx/>
              <a:buSzTx/>
            </a:pPr>
            <a:r>
              <a:rPr lang="zh-CN" altLang="en-US" sz="3600" dirty="0"/>
              <a:t>练习任务</a:t>
            </a:r>
          </a:p>
          <a:p>
            <a:pPr marL="0" indent="0">
              <a:buNone/>
            </a:pPr>
            <a:endParaRPr lang="en-US" altLang="zh-CN" sz="2800" dirty="0">
              <a:latin typeface="+mj-ea"/>
              <a:ea typeface="+mj-ea"/>
              <a:cs typeface="+mj-ea"/>
              <a:sym typeface="+mn-ea"/>
            </a:endParaRPr>
          </a:p>
          <a:p>
            <a:pPr marL="342900" lvl="0" indent="-342900" fontAlgn="base">
              <a:lnSpc>
                <a:spcPct val="114000"/>
              </a:lnSpc>
              <a:buClr>
                <a:srgbClr val="000000"/>
              </a:buClr>
              <a:buSzPts val="1100"/>
              <a:buFont typeface="Arial" panose="020B0604020202020204" pitchFamily="34" charset="0"/>
              <a:buChar char="●"/>
            </a:pPr>
            <a:r>
              <a:rPr lang="zh-CN" altLang="zh-CN" sz="1600" b="1" u="none" strike="noStrike" dirty="0">
                <a:solidFill>
                  <a:srgbClr val="FF0000"/>
                </a:solidFill>
                <a:effectLst/>
                <a:latin typeface="Arial" panose="020B0604020202020204" pitchFamily="34" charset="0"/>
                <a:ea typeface="宋体" panose="02010600030101010101" pitchFamily="2" charset="-122"/>
                <a:cs typeface="宋体" panose="02010600030101010101" pitchFamily="2" charset="-122"/>
              </a:rPr>
              <a:t>实验</a:t>
            </a:r>
            <a:r>
              <a:rPr lang="en-US" altLang="zh-CN" sz="1600" b="1" u="none" strike="noStrike" dirty="0">
                <a:solidFill>
                  <a:srgbClr val="FF0000"/>
                </a:solidFill>
                <a:effectLst/>
                <a:latin typeface="Arial" panose="020B0604020202020204" pitchFamily="34" charset="0"/>
                <a:ea typeface="宋体" panose="02010600030101010101" pitchFamily="2" charset="-122"/>
                <a:cs typeface="宋体" panose="02010600030101010101" pitchFamily="2" charset="-122"/>
              </a:rPr>
              <a:t> </a:t>
            </a:r>
            <a:r>
              <a:rPr lang="en-US" altLang="zh-CN" sz="1600" b="1" dirty="0">
                <a:solidFill>
                  <a:srgbClr val="FF0000"/>
                </a:solidFill>
                <a:latin typeface="Arial" panose="020B0604020202020204" pitchFamily="34" charset="0"/>
                <a:ea typeface="宋体" panose="02010600030101010101" pitchFamily="2" charset="-122"/>
                <a:cs typeface="宋体" panose="02010600030101010101" pitchFamily="2" charset="-122"/>
              </a:rPr>
              <a:t>6</a:t>
            </a:r>
            <a:r>
              <a:rPr lang="zh-CN" altLang="zh-CN" sz="1600" b="1" u="none" strike="noStrike" dirty="0">
                <a:solidFill>
                  <a:srgbClr val="FF0000"/>
                </a:solidFill>
                <a:effectLst/>
                <a:latin typeface="Arial" panose="020B0604020202020204" pitchFamily="34" charset="0"/>
                <a:ea typeface="宋体" panose="02010600030101010101" pitchFamily="2" charset="-122"/>
                <a:cs typeface="宋体" panose="02010600030101010101" pitchFamily="2" charset="-122"/>
              </a:rPr>
              <a:t>：分析</a:t>
            </a:r>
            <a:r>
              <a:rPr lang="zh-CN" altLang="en-US" sz="1600" b="1" u="none" strike="noStrike" dirty="0">
                <a:solidFill>
                  <a:srgbClr val="FF0000"/>
                </a:solidFill>
                <a:effectLst/>
                <a:latin typeface="Arial" panose="020B0604020202020204" pitchFamily="34" charset="0"/>
                <a:ea typeface="宋体" panose="02010600030101010101" pitchFamily="2" charset="-122"/>
                <a:cs typeface="宋体" panose="02010600030101010101" pitchFamily="2" charset="-122"/>
              </a:rPr>
              <a:t>“工资”和“年龄”对“银行贷款金额”的影响</a:t>
            </a:r>
            <a:endParaRPr lang="zh-CN" altLang="zh-CN" sz="1600" u="none" strike="noStrike" dirty="0">
              <a:solidFill>
                <a:srgbClr val="FF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fontAlgn="base">
              <a:lnSpc>
                <a:spcPct val="114000"/>
              </a:lnSpc>
              <a:buClr>
                <a:srgbClr val="000000"/>
              </a:buClr>
              <a:buSzPts val="1100"/>
              <a:buFont typeface="Arial" panose="020B0604020202020204" pitchFamily="34" charset="0"/>
              <a:buChar char="○"/>
            </a:pPr>
            <a:r>
              <a:rPr lang="zh-CN" altLang="zh-CN" sz="1600" b="1" u="none" strike="noStrike" dirty="0">
                <a:solidFill>
                  <a:srgbClr val="1B1C1D"/>
                </a:solidFill>
                <a:effectLst/>
                <a:latin typeface="Arial" panose="020B0604020202020204" pitchFamily="34" charset="0"/>
                <a:ea typeface="宋体" panose="02010600030101010101" pitchFamily="2" charset="-122"/>
                <a:cs typeface="宋体" panose="02010600030101010101" pitchFamily="2" charset="-122"/>
              </a:rPr>
              <a:t>问题</a:t>
            </a:r>
            <a:r>
              <a:rPr lang="en-US" altLang="zh-CN" sz="1600" u="none" strike="noStrike" dirty="0">
                <a:solidFill>
                  <a:srgbClr val="1B1C1D"/>
                </a:solidFill>
                <a:effectLst/>
                <a:latin typeface="宋体" panose="02010600030101010101" pitchFamily="2" charset="-122"/>
                <a:ea typeface="Arial" panose="020B0604020202020204" pitchFamily="34" charset="0"/>
                <a:cs typeface="宋体" panose="02010600030101010101" pitchFamily="2" charset="-122"/>
              </a:rPr>
              <a:t>:</a:t>
            </a:r>
          </a:p>
          <a:p>
            <a:pPr marL="800100" lvl="1" indent="-342900" fontAlgn="base">
              <a:lnSpc>
                <a:spcPct val="114000"/>
              </a:lnSpc>
              <a:buClr>
                <a:srgbClr val="000000"/>
              </a:buClr>
              <a:buSzPts val="1100"/>
              <a:buFont typeface="+mj-lt"/>
              <a:buAutoNum type="arabicPeriod"/>
            </a:pPr>
            <a:r>
              <a:rPr lang="zh-CN" altLang="en-US" sz="1600" u="none" strike="noStrike" dirty="0">
                <a:solidFill>
                  <a:srgbClr val="1B1C1D"/>
                </a:solidFill>
                <a:effectLst/>
                <a:latin typeface="+mn-ea"/>
                <a:ea typeface="+mn-ea"/>
                <a:cs typeface="宋体" panose="02010600030101010101" pitchFamily="2" charset="-122"/>
              </a:rPr>
              <a:t>加载并观察实验数据，通过绘制散点图，直观地探索“工资”、“年龄”这两个特征与“银行贷款金额”之间的关系。</a:t>
            </a:r>
            <a:endParaRPr lang="en-US" altLang="zh-CN" sz="1600" u="none" strike="noStrike" dirty="0">
              <a:solidFill>
                <a:srgbClr val="1B1C1D"/>
              </a:solidFill>
              <a:effectLst/>
              <a:latin typeface="+mn-ea"/>
              <a:ea typeface="+mn-ea"/>
              <a:cs typeface="宋体" panose="02010600030101010101" pitchFamily="2" charset="-122"/>
            </a:endParaRPr>
          </a:p>
          <a:p>
            <a:pPr marL="800100" lvl="1" indent="-342900">
              <a:lnSpc>
                <a:spcPct val="114000"/>
              </a:lnSpc>
              <a:buClr>
                <a:srgbClr val="000000"/>
              </a:buClr>
              <a:buSzPts val="1100"/>
              <a:buFont typeface="+mj-lt"/>
              <a:buAutoNum type="arabicPeriod"/>
            </a:pPr>
            <a:r>
              <a:rPr lang="zh-CN" altLang="en-US" sz="1600" dirty="0">
                <a:solidFill>
                  <a:srgbClr val="1B1C1D"/>
                </a:solidFill>
                <a:latin typeface="+mn-ea"/>
                <a:ea typeface="+mn-ea"/>
                <a:cs typeface="宋体" panose="02010600030101010101" pitchFamily="2" charset="-122"/>
              </a:rPr>
              <a:t>分别只使用“工资”和“年龄”作为特征，构建、训练并评估两个独立的简单线性回归模型，比较它们的性能。</a:t>
            </a:r>
            <a:endParaRPr lang="en-US" altLang="zh-CN" sz="1600" dirty="0">
              <a:solidFill>
                <a:srgbClr val="1B1C1D"/>
              </a:solidFill>
              <a:latin typeface="+mn-ea"/>
              <a:ea typeface="+mn-ea"/>
              <a:cs typeface="宋体" panose="02010600030101010101" pitchFamily="2" charset="-122"/>
            </a:endParaRPr>
          </a:p>
          <a:p>
            <a:pPr marL="800100" lvl="1" indent="-342900">
              <a:lnSpc>
                <a:spcPct val="114000"/>
              </a:lnSpc>
              <a:buClr>
                <a:srgbClr val="000000"/>
              </a:buClr>
              <a:buSzPts val="1100"/>
              <a:buFont typeface="+mj-lt"/>
              <a:buAutoNum type="arabicPeriod"/>
            </a:pPr>
            <a:r>
              <a:rPr lang="zh-CN" altLang="en-US" sz="1600" dirty="0">
                <a:solidFill>
                  <a:srgbClr val="1B1C1D"/>
                </a:solidFill>
                <a:latin typeface="+mn-ea"/>
                <a:ea typeface="+mn-ea"/>
                <a:cs typeface="宋体" panose="02010600030101010101" pitchFamily="2" charset="-122"/>
              </a:rPr>
              <a:t>构建一个同时使用“工资”和“年龄”两个特征的模型，并探索特征缩放（标准化）对模型权重的影响。</a:t>
            </a:r>
            <a:endParaRPr lang="en-US" altLang="zh-CN" sz="1600" dirty="0">
              <a:solidFill>
                <a:srgbClr val="1B1C1D"/>
              </a:solidFill>
              <a:latin typeface="+mn-ea"/>
              <a:ea typeface="+mn-ea"/>
              <a:cs typeface="宋体" panose="02010600030101010101" pitchFamily="2" charset="-122"/>
            </a:endParaRPr>
          </a:p>
          <a:p>
            <a:pPr marL="800100" lvl="1" indent="-342900">
              <a:lnSpc>
                <a:spcPct val="114000"/>
              </a:lnSpc>
              <a:buClr>
                <a:srgbClr val="000000"/>
              </a:buClr>
              <a:buSzPts val="1100"/>
              <a:buFont typeface="+mj-lt"/>
              <a:buAutoNum type="arabicPeriod"/>
            </a:pPr>
            <a:r>
              <a:rPr lang="zh-CN" altLang="en-US" sz="1600" dirty="0">
                <a:solidFill>
                  <a:srgbClr val="1B1C1D"/>
                </a:solidFill>
                <a:latin typeface="+mn-ea"/>
                <a:ea typeface="+mn-ea"/>
                <a:cs typeface="宋体" panose="02010600030101010101" pitchFamily="2" charset="-122"/>
              </a:rPr>
              <a:t>使用你训练出的最佳模型（经过特征缩放的多特征模型），对一个全新的员工作出贷款金额预测。</a:t>
            </a:r>
            <a:endParaRPr lang="en-US" altLang="zh-CN" sz="1600" u="none" strike="noStrike" dirty="0">
              <a:solidFill>
                <a:srgbClr val="1B1C1D"/>
              </a:solidFill>
              <a:effectLst/>
              <a:latin typeface="+mn-ea"/>
              <a:ea typeface="+mn-ea"/>
              <a:cs typeface="宋体" panose="02010600030101010101" pitchFamily="2" charset="-122"/>
            </a:endParaRPr>
          </a:p>
          <a:p>
            <a:pPr marL="0" indent="0">
              <a:buNone/>
            </a:pPr>
            <a:endParaRPr lang="zh-CN" altLang="en-US" sz="2800" dirty="0">
              <a:latin typeface="+mj-ea"/>
              <a:ea typeface="+mj-ea"/>
              <a:cs typeface="+mj-ea"/>
            </a:endParaRPr>
          </a:p>
        </p:txBody>
      </p:sp>
    </p:spTree>
    <p:extLst>
      <p:ext uri="{BB962C8B-B14F-4D97-AF65-F5344CB8AC3E}">
        <p14:creationId xmlns:p14="http://schemas.microsoft.com/office/powerpoint/2010/main" val="3374815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http://t1.gstatic.com/images?q=tbn:ANd9GcT00RGOSmqIbmWmhi73Kgs_vpz6I7DYCcvSp33yJv8LiVjQ6zvoZ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0785" y="5223510"/>
            <a:ext cx="2687955" cy="135382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4"/>
          <p:cNvSpPr txBox="1"/>
          <p:nvPr/>
        </p:nvSpPr>
        <p:spPr>
          <a:xfrm>
            <a:off x="2172335" y="1281430"/>
            <a:ext cx="9056370" cy="2521585"/>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Wingdings" panose="05000000000000000000" pitchFamily="2" charset="2"/>
              <a:buNone/>
              <a:defRPr/>
            </a:pPr>
            <a:r>
              <a:rPr lang="zh-CN" altLang="en-US" sz="4800" b="1" spc="800" dirty="0">
                <a:solidFill>
                  <a:srgbClr val="0070C0"/>
                </a:solidFill>
                <a:latin typeface="微软雅黑" panose="020B0503020204020204" pitchFamily="34" charset="-122"/>
                <a:ea typeface="微软雅黑" panose="020B0503020204020204" pitchFamily="34" charset="-122"/>
              </a:rPr>
              <a:t>讲解实验报告完成要求</a:t>
            </a:r>
          </a:p>
          <a:p>
            <a:pPr marL="0" indent="0" algn="ctr">
              <a:lnSpc>
                <a:spcPct val="150000"/>
              </a:lnSpc>
              <a:buFont typeface="Wingdings" panose="05000000000000000000" pitchFamily="2" charset="2"/>
              <a:buNone/>
              <a:defRPr/>
            </a:pPr>
            <a:r>
              <a:rPr lang="zh-CN" altLang="en-US" sz="4800" b="1" spc="800" dirty="0">
                <a:ln w="15875"/>
                <a:gradFill>
                  <a:gsLst>
                    <a:gs pos="0">
                      <a:schemeClr val="accent1"/>
                    </a:gs>
                    <a:gs pos="100000">
                      <a:schemeClr val="accent6"/>
                    </a:gs>
                  </a:gsLst>
                  <a:lin ang="2700000" scaled="0"/>
                </a:gradFill>
                <a:effectLst/>
                <a:latin typeface="微软雅黑" panose="020B0503020204020204" pitchFamily="34" charset="-122"/>
                <a:ea typeface="微软雅黑" panose="020B0503020204020204" pitchFamily="34" charset="-122"/>
              </a:rPr>
              <a:t>请同学认真完成实验任务</a:t>
            </a:r>
          </a:p>
          <a:p>
            <a:pPr marL="0" indent="0" algn="ctr">
              <a:lnSpc>
                <a:spcPct val="150000"/>
              </a:lnSpc>
              <a:buFont typeface="Wingdings" panose="05000000000000000000" pitchFamily="2" charset="2"/>
              <a:buNone/>
              <a:defRPr/>
            </a:pPr>
            <a:r>
              <a:rPr lang="zh-CN" altLang="en-US" sz="4800" b="1" spc="800" dirty="0">
                <a:ln w="15875"/>
                <a:gradFill>
                  <a:gsLst>
                    <a:gs pos="0">
                      <a:schemeClr val="accent1"/>
                    </a:gs>
                    <a:gs pos="100000">
                      <a:schemeClr val="accent6"/>
                    </a:gs>
                  </a:gsLst>
                  <a:lin ang="2700000" scaled="0"/>
                </a:gradFill>
                <a:effectLst/>
                <a:latin typeface="微软雅黑" panose="020B0503020204020204" pitchFamily="34" charset="-122"/>
                <a:ea typeface="微软雅黑" panose="020B0503020204020204" pitchFamily="34" charset="-122"/>
              </a:rPr>
              <a:t>并保存代码和结果截图</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zk5YmExNGZlYmE1MTAzMzkwZTBlM2Y3YTM0OGUxMDIifQ=="/>
  <p:tag name="RESOURCE_RECORD_KEY" val="{&quot;12&quot;:[25002166,20001833],&quot;65&quot;:[20235870],&quot;70&quot;:[3429078,3314336]}"/>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5870"/>
</p:tagLst>
</file>

<file path=ppt/tags/tag7.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5870"/>
</p:tagLst>
</file>

<file path=ppt/tags/tag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a="http://schemas.openxmlformats.org/drawingml/2006/main" xmlns:r="http://schemas.openxmlformats.org/officeDocument/2006/relationships" xmlns:p="http://schemas.openxmlformats.org/presentationml/2006/main">
  <p:tag name="KSO_WM_TEMPLATE_THUMBS_INDEX" val="1、9"/>
  <p:tag name="KSO_WM_TEMPLATE_SUBCATEGORY" val="29"/>
  <p:tag name="KSO_WM_TEMPLATE_COLOR_TYPE" val="0"/>
  <p:tag name="KSO_WM_TAG_VERSION" val="3.0"/>
  <p:tag name="KSO_WM_BEAUTIFY_FLAG" val="#wm#"/>
  <p:tag name="KSO_WM_TEMPLATE_INDEX" val="20235870"/>
  <p:tag name="KSO_WM_TEMPLATE_CATEGORY" val="custom"/>
  <p:tag name="KSO_WM_TEMPLATE_MASTER_TYPE" val="0"/>
</p:tagLst>
</file>

<file path=ppt/tags/tag12.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7"/>
</p:tagLst>
</file>

<file path=ppt/tags/tag17.xml><?xml version="1.0" encoding="utf-8"?>
<p:tagLst xmlns:a="http://schemas.openxmlformats.org/drawingml/2006/main" xmlns:r="http://schemas.openxmlformats.org/officeDocument/2006/relationships"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2"/>
</p:tagLst>
</file>

<file path=ppt/tags/tag1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a="http://schemas.openxmlformats.org/drawingml/2006/main" xmlns:r="http://schemas.openxmlformats.org/officeDocument/2006/relationships" xmlns:p="http://schemas.openxmlformats.org/presentationml/2006/main">
  <p:tag name="KSO_WM_UNIT_TYPE" val="f"/>
  <p:tag name="KSO_WM_UNIT_SUBTYPE" val="g"/>
  <p:tag name="KSO_WM_UNIT_INDEX" val="3"/>
  <p:tag name="KSO_WM_BEAUTIFY_FLAG" val="#wm#"/>
  <p:tag name="KSO_WM_TAG_VERSION" val="3.0"/>
  <p:tag name="KSO_WM_UNIT_PRESET_TEXT" val="公司名"/>
  <p:tag name="KSO_WM_UNIT_ID" val="_1*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a="http://schemas.openxmlformats.org/drawingml/2006/main" xmlns:r="http://schemas.openxmlformats.org/officeDocument/2006/relationships" xmlns:p="http://schemas.openxmlformats.org/presentationml/2006/main">
  <p:tag name="KSO_WM_UNIT_TYPE" val="f"/>
  <p:tag name="KSO_WM_UNIT_SUBTYPE" val="e"/>
  <p:tag name="KSO_WM_UNIT_INDEX" val="2"/>
  <p:tag name="KSO_WM_BEAUTIFY_FLAG" val="#wm#"/>
  <p:tag name="KSO_WM_TAG_VERSION" val="3.0"/>
  <p:tag name="KSO_WM_UNIT_PRESET_TEXT" val="年号"/>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a="http://schemas.openxmlformats.org/drawingml/2006/main" xmlns:r="http://schemas.openxmlformats.org/officeDocument/2006/relationships"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a="http://schemas.openxmlformats.org/drawingml/2006/main" xmlns:r="http://schemas.openxmlformats.org/officeDocument/2006/relationships" xmlns:p="http://schemas.openxmlformats.org/presentationml/2006/main">
  <p:tag name="KSO_WM_TEMPLATE_THUMBS_INDEX" val="1、9"/>
  <p:tag name="KSO_WM_SLIDE_TYPE" val="title"/>
  <p:tag name="KSO_WM_TEMPLATE_SUBCATEGORY" val="29"/>
  <p:tag name="KSO_WM_TEMPLATE_COLOR_TYPE" val="0"/>
  <p:tag name="KSO_WM_TAG_VERSION" val="3.0"/>
  <p:tag name="KSO_WM_SLIDE_SUBTYPE" val="pureTxt"/>
  <p:tag name="KSO_WM_SLIDE_ITEM_CNT" val="0"/>
  <p:tag name="KSO_WM_BEAUTIFY_FLAG" val="#wm#"/>
  <p:tag name="KSO_WM_TEMPLATE_INDEX" val="20235870"/>
  <p:tag name="KSO_WM_TEMPLATE_CATEGORY" val="custom"/>
  <p:tag name="KSO_WM_SLIDE_INDEX" val="1"/>
  <p:tag name="KSO_WM_SLIDE_ID" val="custom20235870_1"/>
  <p:tag name="KSO_WM_TEMPLATE_MASTER_TYPE" val="0"/>
  <p:tag name="KSO_WM_SLIDE_LAYOUT" val="a_b_f"/>
  <p:tag name="KSO_WM_SLIDE_LAYOUT_CNT" val="1_1_3"/>
  <p:tag name="RESOURCE_RECORD_KEY" val="{&quot;12&quot;:[25002166,20001833],&quot;65&quot;:[20235870]}"/>
</p:tagLst>
</file>

<file path=ppt/tags/tag2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5870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70"/>
  <p:tag name="KSO_WM_TEMPLATE_CATEGORY" val="custom"/>
  <p:tag name="KSO_WM_UNIT_ISCONTENTSTITLE" val="0"/>
  <p:tag name="KSO_WM_UNIT_VALUE" val="7"/>
  <p:tag name="KSO_WM_UNIT_PRESET_TEXT" val="添加文档标题"/>
  <p:tag name="KSO_WM_UNIT_TEXT_TYPE" val="1"/>
</p:tagLst>
</file>

<file path=ppt/tags/tag26.xml><?xml version="1.0" encoding="utf-8"?>
<p:tagLst xmlns:a="http://schemas.openxmlformats.org/drawingml/2006/main" xmlns:r="http://schemas.openxmlformats.org/officeDocument/2006/relationships" xmlns:p="http://schemas.openxmlformats.org/presentationml/2006/main">
  <p:tag name="KSO_WM_UNIT_TYPE" val="f"/>
  <p:tag name="KSO_WM_UNIT_SUBTYPE" val="e"/>
  <p:tag name="KSO_WM_UNIT_INDEX" val="2"/>
  <p:tag name="KSO_WM_BEAUTIFY_FLAG" val="#wm#"/>
  <p:tag name="KSO_WM_TAG_VERSION" val="3.0"/>
  <p:tag name="KSO_WM_UNIT_ID" val="custom20235870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70"/>
  <p:tag name="KSO_WM_TEMPLATE_CATEGORY" val="custom"/>
  <p:tag name="KSO_WM_UNIT_VALUE" val="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35.90566929133854,&quot;left&quot;:227.6166929133858,&quot;top&quot;:143,&quot;width&quot;:666.5345669291339}"/>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04.958031496063,&quot;left&quot;:239.0666929133858,&quot;top&quot;:173.94763779527554,&quot;width&quot;:655.0845669291339}"/>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04.958031496063,&quot;left&quot;:239.0666929133858,&quot;top&quot;:173.94763779527554,&quot;width&quot;:655.0845669291339}"/>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04.958031496063,&quot;left&quot;:239.0666929133858,&quot;top&quot;:173.94763779527554,&quot;width&quot;:655.0845669291339}"/>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04.958031496063,&quot;left&quot;:239.0666929133858,&quot;top&quot;:173.94763779527554,&quot;width&quot;:655.0845669291339}"/>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04.958031496063,&quot;left&quot;:239.0666929133858,&quot;top&quot;:173.94763779527554,&quot;width&quot;:655.084566929133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风蓝色几何渐变职场办公">
  <a:themeElements>
    <a:clrScheme name="蓝色职场">
      <a:dk1>
        <a:srgbClr val="000000"/>
      </a:dk1>
      <a:lt1>
        <a:srgbClr val="FFFFFF"/>
      </a:lt1>
      <a:dk2>
        <a:srgbClr val="0E363E"/>
      </a:dk2>
      <a:lt2>
        <a:srgbClr val="F6FEFE"/>
      </a:lt2>
      <a:accent1>
        <a:srgbClr val="00C3D8"/>
      </a:accent1>
      <a:accent2>
        <a:srgbClr val="0FD38B"/>
      </a:accent2>
      <a:accent3>
        <a:srgbClr val="F2BA02"/>
      </a:accent3>
      <a:accent4>
        <a:srgbClr val="5BB384"/>
      </a:accent4>
      <a:accent5>
        <a:srgbClr val="3077C0"/>
      </a:accent5>
      <a:accent6>
        <a:srgbClr val="E45458"/>
      </a:accent6>
      <a:hlink>
        <a:srgbClr val="0026E5"/>
      </a:hlink>
      <a:folHlink>
        <a:srgbClr val="7E1FAD"/>
      </a:folHlink>
    </a:clrScheme>
    <a:fontScheme name="自定义 4">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702</TotalTime>
  <Words>1281</Words>
  <Application>Microsoft Office PowerPoint</Application>
  <PresentationFormat>宽屏</PresentationFormat>
  <Paragraphs>121</Paragraphs>
  <Slides>17</Slides>
  <Notes>11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17</vt:i4>
      </vt:variant>
    </vt:vector>
  </HeadingPairs>
  <TitlesOfParts>
    <vt:vector size="31" baseType="lpstr">
      <vt:lpstr>-apple-system</vt:lpstr>
      <vt:lpstr>汉仪正圆-75W</vt:lpstr>
      <vt:lpstr>宋体</vt:lpstr>
      <vt:lpstr>微软雅黑</vt:lpstr>
      <vt:lpstr>Arial</vt:lpstr>
      <vt:lpstr>Arial Black</vt:lpstr>
      <vt:lpstr>Calibri</vt:lpstr>
      <vt:lpstr>Calibri Light</vt:lpstr>
      <vt:lpstr>Cambria Math</vt:lpstr>
      <vt:lpstr>Stencil</vt:lpstr>
      <vt:lpstr>Times New Roman</vt:lpstr>
      <vt:lpstr>Wingdings</vt:lpstr>
      <vt:lpstr>Office 主题</vt:lpstr>
      <vt:lpstr>简约风蓝色几何渐变职场办公</vt:lpstr>
      <vt:lpstr>计算思维与人工智能基础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李刚</dc:creator>
  <cp:lastModifiedBy>xm gao</cp:lastModifiedBy>
  <cp:revision>411</cp:revision>
  <dcterms:created xsi:type="dcterms:W3CDTF">2014-07-14T07:34:00Z</dcterms:created>
  <dcterms:modified xsi:type="dcterms:W3CDTF">2025-11-18T07:16:23Z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69B43DC0F66C4F8493B9D99A62BBD0FA_13</vt:lpwstr>
  </property>
  <property fmtid="{D5CDD505-2E9C-101B-9397-08002B2CF9AE}" pid="3" name="KSOProductBuildVer">
    <vt:lpwstr>2052-12.1.0.22529</vt:lpwstr>
  </property>
</Properties>
</file>